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sentence I want you to leave with: the multiverse does not contain the room; the room contains the multiverse. In ten minutes I'm going to show you why that's not poetry — it's what falls out when you fix one mistake in how we talk about facts. Three postulates, one quantitative rule, and quantum mechanics comes back out the other side with its measurement axiom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measurement problem is one question: how does a superposition become one outcome? Everybody has an answer, and every answer pays at one identifiable place. Copenhagen pays with a cut it can't locate. Many-worlds pays with a probability it can't derive. Bohm pays with a nonlocal pilot wave. Collapse models pay with new physics nobody has seen. What I'm going to argue is that they're all paying for the same thing — one word, used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mistake. We talk as if a fact is determinate or not, full stop — as if 'the coin is heads' has a truth value hanging in the air. But look at what actually happens when you learn something. Your friend calls from the parking lot: 'I'm next to a red car.' Before that call, the car's color wasn't a hidden value you were ignorant of. Relative to your information, it was open. Determinacy is a relation between an attribute and an information state. I call the information state an Aethus. Fix the missing argument, and everything downstream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postulates, and there are only three. First: every attribution of reality is relative to an Aethus. Second: an attribute your Aethus has no record of isn't unknown — it's in superposition, and that's constructive, not a gap in your knowledge. Third — the engine — an Aethus is valid only if it has a refinement all of whose further refinements stay valid. Existential, then universal. Hold that one; it's where collapse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second postulate seriously and something strange happens to the past. Put a coin under your hand without looking. Ordinary thinking: it's heads or tails, you just don't know. The framework: relative to you, it's both — the same way an electron is, and for the same reason. And that's true whether the flip happened a second ago or a century ago. The past you can't recover is exactly as open as the future you haven't reached. Now — before you run off with that — the guard. Kevin.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move that does the physics. We think 'or' excludes: heads or tails means not both. The framework says exclusion isn't in the logic — it's content, written inside the alternatives by records. When no record separates two alternatives, they're jointly present with no wall between them: an agreeing superposition, and their amplitudes add. When a record separates them, the wall is written in: a disagreeing superposition, and their weights add. That's the double slit. Detector off, no wall, fringes. Detector on, wall, two lumps. Nothing was disturbed. A record was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postulate. An Aethus is valid only if it has a refinement whose every refinement stays valid. So take a superposition that some future record could contradict — a which-slit superposition with a detector running. Every way you refine it leads to a state where the record contradicts the coherence claim. There's no safe line. In chess that's called checkmate: you haven't been captured, but every move loses. The superposition isn't destroyed by the measurement. It was invalid the moment the detector existed, relative to everyone who can read it. Collapse is a verdict, not a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logical sector. Add exactly one quantitative input — Feynman's phase, e to the i S over h-bar, over paths, composed in pairs — and here's the result. Of the seven axioms of standard quantum mechanics, six come back as theorems. The seventh, the Born rule, isn't posited beside the state space; it's absorbed into the one weight law. And the measurement axiom, the projection axiom, the observables axiom — gone. Not reinterpreted. Gone. The projection postulate is just the third postulate at work on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it work. Schrödinger's cat: not a paradox — a filing problem. The counter, the vial, the cat's own chemistry are records. They wrote the wall between alive and dead before anyone opened the box. The cat was never in the electron's regime, and the reason is its records, not its size. Delayed choice: the detector is placed after the photon passes the slits, and the pattern still obeys it — because the record is in the block, and the block is indexed whole. The bomb tester: you certify a live bomb the photon never touched. Nothing spooky. A bomb that didn't go off is a record. An absence is a record whenever a presence would have been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promised honesty, so here's the price. Eight things are posited and nothing else is load-bearing. The index. Blanks as open. Jointness as primitive. The third postulate's quantifier form — derived within a class, posited as to the class. A composition rule. One algebraic design choice. The kernel. And a bridge from 'invalid' to 'doesn't happen.' That's it. Everything else — collapse, the Born rule, the boundary, no-signalling — is derived. If you want to attack the framework, these eight are where to 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framework that can't lose isn't physics. This one can. Apply the third postulate to gravity and each valid cluster of paths carries its own spacetime; the clusters never average. The consequence: gravity does not mediate entanglement. The Bose–Marletto–Vedral experiments now being built are designed to detect exactly that. If they see it, this framework is wrong about gravity. I'd rather be checkable than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particle never changed. Your Aethus did. Three postulates, one kernel, no measurement axiom — and a prediction you can check. If you want the axiomatization, it's a thirty-page paper called Quantum Mechanics from Records; if you want the whole framework compressed, Aethic Reasoning in Brief; and if you want to see where it came from, the full record is public and timestamped. Thanks for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Text 0"/>
          <p:cNvSpPr txBox="1"/>
          <p:nvPr/>
        </p:nvSpPr>
        <p:spPr>
          <a:xfrm>
            <a:off x="640080" y="1097280"/>
            <a:ext cx="7863840" cy="274320"/>
          </a:xfrm>
          <a:prstGeom prst="rect">
            <a:avLst/>
          </a:prstGeom>
          <a:noFill/>
          <a:ln/>
        </p:spPr>
        <p:txBody>
          <a:bodyPr wrap="square" lIns="0" tIns="0" rIns="0" bIns="0" rtlCol="0" anchor="ctr"/>
          <a:lstStyle/>
          <a:p>
            <a:pPr indent="0" marL="0">
              <a:buNone/>
            </a:pPr>
            <a:r>
              <a:rPr lang="en-US" sz="1050" b="1" spc="200" kern="0" dirty="0">
                <a:solidFill>
                  <a:srgbClr val="E9A23B"/>
                </a:solidFill>
                <a:latin typeface="Calibri" pitchFamily="34" charset="0"/>
                <a:ea typeface="Calibri" pitchFamily="34" charset="-122"/>
                <a:cs typeface="Calibri" pitchFamily="34" charset="-120"/>
              </a:rPr>
              <a:t>AETHIC REASONING · IN TEN MINUTES</a:t>
            </a:r>
            <a:endParaRPr lang="en-US" sz="1050" dirty="0"/>
          </a:p>
        </p:txBody>
      </p:sp>
      <p:sp>
        <p:nvSpPr>
          <p:cNvPr id="3" name="Text 1"/>
          <p:cNvSpPr txBox="1"/>
          <p:nvPr/>
        </p:nvSpPr>
        <p:spPr>
          <a:xfrm>
            <a:off x="640080" y="1463040"/>
            <a:ext cx="7863840" cy="731520"/>
          </a:xfrm>
          <a:prstGeom prst="rect">
            <a:avLst/>
          </a:prstGeom>
          <a:noFill/>
          <a:ln/>
        </p:spPr>
        <p:txBody>
          <a:bodyPr wrap="square" lIns="0" tIns="0" rIns="0" bIns="0" rtlCol="0" anchor="ctr"/>
          <a:lstStyle/>
          <a:p>
            <a:pPr indent="0" marL="0">
              <a:buNone/>
            </a:pPr>
            <a:r>
              <a:rPr lang="en-US" sz="3000" b="1" dirty="0">
                <a:solidFill>
                  <a:srgbClr val="DCE8F5"/>
                </a:solidFill>
                <a:latin typeface="Cambria" pitchFamily="34" charset="0"/>
                <a:ea typeface="Cambria" pitchFamily="34" charset="-122"/>
                <a:cs typeface="Cambria" pitchFamily="34" charset="-120"/>
              </a:rPr>
              <a:t>The multiverse does not contain the room.</a:t>
            </a:r>
            <a:endParaRPr lang="en-US" sz="3000" dirty="0"/>
          </a:p>
        </p:txBody>
      </p:sp>
      <p:sp>
        <p:nvSpPr>
          <p:cNvPr id="4" name="Text 2"/>
          <p:cNvSpPr txBox="1"/>
          <p:nvPr/>
        </p:nvSpPr>
        <p:spPr>
          <a:xfrm>
            <a:off x="640080" y="219456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room contains the multiverse.</a:t>
            </a:r>
            <a:endParaRPr lang="en-US" sz="4000" dirty="0"/>
          </a:p>
        </p:txBody>
      </p:sp>
      <p:sp>
        <p:nvSpPr>
          <p:cNvPr id="5" name="Text 3"/>
          <p:cNvSpPr txBox="1"/>
          <p:nvPr/>
        </p:nvSpPr>
        <p:spPr>
          <a:xfrm>
            <a:off x="640080" y="3246120"/>
            <a:ext cx="7863840" cy="640080"/>
          </a:xfrm>
          <a:prstGeom prst="rect">
            <a:avLst/>
          </a:prstGeom>
          <a:noFill/>
          <a:ln/>
        </p:spPr>
        <p:txBody>
          <a:bodyPr wrap="square" lIns="0" tIns="0" rIns="0" bIns="0" rtlCol="0" anchor="ctr"/>
          <a:lstStyle/>
          <a:p>
            <a:pPr indent="0" marL="0">
              <a:buNone/>
            </a:pPr>
            <a:r>
              <a:rPr lang="en-US" sz="1600" dirty="0">
                <a:solidFill>
                  <a:srgbClr val="DCE8F5"/>
                </a:solidFill>
                <a:latin typeface="Calibri" pitchFamily="34" charset="0"/>
                <a:ea typeface="Calibri" pitchFamily="34" charset="-122"/>
                <a:cs typeface="Calibri" pitchFamily="34" charset="-120"/>
              </a:rPr>
              <a:t>Three postulates, one kernel, and quantum mechanics falls out — with no measurement axiom left in it.</a:t>
            </a:r>
            <a:endParaRPr lang="en-US" sz="1600" dirty="0"/>
          </a:p>
        </p:txBody>
      </p:sp>
      <p:sp>
        <p:nvSpPr>
          <p:cNvPr id="6" name="Text 4"/>
          <p:cNvSpPr txBox="1"/>
          <p:nvPr/>
        </p:nvSpPr>
        <p:spPr>
          <a:xfrm>
            <a:off x="640080" y="4206240"/>
            <a:ext cx="7863840" cy="320040"/>
          </a:xfrm>
          <a:prstGeom prst="rect">
            <a:avLst/>
          </a:prstGeom>
          <a:noFill/>
          <a:ln/>
        </p:spPr>
        <p:txBody>
          <a:bodyPr wrap="square" lIns="0" tIns="0" rIns="0" bIns="0" rtlCol="0" anchor="ctr"/>
          <a:lstStyle/>
          <a:p>
            <a:pPr indent="0" marL="0">
              <a:buNone/>
            </a:pPr>
            <a:r>
              <a:rPr lang="en-US" sz="1200" dirty="0">
                <a:solidFill>
                  <a:srgbClr val="6B7A90"/>
                </a:solidFill>
                <a:latin typeface="Calibri" pitchFamily="34" charset="0"/>
                <a:ea typeface="Calibri" pitchFamily="34" charset="-122"/>
                <a:cs typeface="Calibri" pitchFamily="34" charset="-120"/>
              </a:rPr>
              <a:t>Ajax Coriander Weeks  ·  Brown University</a:t>
            </a:r>
            <a:endParaRPr lang="en-US" sz="1200" dirty="0"/>
          </a:p>
        </p:txBody>
      </p:sp>
      <p:sp>
        <p:nvSpPr>
          <p:cNvPr id="7" name="Shape 5"/>
          <p:cNvSpPr/>
          <p:nvPr/>
        </p:nvSpPr>
        <p:spPr>
          <a:xfrm>
            <a:off x="640080" y="868680"/>
            <a:ext cx="128016" cy="128016"/>
          </a:xfrm>
          <a:prstGeom prst="rect">
            <a:avLst/>
          </a:prstGeom>
          <a:solidFill>
            <a:srgbClr val="E9A23B"/>
          </a:solidFill>
          <a:ln w="12700">
            <a:solidFill>
              <a:srgbClr val="E9A23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Every answer to the measurement problem pays somewhere</a:t>
            </a:r>
            <a:endParaRPr lang="en-US" sz="2800" dirty="0"/>
          </a:p>
        </p:txBody>
      </p:sp>
      <p:sp>
        <p:nvSpPr>
          <p:cNvPr id="5" name="Shape 2"/>
          <p:cNvSpPr/>
          <p:nvPr/>
        </p:nvSpPr>
        <p:spPr>
          <a:xfrm>
            <a:off x="457200" y="1280160"/>
            <a:ext cx="8229600" cy="585216"/>
          </a:xfrm>
          <a:prstGeom prst="roundRect">
            <a:avLst>
              <a:gd name="adj" fmla="val 9375"/>
            </a:avLst>
          </a:prstGeom>
          <a:solidFill>
            <a:srgbClr val="F4F7FB"/>
          </a:solidFill>
          <a:ln w="12700">
            <a:solidFill>
              <a:srgbClr val="F4F7FB"/>
            </a:solidFill>
            <a:prstDash val="solid"/>
          </a:ln>
        </p:spPr>
      </p:sp>
      <p:sp>
        <p:nvSpPr>
          <p:cNvPr id="6" name="Text 3"/>
          <p:cNvSpPr txBox="1"/>
          <p:nvPr/>
        </p:nvSpPr>
        <p:spPr>
          <a:xfrm>
            <a:off x="640080" y="1280160"/>
            <a:ext cx="2011680" cy="585216"/>
          </a:xfrm>
          <a:prstGeom prst="rect">
            <a:avLst/>
          </a:prstGeom>
          <a:noFill/>
          <a:ln/>
        </p:spPr>
        <p:txBody>
          <a:bodyPr wrap="square" lIns="0" tIns="0" rIns="0" bIns="0" rtlCol="0" anchor="ctr"/>
          <a:lstStyle/>
          <a:p>
            <a:pPr indent="0" marL="0">
              <a:buNone/>
            </a:pPr>
            <a:r>
              <a:rPr lang="en-US" sz="1500" b="1" dirty="0">
                <a:solidFill>
                  <a:srgbClr val="0F1B2D"/>
                </a:solidFill>
                <a:latin typeface="Cambria" pitchFamily="34" charset="0"/>
                <a:ea typeface="Cambria" pitchFamily="34" charset="-122"/>
                <a:cs typeface="Cambria" pitchFamily="34" charset="-120"/>
              </a:rPr>
              <a:t>Copenhagen</a:t>
            </a:r>
            <a:endParaRPr lang="en-US" sz="1500" dirty="0"/>
          </a:p>
        </p:txBody>
      </p:sp>
      <p:sp>
        <p:nvSpPr>
          <p:cNvPr id="7" name="Text 4"/>
          <p:cNvSpPr txBox="1"/>
          <p:nvPr/>
        </p:nvSpPr>
        <p:spPr>
          <a:xfrm>
            <a:off x="2651760" y="1280160"/>
            <a:ext cx="822960" cy="585216"/>
          </a:xfrm>
          <a:prstGeom prst="rect">
            <a:avLst/>
          </a:prstGeom>
          <a:noFill/>
          <a:ln/>
        </p:spPr>
        <p:txBody>
          <a:bodyPr wrap="square" lIns="0" tIns="0" rIns="0" bIns="0" rtlCol="0" anchor="ctr"/>
          <a:lstStyle/>
          <a:p>
            <a:pPr indent="0" marL="0">
              <a:buNone/>
            </a:pPr>
            <a:r>
              <a:rPr lang="en-US" sz="1100" i="1" dirty="0">
                <a:solidFill>
                  <a:srgbClr val="6B7A90"/>
                </a:solidFill>
                <a:latin typeface="Calibri" pitchFamily="34" charset="0"/>
                <a:ea typeface="Calibri" pitchFamily="34" charset="-122"/>
                <a:cs typeface="Calibri" pitchFamily="34" charset="-120"/>
              </a:rPr>
              <a:t>pays with</a:t>
            </a:r>
            <a:endParaRPr lang="en-US" sz="1100" dirty="0"/>
          </a:p>
        </p:txBody>
      </p:sp>
      <p:sp>
        <p:nvSpPr>
          <p:cNvPr id="8" name="Text 5"/>
          <p:cNvSpPr txBox="1"/>
          <p:nvPr/>
        </p:nvSpPr>
        <p:spPr>
          <a:xfrm>
            <a:off x="3474720" y="1280160"/>
            <a:ext cx="5029200" cy="585216"/>
          </a:xfrm>
          <a:prstGeom prst="rect">
            <a:avLst/>
          </a:prstGeom>
          <a:noFill/>
          <a:ln/>
        </p:spPr>
        <p:txBody>
          <a:bodyPr wrap="square" lIns="0" tIns="0" rIns="0" bIns="0" rtlCol="0" anchor="ctr"/>
          <a:lstStyle/>
          <a:p>
            <a:pPr indent="0" marL="0">
              <a:buNone/>
            </a:pPr>
            <a:r>
              <a:rPr lang="en-US" sz="1400" dirty="0">
                <a:solidFill>
                  <a:srgbClr val="1A2B45"/>
                </a:solidFill>
                <a:latin typeface="Calibri" pitchFamily="34" charset="0"/>
                <a:ea typeface="Calibri" pitchFamily="34" charset="-122"/>
                <a:cs typeface="Calibri" pitchFamily="34" charset="-120"/>
              </a:rPr>
              <a:t>a cut between quantum and classical it cannot locate</a:t>
            </a:r>
            <a:endParaRPr lang="en-US" sz="1400" dirty="0"/>
          </a:p>
        </p:txBody>
      </p:sp>
      <p:sp>
        <p:nvSpPr>
          <p:cNvPr id="9" name="Shape 6"/>
          <p:cNvSpPr/>
          <p:nvPr/>
        </p:nvSpPr>
        <p:spPr>
          <a:xfrm>
            <a:off x="457200" y="1993392"/>
            <a:ext cx="8229600" cy="585216"/>
          </a:xfrm>
          <a:prstGeom prst="roundRect">
            <a:avLst>
              <a:gd name="adj" fmla="val 9375"/>
            </a:avLst>
          </a:prstGeom>
          <a:solidFill>
            <a:srgbClr val="F4F7FB"/>
          </a:solidFill>
          <a:ln w="12700">
            <a:solidFill>
              <a:srgbClr val="F4F7FB"/>
            </a:solidFill>
            <a:prstDash val="solid"/>
          </a:ln>
        </p:spPr>
      </p:sp>
      <p:sp>
        <p:nvSpPr>
          <p:cNvPr id="10" name="Text 7"/>
          <p:cNvSpPr txBox="1"/>
          <p:nvPr/>
        </p:nvSpPr>
        <p:spPr>
          <a:xfrm>
            <a:off x="640080" y="1993392"/>
            <a:ext cx="2011680" cy="585216"/>
          </a:xfrm>
          <a:prstGeom prst="rect">
            <a:avLst/>
          </a:prstGeom>
          <a:noFill/>
          <a:ln/>
        </p:spPr>
        <p:txBody>
          <a:bodyPr wrap="square" lIns="0" tIns="0" rIns="0" bIns="0" rtlCol="0" anchor="ctr"/>
          <a:lstStyle/>
          <a:p>
            <a:pPr indent="0" marL="0">
              <a:buNone/>
            </a:pPr>
            <a:r>
              <a:rPr lang="en-US" sz="1500" b="1" dirty="0">
                <a:solidFill>
                  <a:srgbClr val="0F1B2D"/>
                </a:solidFill>
                <a:latin typeface="Cambria" pitchFamily="34" charset="0"/>
                <a:ea typeface="Cambria" pitchFamily="34" charset="-122"/>
                <a:cs typeface="Cambria" pitchFamily="34" charset="-120"/>
              </a:rPr>
              <a:t>Many-worlds</a:t>
            </a:r>
            <a:endParaRPr lang="en-US" sz="1500" dirty="0"/>
          </a:p>
        </p:txBody>
      </p:sp>
      <p:sp>
        <p:nvSpPr>
          <p:cNvPr id="11" name="Text 8"/>
          <p:cNvSpPr txBox="1"/>
          <p:nvPr/>
        </p:nvSpPr>
        <p:spPr>
          <a:xfrm>
            <a:off x="2651760" y="1993392"/>
            <a:ext cx="822960" cy="585216"/>
          </a:xfrm>
          <a:prstGeom prst="rect">
            <a:avLst/>
          </a:prstGeom>
          <a:noFill/>
          <a:ln/>
        </p:spPr>
        <p:txBody>
          <a:bodyPr wrap="square" lIns="0" tIns="0" rIns="0" bIns="0" rtlCol="0" anchor="ctr"/>
          <a:lstStyle/>
          <a:p>
            <a:pPr indent="0" marL="0">
              <a:buNone/>
            </a:pPr>
            <a:r>
              <a:rPr lang="en-US" sz="1100" i="1" dirty="0">
                <a:solidFill>
                  <a:srgbClr val="6B7A90"/>
                </a:solidFill>
                <a:latin typeface="Calibri" pitchFamily="34" charset="0"/>
                <a:ea typeface="Calibri" pitchFamily="34" charset="-122"/>
                <a:cs typeface="Calibri" pitchFamily="34" charset="-120"/>
              </a:rPr>
              <a:t>pays with</a:t>
            </a:r>
            <a:endParaRPr lang="en-US" sz="1100" dirty="0"/>
          </a:p>
        </p:txBody>
      </p:sp>
      <p:sp>
        <p:nvSpPr>
          <p:cNvPr id="12" name="Text 9"/>
          <p:cNvSpPr txBox="1"/>
          <p:nvPr/>
        </p:nvSpPr>
        <p:spPr>
          <a:xfrm>
            <a:off x="3474720" y="1993392"/>
            <a:ext cx="5029200" cy="585216"/>
          </a:xfrm>
          <a:prstGeom prst="rect">
            <a:avLst/>
          </a:prstGeom>
          <a:noFill/>
          <a:ln/>
        </p:spPr>
        <p:txBody>
          <a:bodyPr wrap="square" lIns="0" tIns="0" rIns="0" bIns="0" rtlCol="0" anchor="ctr"/>
          <a:lstStyle/>
          <a:p>
            <a:pPr indent="0" marL="0">
              <a:buNone/>
            </a:pPr>
            <a:r>
              <a:rPr lang="en-US" sz="1400" dirty="0">
                <a:solidFill>
                  <a:srgbClr val="1A2B45"/>
                </a:solidFill>
                <a:latin typeface="Calibri" pitchFamily="34" charset="0"/>
                <a:ea typeface="Calibri" pitchFamily="34" charset="-122"/>
                <a:cs typeface="Calibri" pitchFamily="34" charset="-120"/>
              </a:rPr>
              <a:t>a probability rule it cannot derive</a:t>
            </a:r>
            <a:endParaRPr lang="en-US" sz="1400" dirty="0"/>
          </a:p>
        </p:txBody>
      </p:sp>
      <p:sp>
        <p:nvSpPr>
          <p:cNvPr id="13" name="Shape 10"/>
          <p:cNvSpPr/>
          <p:nvPr/>
        </p:nvSpPr>
        <p:spPr>
          <a:xfrm>
            <a:off x="457200" y="2706624"/>
            <a:ext cx="8229600" cy="585216"/>
          </a:xfrm>
          <a:prstGeom prst="roundRect">
            <a:avLst>
              <a:gd name="adj" fmla="val 9375"/>
            </a:avLst>
          </a:prstGeom>
          <a:solidFill>
            <a:srgbClr val="F4F7FB"/>
          </a:solidFill>
          <a:ln w="12700">
            <a:solidFill>
              <a:srgbClr val="F4F7FB"/>
            </a:solidFill>
            <a:prstDash val="solid"/>
          </a:ln>
        </p:spPr>
      </p:sp>
      <p:sp>
        <p:nvSpPr>
          <p:cNvPr id="14" name="Text 11"/>
          <p:cNvSpPr txBox="1"/>
          <p:nvPr/>
        </p:nvSpPr>
        <p:spPr>
          <a:xfrm>
            <a:off x="640080" y="2706624"/>
            <a:ext cx="2011680" cy="585216"/>
          </a:xfrm>
          <a:prstGeom prst="rect">
            <a:avLst/>
          </a:prstGeom>
          <a:noFill/>
          <a:ln/>
        </p:spPr>
        <p:txBody>
          <a:bodyPr wrap="square" lIns="0" tIns="0" rIns="0" bIns="0" rtlCol="0" anchor="ctr"/>
          <a:lstStyle/>
          <a:p>
            <a:pPr indent="0" marL="0">
              <a:buNone/>
            </a:pPr>
            <a:r>
              <a:rPr lang="en-US" sz="1500" b="1" dirty="0">
                <a:solidFill>
                  <a:srgbClr val="0F1B2D"/>
                </a:solidFill>
                <a:latin typeface="Cambria" pitchFamily="34" charset="0"/>
                <a:ea typeface="Cambria" pitchFamily="34" charset="-122"/>
                <a:cs typeface="Cambria" pitchFamily="34" charset="-120"/>
              </a:rPr>
              <a:t>Bohm</a:t>
            </a:r>
            <a:endParaRPr lang="en-US" sz="1500" dirty="0"/>
          </a:p>
        </p:txBody>
      </p:sp>
      <p:sp>
        <p:nvSpPr>
          <p:cNvPr id="15" name="Text 12"/>
          <p:cNvSpPr txBox="1"/>
          <p:nvPr/>
        </p:nvSpPr>
        <p:spPr>
          <a:xfrm>
            <a:off x="2651760" y="2706624"/>
            <a:ext cx="822960" cy="585216"/>
          </a:xfrm>
          <a:prstGeom prst="rect">
            <a:avLst/>
          </a:prstGeom>
          <a:noFill/>
          <a:ln/>
        </p:spPr>
        <p:txBody>
          <a:bodyPr wrap="square" lIns="0" tIns="0" rIns="0" bIns="0" rtlCol="0" anchor="ctr"/>
          <a:lstStyle/>
          <a:p>
            <a:pPr indent="0" marL="0">
              <a:buNone/>
            </a:pPr>
            <a:r>
              <a:rPr lang="en-US" sz="1100" i="1" dirty="0">
                <a:solidFill>
                  <a:srgbClr val="6B7A90"/>
                </a:solidFill>
                <a:latin typeface="Calibri" pitchFamily="34" charset="0"/>
                <a:ea typeface="Calibri" pitchFamily="34" charset="-122"/>
                <a:cs typeface="Calibri" pitchFamily="34" charset="-120"/>
              </a:rPr>
              <a:t>pays with</a:t>
            </a:r>
            <a:endParaRPr lang="en-US" sz="1100" dirty="0"/>
          </a:p>
        </p:txBody>
      </p:sp>
      <p:sp>
        <p:nvSpPr>
          <p:cNvPr id="16" name="Text 13"/>
          <p:cNvSpPr txBox="1"/>
          <p:nvPr/>
        </p:nvSpPr>
        <p:spPr>
          <a:xfrm>
            <a:off x="3474720" y="2706624"/>
            <a:ext cx="5029200" cy="585216"/>
          </a:xfrm>
          <a:prstGeom prst="rect">
            <a:avLst/>
          </a:prstGeom>
          <a:noFill/>
          <a:ln/>
        </p:spPr>
        <p:txBody>
          <a:bodyPr wrap="square" lIns="0" tIns="0" rIns="0" bIns="0" rtlCol="0" anchor="ctr"/>
          <a:lstStyle/>
          <a:p>
            <a:pPr indent="0" marL="0">
              <a:buNone/>
            </a:pPr>
            <a:r>
              <a:rPr lang="en-US" sz="1400" dirty="0">
                <a:solidFill>
                  <a:srgbClr val="1A2B45"/>
                </a:solidFill>
                <a:latin typeface="Calibri" pitchFamily="34" charset="0"/>
                <a:ea typeface="Calibri" pitchFamily="34" charset="-122"/>
                <a:cs typeface="Calibri" pitchFamily="34" charset="-120"/>
              </a:rPr>
              <a:t>a nonlocal pilot wave that acts and is never acted on</a:t>
            </a:r>
            <a:endParaRPr lang="en-US" sz="1400" dirty="0"/>
          </a:p>
        </p:txBody>
      </p:sp>
      <p:sp>
        <p:nvSpPr>
          <p:cNvPr id="17" name="Shape 14"/>
          <p:cNvSpPr/>
          <p:nvPr/>
        </p:nvSpPr>
        <p:spPr>
          <a:xfrm>
            <a:off x="457200" y="3419856"/>
            <a:ext cx="8229600" cy="585216"/>
          </a:xfrm>
          <a:prstGeom prst="roundRect">
            <a:avLst>
              <a:gd name="adj" fmla="val 9375"/>
            </a:avLst>
          </a:prstGeom>
          <a:solidFill>
            <a:srgbClr val="F4F7FB"/>
          </a:solidFill>
          <a:ln w="12700">
            <a:solidFill>
              <a:srgbClr val="F4F7FB"/>
            </a:solidFill>
            <a:prstDash val="solid"/>
          </a:ln>
        </p:spPr>
      </p:sp>
      <p:sp>
        <p:nvSpPr>
          <p:cNvPr id="18" name="Text 15"/>
          <p:cNvSpPr txBox="1"/>
          <p:nvPr/>
        </p:nvSpPr>
        <p:spPr>
          <a:xfrm>
            <a:off x="640080" y="3419856"/>
            <a:ext cx="2011680" cy="585216"/>
          </a:xfrm>
          <a:prstGeom prst="rect">
            <a:avLst/>
          </a:prstGeom>
          <a:noFill/>
          <a:ln/>
        </p:spPr>
        <p:txBody>
          <a:bodyPr wrap="square" lIns="0" tIns="0" rIns="0" bIns="0" rtlCol="0" anchor="ctr"/>
          <a:lstStyle/>
          <a:p>
            <a:pPr indent="0" marL="0">
              <a:buNone/>
            </a:pPr>
            <a:r>
              <a:rPr lang="en-US" sz="1500" b="1" dirty="0">
                <a:solidFill>
                  <a:srgbClr val="0F1B2D"/>
                </a:solidFill>
                <a:latin typeface="Cambria" pitchFamily="34" charset="0"/>
                <a:ea typeface="Cambria" pitchFamily="34" charset="-122"/>
                <a:cs typeface="Cambria" pitchFamily="34" charset="-120"/>
              </a:rPr>
              <a:t>Collapse models</a:t>
            </a:r>
            <a:endParaRPr lang="en-US" sz="1500" dirty="0"/>
          </a:p>
        </p:txBody>
      </p:sp>
      <p:sp>
        <p:nvSpPr>
          <p:cNvPr id="19" name="Text 16"/>
          <p:cNvSpPr txBox="1"/>
          <p:nvPr/>
        </p:nvSpPr>
        <p:spPr>
          <a:xfrm>
            <a:off x="2651760" y="3419856"/>
            <a:ext cx="822960" cy="585216"/>
          </a:xfrm>
          <a:prstGeom prst="rect">
            <a:avLst/>
          </a:prstGeom>
          <a:noFill/>
          <a:ln/>
        </p:spPr>
        <p:txBody>
          <a:bodyPr wrap="square" lIns="0" tIns="0" rIns="0" bIns="0" rtlCol="0" anchor="ctr"/>
          <a:lstStyle/>
          <a:p>
            <a:pPr indent="0" marL="0">
              <a:buNone/>
            </a:pPr>
            <a:r>
              <a:rPr lang="en-US" sz="1100" i="1" dirty="0">
                <a:solidFill>
                  <a:srgbClr val="6B7A90"/>
                </a:solidFill>
                <a:latin typeface="Calibri" pitchFamily="34" charset="0"/>
                <a:ea typeface="Calibri" pitchFamily="34" charset="-122"/>
                <a:cs typeface="Calibri" pitchFamily="34" charset="-120"/>
              </a:rPr>
              <a:t>pays with</a:t>
            </a:r>
            <a:endParaRPr lang="en-US" sz="1100" dirty="0"/>
          </a:p>
        </p:txBody>
      </p:sp>
      <p:sp>
        <p:nvSpPr>
          <p:cNvPr id="20" name="Text 17"/>
          <p:cNvSpPr txBox="1"/>
          <p:nvPr/>
        </p:nvSpPr>
        <p:spPr>
          <a:xfrm>
            <a:off x="3474720" y="3419856"/>
            <a:ext cx="5029200" cy="585216"/>
          </a:xfrm>
          <a:prstGeom prst="rect">
            <a:avLst/>
          </a:prstGeom>
          <a:noFill/>
          <a:ln/>
        </p:spPr>
        <p:txBody>
          <a:bodyPr wrap="square" lIns="0" tIns="0" rIns="0" bIns="0" rtlCol="0" anchor="ctr"/>
          <a:lstStyle/>
          <a:p>
            <a:pPr indent="0" marL="0">
              <a:buNone/>
            </a:pPr>
            <a:r>
              <a:rPr lang="en-US" sz="1400" dirty="0">
                <a:solidFill>
                  <a:srgbClr val="1A2B45"/>
                </a:solidFill>
                <a:latin typeface="Calibri" pitchFamily="34" charset="0"/>
                <a:ea typeface="Calibri" pitchFamily="34" charset="-122"/>
                <a:cs typeface="Calibri" pitchFamily="34" charset="-120"/>
              </a:rPr>
              <a:t>new physics no experiment has found</a:t>
            </a:r>
            <a:endParaRPr lang="en-US" sz="1400" dirty="0"/>
          </a:p>
        </p:txBody>
      </p:sp>
      <p:sp>
        <p:nvSpPr>
          <p:cNvPr id="21" name="Text 18"/>
          <p:cNvSpPr txBox="1"/>
          <p:nvPr/>
        </p:nvSpPr>
        <p:spPr>
          <a:xfrm>
            <a:off x="457200" y="4206240"/>
            <a:ext cx="8229600" cy="411480"/>
          </a:xfrm>
          <a:prstGeom prst="rect">
            <a:avLst/>
          </a:prstGeom>
          <a:noFill/>
          <a:ln/>
        </p:spPr>
        <p:txBody>
          <a:bodyPr wrap="square" lIns="0" tIns="0" rIns="0" bIns="0" rtlCol="0" anchor="ctr"/>
          <a:lstStyle/>
          <a:p>
            <a:pPr indent="0" marL="0">
              <a:buNone/>
            </a:pPr>
            <a:r>
              <a:rPr lang="en-US" sz="1700" b="1" i="1" dirty="0">
                <a:solidFill>
                  <a:srgbClr val="E9A23B"/>
                </a:solidFill>
                <a:latin typeface="Cambria" pitchFamily="34" charset="0"/>
                <a:ea typeface="Cambria" pitchFamily="34" charset="-122"/>
                <a:cs typeface="Cambria" pitchFamily="34" charset="-120"/>
              </a:rPr>
              <a:t>They are all paying for the same word.</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word is “determinate”, and it has been missing an argument</a:t>
            </a:r>
            <a:endParaRPr lang="en-US" sz="2800" dirty="0"/>
          </a:p>
        </p:txBody>
      </p:sp>
      <p:sp>
        <p:nvSpPr>
          <p:cNvPr id="5" name="Shape 2"/>
          <p:cNvSpPr/>
          <p:nvPr/>
        </p:nvSpPr>
        <p:spPr>
          <a:xfrm>
            <a:off x="457200" y="1280160"/>
            <a:ext cx="3931920" cy="1417320"/>
          </a:xfrm>
          <a:prstGeom prst="roundRect">
            <a:avLst>
              <a:gd name="adj" fmla="val 5161"/>
            </a:avLst>
          </a:prstGeom>
          <a:solidFill>
            <a:srgbClr val="FBE9E7"/>
          </a:solidFill>
          <a:ln w="12700">
            <a:solidFill>
              <a:srgbClr val="FBE9E7"/>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One-place, the way we talk</a:t>
            </a:r>
            <a:endParaRPr lang="en-US" sz="1500" dirty="0"/>
          </a:p>
        </p:txBody>
      </p:sp>
      <p:sp>
        <p:nvSpPr>
          <p:cNvPr id="7" name="Text 4"/>
          <p:cNvSpPr txBox="1"/>
          <p:nvPr/>
        </p:nvSpPr>
        <p:spPr>
          <a:xfrm>
            <a:off x="640080" y="1810512"/>
            <a:ext cx="356616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“The coin is heads.”</a:t>
            </a: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A fact has a value or it doesn't. Everything is settled somewhere, whether or not anyone knows it.</a:t>
            </a:r>
            <a:endParaRPr lang="en-US" sz="1250" dirty="0"/>
          </a:p>
        </p:txBody>
      </p:sp>
      <p:sp>
        <p:nvSpPr>
          <p:cNvPr id="8" name="Shape 5"/>
          <p:cNvSpPr/>
          <p:nvPr/>
        </p:nvSpPr>
        <p:spPr>
          <a:xfrm>
            <a:off x="4754880" y="1280160"/>
            <a:ext cx="3931920" cy="1417320"/>
          </a:xfrm>
          <a:prstGeom prst="roundRect">
            <a:avLst>
              <a:gd name="adj" fmla="val 5161"/>
            </a:avLst>
          </a:prstGeom>
          <a:solidFill>
            <a:srgbClr val="E8F0FA"/>
          </a:solidFill>
          <a:ln w="12700">
            <a:solidFill>
              <a:srgbClr val="E8F0FA"/>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Two-place, the correction</a:t>
            </a:r>
            <a:endParaRPr lang="en-US" sz="1500" dirty="0"/>
          </a:p>
        </p:txBody>
      </p:sp>
      <p:sp>
        <p:nvSpPr>
          <p:cNvPr id="10" name="Text 7"/>
          <p:cNvSpPr txBox="1"/>
          <p:nvPr/>
        </p:nvSpPr>
        <p:spPr>
          <a:xfrm>
            <a:off x="4937760" y="1810512"/>
            <a:ext cx="356616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“Heads — relative to whom?”</a:t>
            </a:r>
            <a:endParaRPr lang="en-US" sz="1250" dirty="0"/>
          </a:p>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Determinacy relates an attribute to an information state: an Aethus. No Aethus-free ledger of facts exists.</a:t>
            </a:r>
            <a:endParaRPr lang="en-US" sz="1250" dirty="0"/>
          </a:p>
        </p:txBody>
      </p:sp>
      <p:sp>
        <p:nvSpPr>
          <p:cNvPr id="11" name="Shape 8"/>
          <p:cNvSpPr/>
          <p:nvPr/>
        </p:nvSpPr>
        <p:spPr>
          <a:xfrm>
            <a:off x="4434840" y="1965960"/>
            <a:ext cx="274320" cy="914"/>
          </a:xfrm>
          <a:prstGeom prst="line">
            <a:avLst/>
          </a:prstGeom>
          <a:noFill/>
          <a:ln w="31750">
            <a:solidFill>
              <a:srgbClr val="E9A23B"/>
            </a:solidFill>
            <a:prstDash val="solid"/>
            <a:tailEnd type="triangle"/>
          </a:ln>
        </p:spPr>
      </p:sp>
      <p:sp>
        <p:nvSpPr>
          <p:cNvPr id="12" name="Text 9"/>
          <p:cNvSpPr txBox="1"/>
          <p:nvPr/>
        </p:nvSpPr>
        <p:spPr>
          <a:xfrm>
            <a:off x="457200" y="2971800"/>
            <a:ext cx="8229600" cy="1005840"/>
          </a:xfrm>
          <a:prstGeom prst="rect">
            <a:avLst/>
          </a:prstGeom>
          <a:noFill/>
          <a:ln/>
        </p:spPr>
        <p:txBody>
          <a:bodyPr wrap="square" lIns="0" tIns="0" rIns="0" bIns="0" rtlCol="0" anchor="t"/>
          <a:lstStyle/>
          <a:p>
            <a:pPr algn="l" indent="0" marL="0">
              <a:lnSpc>
                <a:spcPct val="115000"/>
              </a:lnSpc>
              <a:buNone/>
            </a:pPr>
            <a:r>
              <a:rPr lang="en-US" sz="1400" dirty="0">
                <a:solidFill>
                  <a:srgbClr val="1A2B45"/>
                </a:solidFill>
                <a:latin typeface="Calibri" pitchFamily="34" charset="0"/>
                <a:ea typeface="Calibri" pitchFamily="34" charset="-122"/>
                <a:cs typeface="Calibri" pitchFamily="34" charset="-120"/>
              </a:rPr>
              <a:t>Your friend calls from the parking lot: “I'm next to a red car.” Before the call, the car's colour was not a hidden value you were ignorant of. Relative to your Aethus, it was open. The call didn't reveal the colour — it moved you to the Aethus in which the car was always red.</a:t>
            </a:r>
            <a:endParaRPr lang="en-US" sz="1400" dirty="0"/>
          </a:p>
        </p:txBody>
      </p:sp>
      <p:sp>
        <p:nvSpPr>
          <p:cNvPr id="13" name="Text 10"/>
          <p:cNvSpPr txBox="1"/>
          <p:nvPr/>
        </p:nvSpPr>
        <p:spPr>
          <a:xfrm>
            <a:off x="457200" y="4114800"/>
            <a:ext cx="8229600" cy="411480"/>
          </a:xfrm>
          <a:prstGeom prst="rect">
            <a:avLst/>
          </a:prstGeom>
          <a:noFill/>
          <a:ln/>
        </p:spPr>
        <p:txBody>
          <a:bodyPr wrap="square" lIns="0" tIns="0" rIns="0" bIns="0" rtlCol="0" anchor="ctr"/>
          <a:lstStyle/>
          <a:p>
            <a:pPr indent="0" marL="0">
              <a:buNone/>
            </a:pPr>
            <a:r>
              <a:rPr lang="en-US" sz="1800" b="1" i="1" dirty="0">
                <a:solidFill>
                  <a:srgbClr val="0F1B2D"/>
                </a:solidFill>
                <a:latin typeface="Cambria" pitchFamily="34" charset="0"/>
                <a:ea typeface="Cambria" pitchFamily="34" charset="-122"/>
                <a:cs typeface="Cambria" pitchFamily="34" charset="-120"/>
              </a:rPr>
              <a:t>The particle never changed. Your Aethus did.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Three postulates. That's the whole logical sector.</a:t>
            </a:r>
            <a:endParaRPr lang="en-US" sz="2800" dirty="0"/>
          </a:p>
        </p:txBody>
      </p:sp>
      <p:sp>
        <p:nvSpPr>
          <p:cNvPr id="5" name="Shape 2"/>
          <p:cNvSpPr/>
          <p:nvPr/>
        </p:nvSpPr>
        <p:spPr>
          <a:xfrm>
            <a:off x="457200" y="1234440"/>
            <a:ext cx="8229600" cy="1024128"/>
          </a:xfrm>
          <a:prstGeom prst="roundRect">
            <a:avLst>
              <a:gd name="adj" fmla="val 5357"/>
            </a:avLst>
          </a:prstGeom>
          <a:solidFill>
            <a:srgbClr val="FBE9E7"/>
          </a:solidFill>
          <a:ln w="12700">
            <a:solidFill>
              <a:srgbClr val="FBE9E7"/>
            </a:solidFill>
            <a:prstDash val="solid"/>
          </a:ln>
        </p:spPr>
      </p:sp>
      <p:sp>
        <p:nvSpPr>
          <p:cNvPr id="6" name="Text 3"/>
          <p:cNvSpPr txBox="1"/>
          <p:nvPr/>
        </p:nvSpPr>
        <p:spPr>
          <a:xfrm>
            <a:off x="640080" y="1325880"/>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First Postulate</a:t>
            </a:r>
            <a:endParaRPr lang="en-US" sz="1300" dirty="0"/>
          </a:p>
        </p:txBody>
      </p:sp>
      <p:sp>
        <p:nvSpPr>
          <p:cNvPr id="7" name="Text 4"/>
          <p:cNvSpPr txBox="1"/>
          <p:nvPr/>
        </p:nvSpPr>
        <p:spPr>
          <a:xfrm>
            <a:off x="640080" y="1618488"/>
            <a:ext cx="7863840" cy="566928"/>
          </a:xfrm>
          <a:prstGeom prst="rect">
            <a:avLst/>
          </a:prstGeom>
          <a:noFill/>
          <a:ln/>
        </p:spPr>
        <p:txBody>
          <a:bodyPr wrap="square" lIns="0" tIns="0" rIns="0" bIns="0" rtlCol="0" anchor="t"/>
          <a:lstStyle/>
          <a:p>
            <a:pPr indent="0" marL="0">
              <a:buNone/>
            </a:pPr>
            <a:r>
              <a:rPr lang="en-US" sz="1350" dirty="0">
                <a:solidFill>
                  <a:srgbClr val="1A2B45"/>
                </a:solidFill>
                <a:latin typeface="Calibri" pitchFamily="34" charset="0"/>
                <a:ea typeface="Calibri" pitchFamily="34" charset="-122"/>
                <a:cs typeface="Calibri" pitchFamily="34" charset="-120"/>
              </a:rPr>
              <a:t>Any attribution of reality is a statement of relation to a particular Aethus.</a:t>
            </a:r>
            <a:endParaRPr lang="en-US" sz="1350" dirty="0"/>
          </a:p>
        </p:txBody>
      </p:sp>
      <p:sp>
        <p:nvSpPr>
          <p:cNvPr id="8" name="Shape 5"/>
          <p:cNvSpPr/>
          <p:nvPr/>
        </p:nvSpPr>
        <p:spPr>
          <a:xfrm>
            <a:off x="457200" y="2404872"/>
            <a:ext cx="8229600" cy="1024128"/>
          </a:xfrm>
          <a:prstGeom prst="roundRect">
            <a:avLst>
              <a:gd name="adj" fmla="val 5357"/>
            </a:avLst>
          </a:prstGeom>
          <a:solidFill>
            <a:srgbClr val="E8F0FA"/>
          </a:solidFill>
          <a:ln w="12700">
            <a:solidFill>
              <a:srgbClr val="E8F0FA"/>
            </a:solidFill>
            <a:prstDash val="solid"/>
          </a:ln>
        </p:spPr>
      </p:sp>
      <p:sp>
        <p:nvSpPr>
          <p:cNvPr id="9" name="Text 6"/>
          <p:cNvSpPr txBox="1"/>
          <p:nvPr/>
        </p:nvSpPr>
        <p:spPr>
          <a:xfrm>
            <a:off x="640080" y="2496312"/>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Second Postulate</a:t>
            </a:r>
            <a:endParaRPr lang="en-US" sz="1300" dirty="0"/>
          </a:p>
        </p:txBody>
      </p:sp>
      <p:sp>
        <p:nvSpPr>
          <p:cNvPr id="10" name="Text 7"/>
          <p:cNvSpPr txBox="1"/>
          <p:nvPr/>
        </p:nvSpPr>
        <p:spPr>
          <a:xfrm>
            <a:off x="640080" y="2788920"/>
            <a:ext cx="7863840" cy="566928"/>
          </a:xfrm>
          <a:prstGeom prst="rect">
            <a:avLst/>
          </a:prstGeom>
          <a:noFill/>
          <a:ln/>
        </p:spPr>
        <p:txBody>
          <a:bodyPr wrap="square" lIns="0" tIns="0" rIns="0" bIns="0" rtlCol="0" anchor="t"/>
          <a:lstStyle/>
          <a:p>
            <a:pPr indent="0" marL="0">
              <a:buNone/>
            </a:pPr>
            <a:r>
              <a:rPr lang="en-US" sz="1350" dirty="0">
                <a:solidFill>
                  <a:srgbClr val="1A2B45"/>
                </a:solidFill>
                <a:latin typeface="Calibri" pitchFamily="34" charset="0"/>
                <a:ea typeface="Calibri" pitchFamily="34" charset="-122"/>
                <a:cs typeface="Calibri" pitchFamily="34" charset="-120"/>
              </a:rPr>
              <a:t>An attribute is in superposition relative to a valid Aethus if and only if it is nonpresent to it.</a:t>
            </a:r>
            <a:endParaRPr lang="en-US" sz="1350" dirty="0"/>
          </a:p>
        </p:txBody>
      </p:sp>
      <p:sp>
        <p:nvSpPr>
          <p:cNvPr id="11" name="Shape 8"/>
          <p:cNvSpPr/>
          <p:nvPr/>
        </p:nvSpPr>
        <p:spPr>
          <a:xfrm>
            <a:off x="457200" y="3575304"/>
            <a:ext cx="8229600" cy="1024128"/>
          </a:xfrm>
          <a:prstGeom prst="roundRect">
            <a:avLst>
              <a:gd name="adj" fmla="val 5357"/>
            </a:avLst>
          </a:prstGeom>
          <a:solidFill>
            <a:srgbClr val="E9F3E4"/>
          </a:solidFill>
          <a:ln w="12700">
            <a:solidFill>
              <a:srgbClr val="E9F3E4"/>
            </a:solidFill>
            <a:prstDash val="solid"/>
          </a:ln>
        </p:spPr>
      </p:sp>
      <p:sp>
        <p:nvSpPr>
          <p:cNvPr id="12" name="Text 9"/>
          <p:cNvSpPr txBox="1"/>
          <p:nvPr/>
        </p:nvSpPr>
        <p:spPr>
          <a:xfrm>
            <a:off x="640080" y="3666744"/>
            <a:ext cx="7863840" cy="292608"/>
          </a:xfrm>
          <a:prstGeom prst="rect">
            <a:avLst/>
          </a:prstGeom>
          <a:noFill/>
          <a:ln/>
        </p:spPr>
        <p:txBody>
          <a:bodyPr wrap="square" lIns="0" tIns="0" rIns="0" bIns="0" rtlCol="0" anchor="ctr"/>
          <a:lstStyle/>
          <a:p>
            <a:pPr indent="0" marL="0">
              <a:buNone/>
            </a:pPr>
            <a:r>
              <a:rPr lang="en-US" sz="1300" b="1" dirty="0">
                <a:solidFill>
                  <a:srgbClr val="0F1B2D"/>
                </a:solidFill>
                <a:latin typeface="Cambria" pitchFamily="34" charset="0"/>
                <a:ea typeface="Cambria" pitchFamily="34" charset="-122"/>
                <a:cs typeface="Cambria" pitchFamily="34" charset="-120"/>
              </a:rPr>
              <a:t>Third Postulate</a:t>
            </a:r>
            <a:endParaRPr lang="en-US" sz="1300" dirty="0"/>
          </a:p>
        </p:txBody>
      </p:sp>
      <p:sp>
        <p:nvSpPr>
          <p:cNvPr id="13" name="Text 10"/>
          <p:cNvSpPr txBox="1"/>
          <p:nvPr/>
        </p:nvSpPr>
        <p:spPr>
          <a:xfrm>
            <a:off x="640080" y="3959352"/>
            <a:ext cx="7863840" cy="566928"/>
          </a:xfrm>
          <a:prstGeom prst="rect">
            <a:avLst/>
          </a:prstGeom>
          <a:noFill/>
          <a:ln/>
        </p:spPr>
        <p:txBody>
          <a:bodyPr wrap="square" lIns="0" tIns="0" rIns="0" bIns="0" rtlCol="0" anchor="t"/>
          <a:lstStyle/>
          <a:p>
            <a:pPr indent="0" marL="0">
              <a:buNone/>
            </a:pPr>
            <a:r>
              <a:rPr lang="en-US" sz="1350" dirty="0">
                <a:solidFill>
                  <a:srgbClr val="1A2B45"/>
                </a:solidFill>
                <a:latin typeface="Calibri" pitchFamily="34" charset="0"/>
                <a:ea typeface="Calibri" pitchFamily="34" charset="-122"/>
                <a:cs typeface="Calibri" pitchFamily="34" charset="-120"/>
              </a:rPr>
              <a:t>If an Aethus is valid, some proper child of it has only valid proper children.   V[A] ⇒ ∃B ⊑ A, ∀C ⊑ B, V[C]</a:t>
            </a:r>
            <a:endParaRPr lang="en-US" sz="1350" dirty="0"/>
          </a:p>
        </p:txBody>
      </p:sp>
      <p:sp>
        <p:nvSpPr>
          <p:cNvPr id="14" name="Text 11"/>
          <p:cNvSpPr txBox="1"/>
          <p:nvPr/>
        </p:nvSpPr>
        <p:spPr>
          <a:xfrm>
            <a:off x="457200" y="4736592"/>
            <a:ext cx="8229600" cy="274320"/>
          </a:xfrm>
          <a:prstGeom prst="rect">
            <a:avLst/>
          </a:prstGeom>
          <a:noFill/>
          <a:ln/>
        </p:spPr>
        <p:txBody>
          <a:bodyPr wrap="square" lIns="0" tIns="0" rIns="0" bIns="0" rtlCol="0" anchor="ctr"/>
          <a:lstStyle/>
          <a:p>
            <a:pPr indent="0" marL="0">
              <a:buNone/>
            </a:pPr>
            <a:r>
              <a:rPr lang="en-US" sz="950" dirty="0">
                <a:solidFill>
                  <a:srgbClr val="6B7A90"/>
                </a:solidFill>
                <a:latin typeface="Calibri" pitchFamily="34" charset="0"/>
                <a:ea typeface="Calibri" pitchFamily="34" charset="-122"/>
                <a:cs typeface="Calibri" pitchFamily="34" charset="-120"/>
              </a:rPr>
              <a:t>The third postulate's quantifier structure is selected by elimination within a stated class; the first two are primitives, argued for inductively.</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What you don't know isn't hidden. It's open.</a:t>
            </a:r>
            <a:endParaRPr lang="en-US" sz="2800" dirty="0"/>
          </a:p>
        </p:txBody>
      </p:sp>
      <p:sp>
        <p:nvSpPr>
          <p:cNvPr id="5" name="Shape 2"/>
          <p:cNvSpPr/>
          <p:nvPr/>
        </p:nvSpPr>
        <p:spPr>
          <a:xfrm>
            <a:off x="457200" y="1280160"/>
            <a:ext cx="3931920" cy="1737360"/>
          </a:xfrm>
          <a:prstGeom prst="roundRect">
            <a:avLst>
              <a:gd name="adj" fmla="val 4211"/>
            </a:avLst>
          </a:prstGeom>
          <a:solidFill>
            <a:srgbClr val="E8F0FA"/>
          </a:solidFill>
          <a:ln w="12700">
            <a:solidFill>
              <a:srgbClr val="E8F0FA"/>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covered coin</a:t>
            </a:r>
            <a:endParaRPr lang="en-US" sz="1500" dirty="0"/>
          </a:p>
        </p:txBody>
      </p:sp>
      <p:sp>
        <p:nvSpPr>
          <p:cNvPr id="7" name="Text 4"/>
          <p:cNvSpPr txBox="1"/>
          <p:nvPr/>
        </p:nvSpPr>
        <p:spPr>
          <a:xfrm>
            <a:off x="64008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Flip it, cover it, don't look. Not “heads, unknown to me.” Relative to your Aethus: heads and tails — constructively, the way an electron is, for the same reason.</a:t>
            </a:r>
            <a:endParaRPr lang="en-US" sz="1250" dirty="0"/>
          </a:p>
        </p:txBody>
      </p:sp>
      <p:sp>
        <p:nvSpPr>
          <p:cNvPr id="8" name="Shape 5"/>
          <p:cNvSpPr/>
          <p:nvPr/>
        </p:nvSpPr>
        <p:spPr>
          <a:xfrm>
            <a:off x="4754880" y="1280160"/>
            <a:ext cx="3931920" cy="1737360"/>
          </a:xfrm>
          <a:prstGeom prst="roundRect">
            <a:avLst>
              <a:gd name="adj" fmla="val 4211"/>
            </a:avLst>
          </a:prstGeom>
          <a:solidFill>
            <a:srgbClr val="E8F0FA"/>
          </a:solidFill>
          <a:ln w="12700">
            <a:solidFill>
              <a:srgbClr val="E8F0FA"/>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past is as open as the future</a:t>
            </a:r>
            <a:endParaRPr lang="en-US" sz="1500" dirty="0"/>
          </a:p>
        </p:txBody>
      </p:sp>
      <p:sp>
        <p:nvSpPr>
          <p:cNvPr id="10" name="Text 7"/>
          <p:cNvSpPr txBox="1"/>
          <p:nvPr/>
        </p:nvSpPr>
        <p:spPr>
          <a:xfrm>
            <a:off x="4937760" y="1810512"/>
            <a:ext cx="3566160" cy="109728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A which-slit fact whose detector was never built. A coin flipped in 1850 and never read. Openness is a matter of records, and records don't care which direction of time they concern.</a:t>
            </a:r>
            <a:endParaRPr lang="en-US" sz="1250" dirty="0"/>
          </a:p>
        </p:txBody>
      </p:sp>
      <p:sp>
        <p:nvSpPr>
          <p:cNvPr id="11" name="Shape 8"/>
          <p:cNvSpPr/>
          <p:nvPr/>
        </p:nvSpPr>
        <p:spPr>
          <a:xfrm>
            <a:off x="457200" y="3200400"/>
            <a:ext cx="8229600" cy="1234440"/>
          </a:xfrm>
          <a:prstGeom prst="roundRect">
            <a:avLst>
              <a:gd name="adj" fmla="val 5926"/>
            </a:avLst>
          </a:prstGeom>
          <a:solidFill>
            <a:srgbClr val="FCF3E0"/>
          </a:solidFill>
          <a:ln w="12700">
            <a:solidFill>
              <a:srgbClr val="FCF3E0"/>
            </a:solidFill>
            <a:prstDash val="solid"/>
          </a:ln>
        </p:spPr>
      </p:sp>
      <p:sp>
        <p:nvSpPr>
          <p:cNvPr id="12" name="Text 9"/>
          <p:cNvSpPr txBox="1"/>
          <p:nvPr/>
        </p:nvSpPr>
        <p:spPr>
          <a:xfrm>
            <a:off x="640080" y="333756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guard: Kevin the rabbit</a:t>
            </a:r>
            <a:endParaRPr lang="en-US" sz="1500" dirty="0"/>
          </a:p>
        </p:txBody>
      </p:sp>
      <p:sp>
        <p:nvSpPr>
          <p:cNvPr id="13" name="Text 10"/>
          <p:cNvSpPr txBox="1"/>
          <p:nvPr/>
        </p:nvSpPr>
        <p:spPr>
          <a:xfrm>
            <a:off x="640080" y="3730752"/>
            <a:ext cx="7863840" cy="59436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Kevin has no idea whether your coin is heads. The coin is still open relative to Kevin. Openness is not belief, and it is not consciousness — it is the absence of a record, and a rabbit, a counter, and a rock all count. Nothing here is “reality is what you think.”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“Or” doesn't exclude by nature. Records write the walls.</a:t>
            </a:r>
            <a:endParaRPr lang="en-US" sz="2800" dirty="0"/>
          </a:p>
        </p:txBody>
      </p:sp>
      <p:sp>
        <p:nvSpPr>
          <p:cNvPr id="5" name="Shape 2"/>
          <p:cNvSpPr/>
          <p:nvPr/>
        </p:nvSpPr>
        <p:spPr>
          <a:xfrm>
            <a:off x="457200" y="1234440"/>
            <a:ext cx="2331720" cy="2194560"/>
          </a:xfrm>
          <a:prstGeom prst="roundRect">
            <a:avLst>
              <a:gd name="adj" fmla="val 3333"/>
            </a:avLst>
          </a:prstGeom>
          <a:solidFill>
            <a:srgbClr val="F4F7FB"/>
          </a:solidFill>
          <a:ln w="12700">
            <a:solidFill>
              <a:srgbClr val="F4F7FB"/>
            </a:solidFill>
            <a:prstDash val="solid"/>
          </a:ln>
        </p:spPr>
      </p:sp>
      <p:sp>
        <p:nvSpPr>
          <p:cNvPr id="6" name="Shape 3"/>
          <p:cNvSpPr/>
          <p:nvPr/>
        </p:nvSpPr>
        <p:spPr>
          <a:xfrm>
            <a:off x="3063240" y="1234440"/>
            <a:ext cx="2331720" cy="2194560"/>
          </a:xfrm>
          <a:prstGeom prst="roundRect">
            <a:avLst>
              <a:gd name="adj" fmla="val 3333"/>
            </a:avLst>
          </a:prstGeom>
          <a:solidFill>
            <a:srgbClr val="F4F7FB"/>
          </a:solidFill>
          <a:ln w="12700">
            <a:solidFill>
              <a:srgbClr val="F4F7FB"/>
            </a:solidFill>
            <a:prstDash val="solid"/>
          </a:ln>
        </p:spPr>
      </p:sp>
      <p:sp>
        <p:nvSpPr>
          <p:cNvPr id="7" name="Shape 4"/>
          <p:cNvSpPr/>
          <p:nvPr/>
        </p:nvSpPr>
        <p:spPr>
          <a:xfrm>
            <a:off x="854964" y="1808683"/>
            <a:ext cx="1228954" cy="1228954"/>
          </a:xfrm>
          <a:prstGeom prst="ellipse">
            <a:avLst/>
          </a:prstGeom>
          <a:solidFill>
            <a:srgbClr val="2A9D8F">
              <a:alpha val="55000"/>
            </a:srgbClr>
          </a:solidFill>
          <a:ln w="12700">
            <a:solidFill>
              <a:srgbClr val="2A9D8F"/>
            </a:solidFill>
            <a:prstDash val="solid"/>
          </a:ln>
        </p:spPr>
      </p:sp>
      <p:sp>
        <p:nvSpPr>
          <p:cNvPr id="8" name="Shape 5"/>
          <p:cNvSpPr/>
          <p:nvPr/>
        </p:nvSpPr>
        <p:spPr>
          <a:xfrm>
            <a:off x="1469441" y="1808683"/>
            <a:ext cx="1228954" cy="1228954"/>
          </a:xfrm>
          <a:prstGeom prst="ellipse">
            <a:avLst/>
          </a:prstGeom>
          <a:solidFill>
            <a:srgbClr val="2A9D8F">
              <a:alpha val="55000"/>
            </a:srgbClr>
          </a:solidFill>
          <a:ln w="12700">
            <a:solidFill>
              <a:srgbClr val="2A9D8F"/>
            </a:solidFill>
            <a:prstDash val="solid"/>
          </a:ln>
        </p:spPr>
      </p:sp>
      <p:sp>
        <p:nvSpPr>
          <p:cNvPr id="9" name="Shape 6"/>
          <p:cNvSpPr/>
          <p:nvPr/>
        </p:nvSpPr>
        <p:spPr>
          <a:xfrm>
            <a:off x="2938699" y="1808683"/>
            <a:ext cx="1228954" cy="1228954"/>
          </a:xfrm>
          <a:prstGeom prst="ellipse">
            <a:avLst/>
          </a:prstGeom>
          <a:solidFill>
            <a:srgbClr val="0F1B2D">
              <a:alpha val="70000"/>
            </a:srgbClr>
          </a:solidFill>
          <a:ln w="12700">
            <a:solidFill>
              <a:srgbClr val="0F1B2D"/>
            </a:solidFill>
            <a:prstDash val="solid"/>
          </a:ln>
        </p:spPr>
      </p:sp>
      <p:sp>
        <p:nvSpPr>
          <p:cNvPr id="10" name="Shape 7"/>
          <p:cNvSpPr/>
          <p:nvPr/>
        </p:nvSpPr>
        <p:spPr>
          <a:xfrm>
            <a:off x="4290548" y="1808683"/>
            <a:ext cx="1228954" cy="1228954"/>
          </a:xfrm>
          <a:prstGeom prst="ellipse">
            <a:avLst/>
          </a:prstGeom>
          <a:solidFill>
            <a:srgbClr val="0F1B2D">
              <a:alpha val="70000"/>
            </a:srgbClr>
          </a:solidFill>
          <a:ln w="12700">
            <a:solidFill>
              <a:srgbClr val="0F1B2D"/>
            </a:solidFill>
            <a:prstDash val="solid"/>
          </a:ln>
        </p:spPr>
      </p:sp>
      <p:sp>
        <p:nvSpPr>
          <p:cNvPr id="11" name="Shape 8"/>
          <p:cNvSpPr/>
          <p:nvPr/>
        </p:nvSpPr>
        <p:spPr>
          <a:xfrm>
            <a:off x="4197096" y="1671523"/>
            <a:ext cx="64008" cy="1503274"/>
          </a:xfrm>
          <a:prstGeom prst="rect">
            <a:avLst/>
          </a:prstGeom>
          <a:solidFill>
            <a:srgbClr val="C8553D"/>
          </a:solidFill>
          <a:ln w="12700">
            <a:solidFill>
              <a:srgbClr val="C8553D"/>
            </a:solidFill>
            <a:prstDash val="solid"/>
          </a:ln>
        </p:spPr>
      </p:sp>
      <p:sp>
        <p:nvSpPr>
          <p:cNvPr id="12" name="Text 9"/>
          <p:cNvSpPr txBox="1"/>
          <p:nvPr/>
        </p:nvSpPr>
        <p:spPr>
          <a:xfrm>
            <a:off x="457200" y="1344168"/>
            <a:ext cx="2331720" cy="274320"/>
          </a:xfrm>
          <a:prstGeom prst="rect">
            <a:avLst/>
          </a:prstGeom>
          <a:noFill/>
          <a:ln/>
        </p:spPr>
        <p:txBody>
          <a:bodyPr wrap="square" lIns="0" tIns="0" rIns="0" bIns="0" rtlCol="0" anchor="ctr"/>
          <a:lstStyle/>
          <a:p>
            <a:pPr algn="ctr" indent="0" marL="0">
              <a:buNone/>
            </a:pPr>
            <a:r>
              <a:rPr lang="en-US" sz="1050" b="1" spc="200" kern="0" dirty="0">
                <a:solidFill>
                  <a:srgbClr val="2A9D8F"/>
                </a:solidFill>
                <a:latin typeface="Calibri" pitchFamily="34" charset="0"/>
                <a:ea typeface="Calibri" pitchFamily="34" charset="-122"/>
                <a:cs typeface="Calibri" pitchFamily="34" charset="-120"/>
              </a:rPr>
              <a:t>AGREEING</a:t>
            </a:r>
            <a:endParaRPr lang="en-US" sz="1050" dirty="0"/>
          </a:p>
        </p:txBody>
      </p:sp>
      <p:sp>
        <p:nvSpPr>
          <p:cNvPr id="13" name="Text 10"/>
          <p:cNvSpPr txBox="1"/>
          <p:nvPr/>
        </p:nvSpPr>
        <p:spPr>
          <a:xfrm>
            <a:off x="3063240" y="1344168"/>
            <a:ext cx="2331720" cy="274320"/>
          </a:xfrm>
          <a:prstGeom prst="rect">
            <a:avLst/>
          </a:prstGeom>
          <a:noFill/>
          <a:ln/>
        </p:spPr>
        <p:txBody>
          <a:bodyPr wrap="square" lIns="0" tIns="0" rIns="0" bIns="0" rtlCol="0" anchor="ctr"/>
          <a:lstStyle/>
          <a:p>
            <a:pPr algn="ctr" indent="0" marL="0">
              <a:buNone/>
            </a:pPr>
            <a:r>
              <a:rPr lang="en-US" sz="1050" b="1" spc="200" kern="0" dirty="0">
                <a:solidFill>
                  <a:srgbClr val="0F1B2D"/>
                </a:solidFill>
                <a:latin typeface="Calibri" pitchFamily="34" charset="0"/>
                <a:ea typeface="Calibri" pitchFamily="34" charset="-122"/>
                <a:cs typeface="Calibri" pitchFamily="34" charset="-120"/>
              </a:rPr>
              <a:t>DISAGREEING</a:t>
            </a:r>
            <a:endParaRPr lang="en-US" sz="1050" dirty="0"/>
          </a:p>
        </p:txBody>
      </p:sp>
      <p:sp>
        <p:nvSpPr>
          <p:cNvPr id="14" name="Text 11"/>
          <p:cNvSpPr txBox="1"/>
          <p:nvPr/>
        </p:nvSpPr>
        <p:spPr>
          <a:xfrm>
            <a:off x="457200" y="3017520"/>
            <a:ext cx="2331720" cy="320040"/>
          </a:xfrm>
          <a:prstGeom prst="rect">
            <a:avLst/>
          </a:prstGeom>
          <a:noFill/>
          <a:ln/>
        </p:spPr>
        <p:txBody>
          <a:bodyPr wrap="square" lIns="0" tIns="0" rIns="0" bIns="0" rtlCol="0" anchor="ctr"/>
          <a:lstStyle/>
          <a:p>
            <a:pPr algn="ctr" indent="0" marL="0">
              <a:buNone/>
            </a:pPr>
            <a:r>
              <a:rPr lang="en-US" sz="1050" dirty="0">
                <a:solidFill>
                  <a:srgbClr val="1A2B45"/>
                </a:solidFill>
                <a:latin typeface="Calibri" pitchFamily="34" charset="0"/>
                <a:ea typeface="Calibri" pitchFamily="34" charset="-122"/>
                <a:cs typeface="Calibri" pitchFamily="34" charset="-120"/>
              </a:rPr>
              <a:t>no record separates them — amplitudes add</a:t>
            </a:r>
            <a:endParaRPr lang="en-US" sz="1050" dirty="0"/>
          </a:p>
        </p:txBody>
      </p:sp>
      <p:sp>
        <p:nvSpPr>
          <p:cNvPr id="15" name="Text 12"/>
          <p:cNvSpPr txBox="1"/>
          <p:nvPr/>
        </p:nvSpPr>
        <p:spPr>
          <a:xfrm>
            <a:off x="3063240" y="3017520"/>
            <a:ext cx="2331720" cy="320040"/>
          </a:xfrm>
          <a:prstGeom prst="rect">
            <a:avLst/>
          </a:prstGeom>
          <a:noFill/>
          <a:ln/>
        </p:spPr>
        <p:txBody>
          <a:bodyPr wrap="square" lIns="0" tIns="0" rIns="0" bIns="0" rtlCol="0" anchor="ctr"/>
          <a:lstStyle/>
          <a:p>
            <a:pPr algn="ctr" indent="0" marL="0">
              <a:buNone/>
            </a:pPr>
            <a:r>
              <a:rPr lang="en-US" sz="1050" dirty="0">
                <a:solidFill>
                  <a:srgbClr val="1A2B45"/>
                </a:solidFill>
                <a:latin typeface="Calibri" pitchFamily="34" charset="0"/>
                <a:ea typeface="Calibri" pitchFamily="34" charset="-122"/>
                <a:cs typeface="Calibri" pitchFamily="34" charset="-120"/>
              </a:rPr>
              <a:t>a record writes the wall — weights add</a:t>
            </a:r>
            <a:endParaRPr lang="en-US" sz="1050" dirty="0"/>
          </a:p>
        </p:txBody>
      </p:sp>
      <p:sp>
        <p:nvSpPr>
          <p:cNvPr id="16" name="Shape 13"/>
          <p:cNvSpPr/>
          <p:nvPr/>
        </p:nvSpPr>
        <p:spPr>
          <a:xfrm>
            <a:off x="5897880" y="1655064"/>
            <a:ext cx="164592" cy="164592"/>
          </a:xfrm>
          <a:prstGeom prst="ellipse">
            <a:avLst/>
          </a:prstGeom>
          <a:solidFill>
            <a:srgbClr val="E9A23B"/>
          </a:solidFill>
          <a:ln w="12700">
            <a:solidFill>
              <a:srgbClr val="E9A23B"/>
            </a:solidFill>
            <a:prstDash val="solid"/>
          </a:ln>
        </p:spPr>
      </p:sp>
      <p:sp>
        <p:nvSpPr>
          <p:cNvPr id="17" name="Shape 14"/>
          <p:cNvSpPr/>
          <p:nvPr/>
        </p:nvSpPr>
        <p:spPr>
          <a:xfrm>
            <a:off x="6989674" y="1280160"/>
            <a:ext cx="91440" cy="274320"/>
          </a:xfrm>
          <a:prstGeom prst="rect">
            <a:avLst/>
          </a:prstGeom>
          <a:solidFill>
            <a:srgbClr val="0F1B2D"/>
          </a:solidFill>
          <a:ln w="12700">
            <a:solidFill>
              <a:srgbClr val="0F1B2D"/>
            </a:solidFill>
            <a:prstDash val="solid"/>
          </a:ln>
        </p:spPr>
      </p:sp>
      <p:sp>
        <p:nvSpPr>
          <p:cNvPr id="18" name="Shape 15"/>
          <p:cNvSpPr/>
          <p:nvPr/>
        </p:nvSpPr>
        <p:spPr>
          <a:xfrm>
            <a:off x="6989674" y="1645920"/>
            <a:ext cx="91440" cy="182880"/>
          </a:xfrm>
          <a:prstGeom prst="rect">
            <a:avLst/>
          </a:prstGeom>
          <a:solidFill>
            <a:srgbClr val="0F1B2D"/>
          </a:solidFill>
          <a:ln w="12700">
            <a:solidFill>
              <a:srgbClr val="0F1B2D"/>
            </a:solidFill>
            <a:prstDash val="solid"/>
          </a:ln>
        </p:spPr>
      </p:sp>
      <p:sp>
        <p:nvSpPr>
          <p:cNvPr id="19" name="Shape 16"/>
          <p:cNvSpPr/>
          <p:nvPr/>
        </p:nvSpPr>
        <p:spPr>
          <a:xfrm>
            <a:off x="6989674" y="1920240"/>
            <a:ext cx="91440" cy="274320"/>
          </a:xfrm>
          <a:prstGeom prst="rect">
            <a:avLst/>
          </a:prstGeom>
          <a:solidFill>
            <a:srgbClr val="0F1B2D"/>
          </a:solidFill>
          <a:ln w="12700">
            <a:solidFill>
              <a:srgbClr val="0F1B2D"/>
            </a:solidFill>
            <a:prstDash val="solid"/>
          </a:ln>
        </p:spPr>
      </p:sp>
      <p:sp>
        <p:nvSpPr>
          <p:cNvPr id="20" name="Shape 17"/>
          <p:cNvSpPr/>
          <p:nvPr/>
        </p:nvSpPr>
        <p:spPr>
          <a:xfrm>
            <a:off x="8412480" y="1280160"/>
            <a:ext cx="73152" cy="914400"/>
          </a:xfrm>
          <a:prstGeom prst="rect">
            <a:avLst/>
          </a:prstGeom>
          <a:solidFill>
            <a:srgbClr val="6B7A90"/>
          </a:solidFill>
          <a:ln w="12700">
            <a:solidFill>
              <a:srgbClr val="6B7A90"/>
            </a:solidFill>
            <a:prstDash val="solid"/>
          </a:ln>
        </p:spPr>
      </p:sp>
      <p:sp>
        <p:nvSpPr>
          <p:cNvPr id="21" name="Shape 18"/>
          <p:cNvSpPr/>
          <p:nvPr/>
        </p:nvSpPr>
        <p:spPr>
          <a:xfrm>
            <a:off x="8156448" y="1353312"/>
            <a:ext cx="182880" cy="73152"/>
          </a:xfrm>
          <a:prstGeom prst="rect">
            <a:avLst/>
          </a:prstGeom>
          <a:solidFill>
            <a:srgbClr val="2A9D8F">
              <a:alpha val="25000"/>
            </a:srgbClr>
          </a:solidFill>
          <a:ln w="12700">
            <a:solidFill>
              <a:srgbClr val="2A9D8F">
                <a:alpha val="25000"/>
              </a:srgbClr>
            </a:solidFill>
            <a:prstDash val="solid"/>
          </a:ln>
        </p:spPr>
      </p:sp>
      <p:sp>
        <p:nvSpPr>
          <p:cNvPr id="22" name="Shape 19"/>
          <p:cNvSpPr/>
          <p:nvPr/>
        </p:nvSpPr>
        <p:spPr>
          <a:xfrm>
            <a:off x="8156448" y="1467612"/>
            <a:ext cx="182880" cy="73152"/>
          </a:xfrm>
          <a:prstGeom prst="rect">
            <a:avLst/>
          </a:prstGeom>
          <a:solidFill>
            <a:srgbClr val="2A9D8F">
              <a:alpha val="45000"/>
            </a:srgbClr>
          </a:solidFill>
          <a:ln w="12700">
            <a:solidFill>
              <a:srgbClr val="2A9D8F">
                <a:alpha val="45000"/>
              </a:srgbClr>
            </a:solidFill>
            <a:prstDash val="solid"/>
          </a:ln>
        </p:spPr>
      </p:sp>
      <p:sp>
        <p:nvSpPr>
          <p:cNvPr id="23" name="Shape 20"/>
          <p:cNvSpPr/>
          <p:nvPr/>
        </p:nvSpPr>
        <p:spPr>
          <a:xfrm>
            <a:off x="8156448" y="1581912"/>
            <a:ext cx="182880" cy="73152"/>
          </a:xfrm>
          <a:prstGeom prst="rect">
            <a:avLst/>
          </a:prstGeom>
          <a:solidFill>
            <a:srgbClr val="2A9D8F">
              <a:alpha val="75000"/>
            </a:srgbClr>
          </a:solidFill>
          <a:ln w="12700">
            <a:solidFill>
              <a:srgbClr val="2A9D8F">
                <a:alpha val="75000"/>
              </a:srgbClr>
            </a:solidFill>
            <a:prstDash val="solid"/>
          </a:ln>
        </p:spPr>
      </p:sp>
      <p:sp>
        <p:nvSpPr>
          <p:cNvPr id="24" name="Shape 21"/>
          <p:cNvSpPr/>
          <p:nvPr/>
        </p:nvSpPr>
        <p:spPr>
          <a:xfrm>
            <a:off x="8156448" y="1696212"/>
            <a:ext cx="182880" cy="73152"/>
          </a:xfrm>
          <a:prstGeom prst="rect">
            <a:avLst/>
          </a:prstGeom>
          <a:solidFill>
            <a:srgbClr val="2A9D8F"/>
          </a:solidFill>
          <a:ln w="12700">
            <a:solidFill>
              <a:srgbClr val="2A9D8F"/>
            </a:solidFill>
            <a:prstDash val="solid"/>
          </a:ln>
        </p:spPr>
      </p:sp>
      <p:sp>
        <p:nvSpPr>
          <p:cNvPr id="25" name="Shape 22"/>
          <p:cNvSpPr/>
          <p:nvPr/>
        </p:nvSpPr>
        <p:spPr>
          <a:xfrm>
            <a:off x="8156448" y="1810512"/>
            <a:ext cx="182880" cy="73152"/>
          </a:xfrm>
          <a:prstGeom prst="rect">
            <a:avLst/>
          </a:prstGeom>
          <a:solidFill>
            <a:srgbClr val="2A9D8F">
              <a:alpha val="75000"/>
            </a:srgbClr>
          </a:solidFill>
          <a:ln w="12700">
            <a:solidFill>
              <a:srgbClr val="2A9D8F">
                <a:alpha val="75000"/>
              </a:srgbClr>
            </a:solidFill>
            <a:prstDash val="solid"/>
          </a:ln>
        </p:spPr>
      </p:sp>
      <p:sp>
        <p:nvSpPr>
          <p:cNvPr id="26" name="Shape 23"/>
          <p:cNvSpPr/>
          <p:nvPr/>
        </p:nvSpPr>
        <p:spPr>
          <a:xfrm>
            <a:off x="8156448" y="1924812"/>
            <a:ext cx="182880" cy="73152"/>
          </a:xfrm>
          <a:prstGeom prst="rect">
            <a:avLst/>
          </a:prstGeom>
          <a:solidFill>
            <a:srgbClr val="2A9D8F">
              <a:alpha val="45000"/>
            </a:srgbClr>
          </a:solidFill>
          <a:ln w="12700">
            <a:solidFill>
              <a:srgbClr val="2A9D8F">
                <a:alpha val="45000"/>
              </a:srgbClr>
            </a:solidFill>
            <a:prstDash val="solid"/>
          </a:ln>
        </p:spPr>
      </p:sp>
      <p:sp>
        <p:nvSpPr>
          <p:cNvPr id="27" name="Shape 24"/>
          <p:cNvSpPr/>
          <p:nvPr/>
        </p:nvSpPr>
        <p:spPr>
          <a:xfrm>
            <a:off x="8156448" y="2039112"/>
            <a:ext cx="182880" cy="73152"/>
          </a:xfrm>
          <a:prstGeom prst="rect">
            <a:avLst/>
          </a:prstGeom>
          <a:solidFill>
            <a:srgbClr val="2A9D8F">
              <a:alpha val="25000"/>
            </a:srgbClr>
          </a:solidFill>
          <a:ln w="12700">
            <a:solidFill>
              <a:srgbClr val="2A9D8F">
                <a:alpha val="25000"/>
              </a:srgbClr>
            </a:solidFill>
            <a:prstDash val="solid"/>
          </a:ln>
        </p:spPr>
      </p:sp>
      <p:sp>
        <p:nvSpPr>
          <p:cNvPr id="28" name="Text 25"/>
          <p:cNvSpPr txBox="1"/>
          <p:nvPr/>
        </p:nvSpPr>
        <p:spPr>
          <a:xfrm>
            <a:off x="7406640" y="2212848"/>
            <a:ext cx="1188720" cy="228600"/>
          </a:xfrm>
          <a:prstGeom prst="rect">
            <a:avLst/>
          </a:prstGeom>
          <a:noFill/>
          <a:ln/>
        </p:spPr>
        <p:txBody>
          <a:bodyPr wrap="square" lIns="0" tIns="0" rIns="0" bIns="0" rtlCol="0" anchor="ctr"/>
          <a:lstStyle/>
          <a:p>
            <a:pPr algn="ctr" indent="0" marL="0">
              <a:buNone/>
            </a:pPr>
            <a:r>
              <a:rPr lang="en-US" sz="950" dirty="0">
                <a:solidFill>
                  <a:srgbClr val="2A9D8F"/>
                </a:solidFill>
                <a:latin typeface="Calibri" pitchFamily="34" charset="0"/>
                <a:ea typeface="Calibri" pitchFamily="34" charset="-122"/>
                <a:cs typeface="Calibri" pitchFamily="34" charset="-120"/>
              </a:rPr>
              <a:t>fringes</a:t>
            </a:r>
            <a:endParaRPr lang="en-US" sz="950" dirty="0"/>
          </a:p>
        </p:txBody>
      </p:sp>
      <p:sp>
        <p:nvSpPr>
          <p:cNvPr id="29" name="Shape 26"/>
          <p:cNvSpPr/>
          <p:nvPr/>
        </p:nvSpPr>
        <p:spPr>
          <a:xfrm>
            <a:off x="6062472" y="1737360"/>
            <a:ext cx="927202" cy="-137160"/>
          </a:xfrm>
          <a:prstGeom prst="line">
            <a:avLst/>
          </a:prstGeom>
          <a:noFill/>
          <a:ln w="9525">
            <a:solidFill>
              <a:srgbClr val="6B7A90"/>
            </a:solidFill>
            <a:prstDash val="dash"/>
          </a:ln>
        </p:spPr>
      </p:sp>
      <p:sp>
        <p:nvSpPr>
          <p:cNvPr id="30" name="Shape 27"/>
          <p:cNvSpPr/>
          <p:nvPr/>
        </p:nvSpPr>
        <p:spPr>
          <a:xfrm>
            <a:off x="6062472" y="1737360"/>
            <a:ext cx="927202" cy="137160"/>
          </a:xfrm>
          <a:prstGeom prst="line">
            <a:avLst/>
          </a:prstGeom>
          <a:noFill/>
          <a:ln w="9525">
            <a:solidFill>
              <a:srgbClr val="6B7A90"/>
            </a:solidFill>
            <a:prstDash val="dash"/>
          </a:ln>
        </p:spPr>
      </p:sp>
      <p:sp>
        <p:nvSpPr>
          <p:cNvPr id="31" name="Shape 28"/>
          <p:cNvSpPr/>
          <p:nvPr/>
        </p:nvSpPr>
        <p:spPr>
          <a:xfrm>
            <a:off x="5897880" y="2889504"/>
            <a:ext cx="164592" cy="164592"/>
          </a:xfrm>
          <a:prstGeom prst="ellipse">
            <a:avLst/>
          </a:prstGeom>
          <a:solidFill>
            <a:srgbClr val="E9A23B"/>
          </a:solidFill>
          <a:ln w="12700">
            <a:solidFill>
              <a:srgbClr val="E9A23B"/>
            </a:solidFill>
            <a:prstDash val="solid"/>
          </a:ln>
        </p:spPr>
      </p:sp>
      <p:sp>
        <p:nvSpPr>
          <p:cNvPr id="32" name="Shape 29"/>
          <p:cNvSpPr/>
          <p:nvPr/>
        </p:nvSpPr>
        <p:spPr>
          <a:xfrm>
            <a:off x="6989674" y="2514600"/>
            <a:ext cx="91440" cy="274320"/>
          </a:xfrm>
          <a:prstGeom prst="rect">
            <a:avLst/>
          </a:prstGeom>
          <a:solidFill>
            <a:srgbClr val="0F1B2D"/>
          </a:solidFill>
          <a:ln w="12700">
            <a:solidFill>
              <a:srgbClr val="0F1B2D"/>
            </a:solidFill>
            <a:prstDash val="solid"/>
          </a:ln>
        </p:spPr>
      </p:sp>
      <p:sp>
        <p:nvSpPr>
          <p:cNvPr id="33" name="Shape 30"/>
          <p:cNvSpPr/>
          <p:nvPr/>
        </p:nvSpPr>
        <p:spPr>
          <a:xfrm>
            <a:off x="6989674" y="2880360"/>
            <a:ext cx="91440" cy="182880"/>
          </a:xfrm>
          <a:prstGeom prst="rect">
            <a:avLst/>
          </a:prstGeom>
          <a:solidFill>
            <a:srgbClr val="0F1B2D"/>
          </a:solidFill>
          <a:ln w="12700">
            <a:solidFill>
              <a:srgbClr val="0F1B2D"/>
            </a:solidFill>
            <a:prstDash val="solid"/>
          </a:ln>
        </p:spPr>
      </p:sp>
      <p:sp>
        <p:nvSpPr>
          <p:cNvPr id="34" name="Shape 31"/>
          <p:cNvSpPr/>
          <p:nvPr/>
        </p:nvSpPr>
        <p:spPr>
          <a:xfrm>
            <a:off x="6989674" y="3154680"/>
            <a:ext cx="91440" cy="274320"/>
          </a:xfrm>
          <a:prstGeom prst="rect">
            <a:avLst/>
          </a:prstGeom>
          <a:solidFill>
            <a:srgbClr val="0F1B2D"/>
          </a:solidFill>
          <a:ln w="12700">
            <a:solidFill>
              <a:srgbClr val="0F1B2D"/>
            </a:solidFill>
            <a:prstDash val="solid"/>
          </a:ln>
        </p:spPr>
      </p:sp>
      <p:sp>
        <p:nvSpPr>
          <p:cNvPr id="35" name="Shape 32"/>
          <p:cNvSpPr/>
          <p:nvPr/>
        </p:nvSpPr>
        <p:spPr>
          <a:xfrm>
            <a:off x="8412480" y="2514600"/>
            <a:ext cx="73152" cy="914400"/>
          </a:xfrm>
          <a:prstGeom prst="rect">
            <a:avLst/>
          </a:prstGeom>
          <a:solidFill>
            <a:srgbClr val="6B7A90"/>
          </a:solidFill>
          <a:ln w="12700">
            <a:solidFill>
              <a:srgbClr val="6B7A90"/>
            </a:solidFill>
            <a:prstDash val="solid"/>
          </a:ln>
        </p:spPr>
      </p:sp>
      <p:sp>
        <p:nvSpPr>
          <p:cNvPr id="36" name="Shape 33"/>
          <p:cNvSpPr/>
          <p:nvPr/>
        </p:nvSpPr>
        <p:spPr>
          <a:xfrm>
            <a:off x="8101584" y="2715768"/>
            <a:ext cx="237744" cy="237744"/>
          </a:xfrm>
          <a:prstGeom prst="ellipse">
            <a:avLst/>
          </a:prstGeom>
          <a:solidFill>
            <a:srgbClr val="0F1B2D">
              <a:alpha val="70000"/>
            </a:srgbClr>
          </a:solidFill>
          <a:ln w="12700">
            <a:solidFill>
              <a:srgbClr val="0F1B2D"/>
            </a:solidFill>
            <a:prstDash val="solid"/>
          </a:ln>
        </p:spPr>
      </p:sp>
      <p:sp>
        <p:nvSpPr>
          <p:cNvPr id="37" name="Shape 34"/>
          <p:cNvSpPr/>
          <p:nvPr/>
        </p:nvSpPr>
        <p:spPr>
          <a:xfrm>
            <a:off x="8101584" y="3026664"/>
            <a:ext cx="237744" cy="237744"/>
          </a:xfrm>
          <a:prstGeom prst="ellipse">
            <a:avLst/>
          </a:prstGeom>
          <a:solidFill>
            <a:srgbClr val="0F1B2D">
              <a:alpha val="70000"/>
            </a:srgbClr>
          </a:solidFill>
          <a:ln w="12700">
            <a:solidFill>
              <a:srgbClr val="0F1B2D"/>
            </a:solidFill>
            <a:prstDash val="solid"/>
          </a:ln>
        </p:spPr>
      </p:sp>
      <p:sp>
        <p:nvSpPr>
          <p:cNvPr id="38" name="Shape 35"/>
          <p:cNvSpPr/>
          <p:nvPr/>
        </p:nvSpPr>
        <p:spPr>
          <a:xfrm>
            <a:off x="7154266" y="2770632"/>
            <a:ext cx="201168" cy="137160"/>
          </a:xfrm>
          <a:prstGeom prst="rect">
            <a:avLst/>
          </a:prstGeom>
          <a:solidFill>
            <a:srgbClr val="C8553D"/>
          </a:solidFill>
          <a:ln w="12700">
            <a:solidFill>
              <a:srgbClr val="C8553D"/>
            </a:solidFill>
            <a:prstDash val="solid"/>
          </a:ln>
        </p:spPr>
      </p:sp>
      <p:sp>
        <p:nvSpPr>
          <p:cNvPr id="39" name="Text 36"/>
          <p:cNvSpPr txBox="1"/>
          <p:nvPr/>
        </p:nvSpPr>
        <p:spPr>
          <a:xfrm>
            <a:off x="7035394" y="2916936"/>
            <a:ext cx="548640" cy="201168"/>
          </a:xfrm>
          <a:prstGeom prst="rect">
            <a:avLst/>
          </a:prstGeom>
          <a:noFill/>
          <a:ln/>
        </p:spPr>
        <p:txBody>
          <a:bodyPr wrap="square" lIns="0" tIns="0" rIns="0" bIns="0" rtlCol="0" anchor="ctr"/>
          <a:lstStyle/>
          <a:p>
            <a:pPr algn="ctr" indent="0" marL="0">
              <a:buNone/>
            </a:pPr>
            <a:r>
              <a:rPr lang="en-US" sz="900" dirty="0">
                <a:solidFill>
                  <a:srgbClr val="C8553D"/>
                </a:solidFill>
                <a:latin typeface="Calibri" pitchFamily="34" charset="0"/>
                <a:ea typeface="Calibri" pitchFamily="34" charset="-122"/>
                <a:cs typeface="Calibri" pitchFamily="34" charset="-120"/>
              </a:rPr>
              <a:t>record</a:t>
            </a:r>
            <a:endParaRPr lang="en-US" sz="900" dirty="0"/>
          </a:p>
        </p:txBody>
      </p:sp>
      <p:sp>
        <p:nvSpPr>
          <p:cNvPr id="40" name="Text 37"/>
          <p:cNvSpPr txBox="1"/>
          <p:nvPr/>
        </p:nvSpPr>
        <p:spPr>
          <a:xfrm>
            <a:off x="7406640" y="3447288"/>
            <a:ext cx="1188720" cy="228600"/>
          </a:xfrm>
          <a:prstGeom prst="rect">
            <a:avLst/>
          </a:prstGeom>
          <a:noFill/>
          <a:ln/>
        </p:spPr>
        <p:txBody>
          <a:bodyPr wrap="square" lIns="0" tIns="0" rIns="0" bIns="0" rtlCol="0" anchor="ctr"/>
          <a:lstStyle/>
          <a:p>
            <a:pPr algn="ctr" indent="0" marL="0">
              <a:buNone/>
            </a:pPr>
            <a:r>
              <a:rPr lang="en-US" sz="950" dirty="0">
                <a:solidFill>
                  <a:srgbClr val="0F1B2D"/>
                </a:solidFill>
                <a:latin typeface="Calibri" pitchFamily="34" charset="0"/>
                <a:ea typeface="Calibri" pitchFamily="34" charset="-122"/>
                <a:cs typeface="Calibri" pitchFamily="34" charset="-120"/>
              </a:rPr>
              <a:t>two lumps</a:t>
            </a:r>
            <a:endParaRPr lang="en-US" sz="950" dirty="0"/>
          </a:p>
        </p:txBody>
      </p:sp>
      <p:sp>
        <p:nvSpPr>
          <p:cNvPr id="41" name="Shape 38"/>
          <p:cNvSpPr/>
          <p:nvPr/>
        </p:nvSpPr>
        <p:spPr>
          <a:xfrm>
            <a:off x="6062472" y="2971800"/>
            <a:ext cx="927202" cy="-137160"/>
          </a:xfrm>
          <a:prstGeom prst="line">
            <a:avLst/>
          </a:prstGeom>
          <a:noFill/>
          <a:ln w="9525">
            <a:solidFill>
              <a:srgbClr val="6B7A90"/>
            </a:solidFill>
            <a:prstDash val="dash"/>
          </a:ln>
        </p:spPr>
      </p:sp>
      <p:sp>
        <p:nvSpPr>
          <p:cNvPr id="42" name="Shape 39"/>
          <p:cNvSpPr/>
          <p:nvPr/>
        </p:nvSpPr>
        <p:spPr>
          <a:xfrm>
            <a:off x="6062472" y="2971800"/>
            <a:ext cx="927202" cy="137160"/>
          </a:xfrm>
          <a:prstGeom prst="line">
            <a:avLst/>
          </a:prstGeom>
          <a:noFill/>
          <a:ln w="9525">
            <a:solidFill>
              <a:srgbClr val="6B7A90"/>
            </a:solidFill>
            <a:prstDash val="dash"/>
          </a:ln>
        </p:spPr>
      </p:sp>
      <p:sp>
        <p:nvSpPr>
          <p:cNvPr id="43" name="Text 40"/>
          <p:cNvSpPr txBox="1"/>
          <p:nvPr/>
        </p:nvSpPr>
        <p:spPr>
          <a:xfrm>
            <a:off x="457200" y="3611880"/>
            <a:ext cx="8229600" cy="914400"/>
          </a:xfrm>
          <a:prstGeom prst="rect">
            <a:avLst/>
          </a:prstGeom>
          <a:noFill/>
          <a:ln/>
        </p:spPr>
        <p:txBody>
          <a:bodyPr wrap="square" lIns="0" tIns="0" rIns="0" bIns="0" rtlCol="0" anchor="t"/>
          <a:lstStyle/>
          <a:p>
            <a:pPr algn="l" indent="0" marL="0">
              <a:lnSpc>
                <a:spcPct val="115000"/>
              </a:lnSpc>
              <a:buNone/>
            </a:pPr>
            <a:r>
              <a:rPr lang="en-US" sz="1350" dirty="0">
                <a:solidFill>
                  <a:srgbClr val="1A2B45"/>
                </a:solidFill>
                <a:latin typeface="Calibri" pitchFamily="34" charset="0"/>
                <a:ea typeface="Calibri" pitchFamily="34" charset="-122"/>
                <a:cs typeface="Calibri" pitchFamily="34" charset="-120"/>
              </a:rPr>
              <a:t>Detector off: no record separates the slits, so no wall — one agreeing superposition, and the amplitudes add into fringes. Detector on: a record separates them, the wall is written in, the weights add, two lumps. Nothing was disturbed. Something was written.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Collapse is checkmate, not an event</a:t>
            </a:r>
            <a:endParaRPr lang="en-US" sz="2800" dirty="0"/>
          </a:p>
        </p:txBody>
      </p:sp>
      <p:sp>
        <p:nvSpPr>
          <p:cNvPr id="5" name="Shape 2"/>
          <p:cNvSpPr/>
          <p:nvPr/>
        </p:nvSpPr>
        <p:spPr>
          <a:xfrm flipV="1">
            <a:off x="1225296" y="1645920"/>
            <a:ext cx="1152144" cy="1051560"/>
          </a:xfrm>
          <a:prstGeom prst="line">
            <a:avLst/>
          </a:prstGeom>
          <a:noFill/>
          <a:ln w="15875">
            <a:solidFill>
              <a:srgbClr val="6B7A90"/>
            </a:solidFill>
            <a:prstDash val="solid"/>
          </a:ln>
        </p:spPr>
      </p:sp>
      <p:sp>
        <p:nvSpPr>
          <p:cNvPr id="6" name="Shape 3"/>
          <p:cNvSpPr/>
          <p:nvPr/>
        </p:nvSpPr>
        <p:spPr>
          <a:xfrm>
            <a:off x="2377440" y="1645920"/>
            <a:ext cx="914" cy="1051560"/>
          </a:xfrm>
          <a:prstGeom prst="line">
            <a:avLst/>
          </a:prstGeom>
          <a:noFill/>
          <a:ln w="15875">
            <a:solidFill>
              <a:srgbClr val="6B7A90"/>
            </a:solidFill>
            <a:prstDash val="solid"/>
          </a:ln>
        </p:spPr>
      </p:sp>
      <p:sp>
        <p:nvSpPr>
          <p:cNvPr id="7" name="Shape 4"/>
          <p:cNvSpPr/>
          <p:nvPr/>
        </p:nvSpPr>
        <p:spPr>
          <a:xfrm>
            <a:off x="2377440" y="1645920"/>
            <a:ext cx="1152144" cy="1051560"/>
          </a:xfrm>
          <a:prstGeom prst="line">
            <a:avLst/>
          </a:prstGeom>
          <a:noFill/>
          <a:ln w="15875">
            <a:solidFill>
              <a:srgbClr val="6B7A90"/>
            </a:solidFill>
            <a:prstDash val="solid"/>
          </a:ln>
        </p:spPr>
      </p:sp>
      <p:sp>
        <p:nvSpPr>
          <p:cNvPr id="8" name="Shape 5"/>
          <p:cNvSpPr/>
          <p:nvPr/>
        </p:nvSpPr>
        <p:spPr>
          <a:xfrm flipV="1">
            <a:off x="841248" y="2697480"/>
            <a:ext cx="384048" cy="1051560"/>
          </a:xfrm>
          <a:prstGeom prst="line">
            <a:avLst/>
          </a:prstGeom>
          <a:noFill/>
          <a:ln w="15875">
            <a:solidFill>
              <a:srgbClr val="6B7A90"/>
            </a:solidFill>
            <a:prstDash val="solid"/>
          </a:ln>
        </p:spPr>
      </p:sp>
      <p:sp>
        <p:nvSpPr>
          <p:cNvPr id="9" name="Shape 6"/>
          <p:cNvSpPr/>
          <p:nvPr/>
        </p:nvSpPr>
        <p:spPr>
          <a:xfrm>
            <a:off x="1225296" y="2697480"/>
            <a:ext cx="384048" cy="1051560"/>
          </a:xfrm>
          <a:prstGeom prst="line">
            <a:avLst/>
          </a:prstGeom>
          <a:noFill/>
          <a:ln w="15875">
            <a:solidFill>
              <a:srgbClr val="6B7A90"/>
            </a:solidFill>
            <a:prstDash val="solid"/>
          </a:ln>
        </p:spPr>
      </p:sp>
      <p:sp>
        <p:nvSpPr>
          <p:cNvPr id="10" name="Shape 7"/>
          <p:cNvSpPr/>
          <p:nvPr/>
        </p:nvSpPr>
        <p:spPr>
          <a:xfrm flipV="1">
            <a:off x="2185416" y="2697480"/>
            <a:ext cx="192024" cy="1051560"/>
          </a:xfrm>
          <a:prstGeom prst="line">
            <a:avLst/>
          </a:prstGeom>
          <a:noFill/>
          <a:ln w="15875">
            <a:solidFill>
              <a:srgbClr val="C8553D"/>
            </a:solidFill>
            <a:prstDash val="solid"/>
          </a:ln>
        </p:spPr>
      </p:sp>
      <p:sp>
        <p:nvSpPr>
          <p:cNvPr id="11" name="Shape 8"/>
          <p:cNvSpPr/>
          <p:nvPr/>
        </p:nvSpPr>
        <p:spPr>
          <a:xfrm>
            <a:off x="2377440" y="2697480"/>
            <a:ext cx="460858" cy="1051560"/>
          </a:xfrm>
          <a:prstGeom prst="line">
            <a:avLst/>
          </a:prstGeom>
          <a:noFill/>
          <a:ln w="15875">
            <a:solidFill>
              <a:srgbClr val="C8553D"/>
            </a:solidFill>
            <a:prstDash val="solid"/>
          </a:ln>
        </p:spPr>
      </p:sp>
      <p:sp>
        <p:nvSpPr>
          <p:cNvPr id="12" name="Shape 9"/>
          <p:cNvSpPr/>
          <p:nvPr/>
        </p:nvSpPr>
        <p:spPr>
          <a:xfrm>
            <a:off x="3529584" y="2697480"/>
            <a:ext cx="384048" cy="1051560"/>
          </a:xfrm>
          <a:prstGeom prst="line">
            <a:avLst/>
          </a:prstGeom>
          <a:noFill/>
          <a:ln w="15875">
            <a:solidFill>
              <a:srgbClr val="6B7A90"/>
            </a:solidFill>
            <a:prstDash val="solid"/>
          </a:ln>
        </p:spPr>
      </p:sp>
      <p:sp>
        <p:nvSpPr>
          <p:cNvPr id="13" name="Shape 10"/>
          <p:cNvSpPr/>
          <p:nvPr/>
        </p:nvSpPr>
        <p:spPr>
          <a:xfrm>
            <a:off x="2221992" y="1490472"/>
            <a:ext cx="310896" cy="310896"/>
          </a:xfrm>
          <a:prstGeom prst="ellipse">
            <a:avLst/>
          </a:prstGeom>
          <a:solidFill>
            <a:srgbClr val="0F1B2D"/>
          </a:solidFill>
          <a:ln w="12700">
            <a:solidFill>
              <a:srgbClr val="0F1B2D"/>
            </a:solidFill>
            <a:prstDash val="solid"/>
          </a:ln>
        </p:spPr>
      </p:sp>
      <p:sp>
        <p:nvSpPr>
          <p:cNvPr id="14" name="Text 11"/>
          <p:cNvSpPr txBox="1"/>
          <p:nvPr/>
        </p:nvSpPr>
        <p:spPr>
          <a:xfrm>
            <a:off x="2221992" y="149047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15" name="Shape 12"/>
          <p:cNvSpPr/>
          <p:nvPr/>
        </p:nvSpPr>
        <p:spPr>
          <a:xfrm>
            <a:off x="1069848" y="2542032"/>
            <a:ext cx="310896" cy="310896"/>
          </a:xfrm>
          <a:prstGeom prst="ellipse">
            <a:avLst/>
          </a:prstGeom>
          <a:solidFill>
            <a:srgbClr val="5C8A4A"/>
          </a:solidFill>
          <a:ln w="12700">
            <a:solidFill>
              <a:srgbClr val="5C8A4A"/>
            </a:solidFill>
            <a:prstDash val="solid"/>
          </a:ln>
        </p:spPr>
      </p:sp>
      <p:sp>
        <p:nvSpPr>
          <p:cNvPr id="16" name="Text 13"/>
          <p:cNvSpPr txBox="1"/>
          <p:nvPr/>
        </p:nvSpPr>
        <p:spPr>
          <a:xfrm>
            <a:off x="1069848" y="254203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17" name="Shape 14"/>
          <p:cNvSpPr/>
          <p:nvPr/>
        </p:nvSpPr>
        <p:spPr>
          <a:xfrm>
            <a:off x="2221992" y="2542032"/>
            <a:ext cx="310896" cy="310896"/>
          </a:xfrm>
          <a:prstGeom prst="ellipse">
            <a:avLst/>
          </a:prstGeom>
          <a:solidFill>
            <a:srgbClr val="6B7A90"/>
          </a:solidFill>
          <a:ln w="12700">
            <a:solidFill>
              <a:srgbClr val="6B7A90"/>
            </a:solidFill>
            <a:prstDash val="solid"/>
          </a:ln>
        </p:spPr>
      </p:sp>
      <p:sp>
        <p:nvSpPr>
          <p:cNvPr id="18" name="Shape 15"/>
          <p:cNvSpPr/>
          <p:nvPr/>
        </p:nvSpPr>
        <p:spPr>
          <a:xfrm>
            <a:off x="3374136" y="2542032"/>
            <a:ext cx="310896" cy="310896"/>
          </a:xfrm>
          <a:prstGeom prst="ellipse">
            <a:avLst/>
          </a:prstGeom>
          <a:solidFill>
            <a:srgbClr val="5C8A4A"/>
          </a:solidFill>
          <a:ln w="12700">
            <a:solidFill>
              <a:srgbClr val="5C8A4A"/>
            </a:solidFill>
            <a:prstDash val="solid"/>
          </a:ln>
        </p:spPr>
      </p:sp>
      <p:sp>
        <p:nvSpPr>
          <p:cNvPr id="19" name="Shape 16"/>
          <p:cNvSpPr/>
          <p:nvPr/>
        </p:nvSpPr>
        <p:spPr>
          <a:xfrm>
            <a:off x="685800" y="3593592"/>
            <a:ext cx="310896" cy="310896"/>
          </a:xfrm>
          <a:prstGeom prst="ellipse">
            <a:avLst/>
          </a:prstGeom>
          <a:solidFill>
            <a:srgbClr val="5C8A4A"/>
          </a:solidFill>
          <a:ln w="12700">
            <a:solidFill>
              <a:srgbClr val="5C8A4A"/>
            </a:solidFill>
            <a:prstDash val="solid"/>
          </a:ln>
        </p:spPr>
      </p:sp>
      <p:sp>
        <p:nvSpPr>
          <p:cNvPr id="20" name="Shape 17"/>
          <p:cNvSpPr/>
          <p:nvPr/>
        </p:nvSpPr>
        <p:spPr>
          <a:xfrm>
            <a:off x="1453896" y="3593592"/>
            <a:ext cx="310896" cy="310896"/>
          </a:xfrm>
          <a:prstGeom prst="ellipse">
            <a:avLst/>
          </a:prstGeom>
          <a:solidFill>
            <a:srgbClr val="5C8A4A"/>
          </a:solidFill>
          <a:ln w="12700">
            <a:solidFill>
              <a:srgbClr val="5C8A4A"/>
            </a:solidFill>
            <a:prstDash val="solid"/>
          </a:ln>
        </p:spPr>
      </p:sp>
      <p:sp>
        <p:nvSpPr>
          <p:cNvPr id="21" name="Shape 18"/>
          <p:cNvSpPr/>
          <p:nvPr/>
        </p:nvSpPr>
        <p:spPr>
          <a:xfrm>
            <a:off x="2029968" y="3593592"/>
            <a:ext cx="310896" cy="310896"/>
          </a:xfrm>
          <a:prstGeom prst="ellipse">
            <a:avLst/>
          </a:prstGeom>
          <a:solidFill>
            <a:srgbClr val="C8553D"/>
          </a:solidFill>
          <a:ln w="12700">
            <a:solidFill>
              <a:srgbClr val="C8553D"/>
            </a:solidFill>
            <a:prstDash val="solid"/>
          </a:ln>
        </p:spPr>
      </p:sp>
      <p:sp>
        <p:nvSpPr>
          <p:cNvPr id="22" name="Text 19"/>
          <p:cNvSpPr txBox="1"/>
          <p:nvPr/>
        </p:nvSpPr>
        <p:spPr>
          <a:xfrm>
            <a:off x="2029968" y="359359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3" name="Shape 20"/>
          <p:cNvSpPr/>
          <p:nvPr/>
        </p:nvSpPr>
        <p:spPr>
          <a:xfrm>
            <a:off x="2682850" y="3593592"/>
            <a:ext cx="310896" cy="310896"/>
          </a:xfrm>
          <a:prstGeom prst="ellipse">
            <a:avLst/>
          </a:prstGeom>
          <a:solidFill>
            <a:srgbClr val="C8553D"/>
          </a:solidFill>
          <a:ln w="12700">
            <a:solidFill>
              <a:srgbClr val="C8553D"/>
            </a:solidFill>
            <a:prstDash val="solid"/>
          </a:ln>
        </p:spPr>
      </p:sp>
      <p:sp>
        <p:nvSpPr>
          <p:cNvPr id="24" name="Text 21"/>
          <p:cNvSpPr txBox="1"/>
          <p:nvPr/>
        </p:nvSpPr>
        <p:spPr>
          <a:xfrm>
            <a:off x="2682850" y="3593592"/>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t>
            </a:r>
            <a:endParaRPr lang="en-US" sz="1000" dirty="0"/>
          </a:p>
        </p:txBody>
      </p:sp>
      <p:sp>
        <p:nvSpPr>
          <p:cNvPr id="25" name="Shape 22"/>
          <p:cNvSpPr/>
          <p:nvPr/>
        </p:nvSpPr>
        <p:spPr>
          <a:xfrm>
            <a:off x="3758184" y="3593592"/>
            <a:ext cx="310896" cy="310896"/>
          </a:xfrm>
          <a:prstGeom prst="ellipse">
            <a:avLst/>
          </a:prstGeom>
          <a:solidFill>
            <a:srgbClr val="5C8A4A"/>
          </a:solidFill>
          <a:ln w="12700">
            <a:solidFill>
              <a:srgbClr val="5C8A4A"/>
            </a:solidFill>
            <a:prstDash val="solid"/>
          </a:ln>
        </p:spPr>
      </p:sp>
      <p:sp>
        <p:nvSpPr>
          <p:cNvPr id="26" name="Text 23"/>
          <p:cNvSpPr txBox="1"/>
          <p:nvPr/>
        </p:nvSpPr>
        <p:spPr>
          <a:xfrm>
            <a:off x="457200" y="4069080"/>
            <a:ext cx="3840480" cy="274320"/>
          </a:xfrm>
          <a:prstGeom prst="rect">
            <a:avLst/>
          </a:prstGeom>
          <a:noFill/>
          <a:ln/>
        </p:spPr>
        <p:txBody>
          <a:bodyPr wrap="square" lIns="0" tIns="0" rIns="0" bIns="0" rtlCol="0" anchor="ctr"/>
          <a:lstStyle/>
          <a:p>
            <a:pPr algn="ctr" indent="0" marL="0">
              <a:buNone/>
            </a:pPr>
            <a:r>
              <a:rPr lang="en-US" sz="1000" dirty="0">
                <a:solidFill>
                  <a:srgbClr val="6B7A90"/>
                </a:solidFill>
                <a:latin typeface="Calibri" pitchFamily="34" charset="0"/>
                <a:ea typeface="Calibri" pitchFamily="34" charset="-122"/>
                <a:cs typeface="Calibri" pitchFamily="34" charset="-120"/>
              </a:rPr>
              <a:t>B has a refinement whose refinements all stay valid: B is valid. The grey node has none: invalid now.</a:t>
            </a:r>
            <a:endParaRPr lang="en-US" sz="1000" dirty="0"/>
          </a:p>
        </p:txBody>
      </p:sp>
      <p:sp>
        <p:nvSpPr>
          <p:cNvPr id="27" name="Shape 24"/>
          <p:cNvSpPr/>
          <p:nvPr/>
        </p:nvSpPr>
        <p:spPr>
          <a:xfrm>
            <a:off x="4663440" y="1280160"/>
            <a:ext cx="4023360" cy="1371600"/>
          </a:xfrm>
          <a:prstGeom prst="roundRect">
            <a:avLst>
              <a:gd name="adj" fmla="val 5333"/>
            </a:avLst>
          </a:prstGeom>
          <a:solidFill>
            <a:srgbClr val="E9F3E4"/>
          </a:solidFill>
          <a:ln w="12700">
            <a:solidFill>
              <a:srgbClr val="E9F3E4"/>
            </a:solidFill>
            <a:prstDash val="solid"/>
          </a:ln>
        </p:spPr>
      </p:sp>
      <p:sp>
        <p:nvSpPr>
          <p:cNvPr id="28" name="Text 25"/>
          <p:cNvSpPr txBox="1"/>
          <p:nvPr/>
        </p:nvSpPr>
        <p:spPr>
          <a:xfrm>
            <a:off x="4846320" y="1417320"/>
            <a:ext cx="36576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 then ∀</a:t>
            </a:r>
            <a:endParaRPr lang="en-US" sz="1500" dirty="0"/>
          </a:p>
        </p:txBody>
      </p:sp>
      <p:sp>
        <p:nvSpPr>
          <p:cNvPr id="29" name="Text 26"/>
          <p:cNvSpPr txBox="1"/>
          <p:nvPr/>
        </p:nvSpPr>
        <p:spPr>
          <a:xfrm>
            <a:off x="4846320" y="1810512"/>
            <a:ext cx="3657600" cy="7315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Valid = there is a refinement all of whose further refinements are valid. One existential, then one universal.</a:t>
            </a:r>
            <a:endParaRPr lang="en-US" sz="1250" dirty="0"/>
          </a:p>
        </p:txBody>
      </p:sp>
      <p:sp>
        <p:nvSpPr>
          <p:cNvPr id="30" name="Shape 27"/>
          <p:cNvSpPr/>
          <p:nvPr/>
        </p:nvSpPr>
        <p:spPr>
          <a:xfrm>
            <a:off x="4663440" y="2834640"/>
            <a:ext cx="4023360" cy="1600200"/>
          </a:xfrm>
          <a:prstGeom prst="roundRect">
            <a:avLst>
              <a:gd name="adj" fmla="val 4571"/>
            </a:avLst>
          </a:prstGeom>
          <a:solidFill>
            <a:srgbClr val="E9F3E4"/>
          </a:solidFill>
          <a:ln w="12700">
            <a:solidFill>
              <a:srgbClr val="E9F3E4"/>
            </a:solidFill>
            <a:prstDash val="solid"/>
          </a:ln>
        </p:spPr>
      </p:sp>
      <p:sp>
        <p:nvSpPr>
          <p:cNvPr id="31" name="Text 28"/>
          <p:cNvSpPr txBox="1"/>
          <p:nvPr/>
        </p:nvSpPr>
        <p:spPr>
          <a:xfrm>
            <a:off x="4846320" y="2971800"/>
            <a:ext cx="36576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Invalid now, not destroyed later</a:t>
            </a:r>
            <a:endParaRPr lang="en-US" sz="1500" dirty="0"/>
          </a:p>
        </p:txBody>
      </p:sp>
      <p:sp>
        <p:nvSpPr>
          <p:cNvPr id="32" name="Text 29"/>
          <p:cNvSpPr txBox="1"/>
          <p:nvPr/>
        </p:nvSpPr>
        <p:spPr>
          <a:xfrm>
            <a:off x="4846320" y="3364992"/>
            <a:ext cx="3657600" cy="96012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A superposition that any future record could contradict is invalid the moment the record exists, relative to every Aethus that can read it — checkmated, not captured. A verdict, not a process.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Add one quantitative rule, and quantum mechanics comes back</a:t>
            </a:r>
            <a:endParaRPr lang="en-US" sz="2800" dirty="0"/>
          </a:p>
        </p:txBody>
      </p:sp>
      <p:sp>
        <p:nvSpPr>
          <p:cNvPr id="5" name="Text 2"/>
          <p:cNvSpPr txBox="1"/>
          <p:nvPr/>
        </p:nvSpPr>
        <p:spPr>
          <a:xfrm>
            <a:off x="457200" y="1371600"/>
            <a:ext cx="2651760" cy="822960"/>
          </a:xfrm>
          <a:prstGeom prst="rect">
            <a:avLst/>
          </a:prstGeom>
          <a:noFill/>
          <a:ln/>
        </p:spPr>
        <p:txBody>
          <a:bodyPr wrap="square" lIns="0" tIns="0" rIns="0" bIns="0" rtlCol="0" anchor="ctr"/>
          <a:lstStyle/>
          <a:p>
            <a:pPr algn="ctr" indent="0" marL="0">
              <a:buNone/>
            </a:pPr>
            <a:r>
              <a:rPr lang="en-US" sz="4800" b="1" dirty="0">
                <a:solidFill>
                  <a:srgbClr val="0F1B2D"/>
                </a:solidFill>
                <a:latin typeface="Cambria" pitchFamily="34" charset="0"/>
                <a:ea typeface="Cambria" pitchFamily="34" charset="-122"/>
                <a:cs typeface="Cambria" pitchFamily="34" charset="-120"/>
              </a:rPr>
              <a:t>6 of 7</a:t>
            </a:r>
            <a:endParaRPr lang="en-US" sz="4800" dirty="0"/>
          </a:p>
        </p:txBody>
      </p:sp>
      <p:sp>
        <p:nvSpPr>
          <p:cNvPr id="6" name="Text 3"/>
          <p:cNvSpPr txBox="1"/>
          <p:nvPr/>
        </p:nvSpPr>
        <p:spPr>
          <a:xfrm>
            <a:off x="457200" y="219456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Dirac–von Neumann axioms recovered as theorems</a:t>
            </a:r>
            <a:endParaRPr lang="en-US" sz="1200" dirty="0"/>
          </a:p>
        </p:txBody>
      </p:sp>
      <p:sp>
        <p:nvSpPr>
          <p:cNvPr id="7" name="Text 4"/>
          <p:cNvSpPr txBox="1"/>
          <p:nvPr/>
        </p:nvSpPr>
        <p:spPr>
          <a:xfrm>
            <a:off x="3246120" y="1371600"/>
            <a:ext cx="2651760" cy="822960"/>
          </a:xfrm>
          <a:prstGeom prst="rect">
            <a:avLst/>
          </a:prstGeom>
          <a:noFill/>
          <a:ln/>
        </p:spPr>
        <p:txBody>
          <a:bodyPr wrap="square" lIns="0" tIns="0" rIns="0" bIns="0" rtlCol="0" anchor="ctr"/>
          <a:lstStyle/>
          <a:p>
            <a:pPr algn="ctr" indent="0" marL="0">
              <a:buNone/>
            </a:pPr>
            <a:r>
              <a:rPr lang="en-US" sz="4800" b="1" dirty="0">
                <a:solidFill>
                  <a:srgbClr val="2A9D8F"/>
                </a:solidFill>
                <a:latin typeface="Cambria" pitchFamily="34" charset="0"/>
                <a:ea typeface="Cambria" pitchFamily="34" charset="-122"/>
                <a:cs typeface="Cambria" pitchFamily="34" charset="-120"/>
              </a:rPr>
              <a:t>1</a:t>
            </a:r>
            <a:endParaRPr lang="en-US" sz="4800" dirty="0"/>
          </a:p>
        </p:txBody>
      </p:sp>
      <p:sp>
        <p:nvSpPr>
          <p:cNvPr id="8" name="Text 5"/>
          <p:cNvSpPr txBox="1"/>
          <p:nvPr/>
        </p:nvSpPr>
        <p:spPr>
          <a:xfrm>
            <a:off x="3246120" y="219456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axiom absorbed: the Born rule, into the one weight law</a:t>
            </a:r>
            <a:endParaRPr lang="en-US" sz="1200" dirty="0"/>
          </a:p>
        </p:txBody>
      </p:sp>
      <p:sp>
        <p:nvSpPr>
          <p:cNvPr id="9" name="Text 6"/>
          <p:cNvSpPr txBox="1"/>
          <p:nvPr/>
        </p:nvSpPr>
        <p:spPr>
          <a:xfrm>
            <a:off x="6035040" y="1371600"/>
            <a:ext cx="2651760" cy="822960"/>
          </a:xfrm>
          <a:prstGeom prst="rect">
            <a:avLst/>
          </a:prstGeom>
          <a:noFill/>
          <a:ln/>
        </p:spPr>
        <p:txBody>
          <a:bodyPr wrap="square" lIns="0" tIns="0" rIns="0" bIns="0" rtlCol="0" anchor="ctr"/>
          <a:lstStyle/>
          <a:p>
            <a:pPr algn="ctr" indent="0" marL="0">
              <a:buNone/>
            </a:pPr>
            <a:r>
              <a:rPr lang="en-US" sz="4800" b="1" dirty="0">
                <a:solidFill>
                  <a:srgbClr val="C8553D"/>
                </a:solidFill>
                <a:latin typeface="Cambria" pitchFamily="34" charset="0"/>
                <a:ea typeface="Cambria" pitchFamily="34" charset="-122"/>
                <a:cs typeface="Cambria" pitchFamily="34" charset="-120"/>
              </a:rPr>
              <a:t>0</a:t>
            </a:r>
            <a:endParaRPr lang="en-US" sz="4800" dirty="0"/>
          </a:p>
        </p:txBody>
      </p:sp>
      <p:sp>
        <p:nvSpPr>
          <p:cNvPr id="10" name="Text 7"/>
          <p:cNvSpPr txBox="1"/>
          <p:nvPr/>
        </p:nvSpPr>
        <p:spPr>
          <a:xfrm>
            <a:off x="6035040" y="2194560"/>
            <a:ext cx="2651760" cy="457200"/>
          </a:xfrm>
          <a:prstGeom prst="rect">
            <a:avLst/>
          </a:prstGeom>
          <a:noFill/>
          <a:ln/>
        </p:spPr>
        <p:txBody>
          <a:bodyPr wrap="square" lIns="0" tIns="0" rIns="0" bIns="0" rtlCol="0" anchor="ctr"/>
          <a:lstStyle/>
          <a:p>
            <a:pPr algn="ctr" indent="0" marL="0">
              <a:buNone/>
            </a:pPr>
            <a:r>
              <a:rPr lang="en-US" sz="1200" dirty="0">
                <a:solidFill>
                  <a:srgbClr val="6B7A90"/>
                </a:solidFill>
                <a:latin typeface="Calibri" pitchFamily="34" charset="0"/>
                <a:ea typeface="Calibri" pitchFamily="34" charset="-122"/>
                <a:cs typeface="Calibri" pitchFamily="34" charset="-120"/>
              </a:rPr>
              <a:t>measurement, projection, or observables axioms remaining</a:t>
            </a:r>
            <a:endParaRPr lang="en-US" sz="1200" dirty="0"/>
          </a:p>
        </p:txBody>
      </p:sp>
      <p:sp>
        <p:nvSpPr>
          <p:cNvPr id="11" name="Shape 8"/>
          <p:cNvSpPr/>
          <p:nvPr/>
        </p:nvSpPr>
        <p:spPr>
          <a:xfrm>
            <a:off x="457200" y="3063240"/>
            <a:ext cx="8229600" cy="1417320"/>
          </a:xfrm>
          <a:prstGeom prst="roundRect">
            <a:avLst>
              <a:gd name="adj" fmla="val 5161"/>
            </a:avLst>
          </a:prstGeom>
          <a:solidFill>
            <a:srgbClr val="FCF3E0"/>
          </a:solidFill>
          <a:ln w="12700">
            <a:solidFill>
              <a:srgbClr val="FCF3E0"/>
            </a:solidFill>
            <a:prstDash val="solid"/>
          </a:ln>
        </p:spPr>
      </p:sp>
      <p:sp>
        <p:nvSpPr>
          <p:cNvPr id="12" name="Text 9"/>
          <p:cNvSpPr txBox="1"/>
          <p:nvPr/>
        </p:nvSpPr>
        <p:spPr>
          <a:xfrm>
            <a:off x="640080" y="3200400"/>
            <a:ext cx="786384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one quantitative input</a:t>
            </a:r>
            <a:endParaRPr lang="en-US" sz="1500" dirty="0"/>
          </a:p>
        </p:txBody>
      </p:sp>
      <p:sp>
        <p:nvSpPr>
          <p:cNvPr id="13" name="Text 10"/>
          <p:cNvSpPr txBox="1"/>
          <p:nvPr/>
        </p:nvSpPr>
        <p:spPr>
          <a:xfrm>
            <a:off x="640080" y="3593592"/>
            <a:ext cx="7863840" cy="7772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Feynman's phase e^(iS/ħ) over paths, composed in pairs — the Dual Path Principle: a probability is what a pair of paths looks like once both are integrated. Everything else is the three postulates.</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Three famous puzzles, one classification</a:t>
            </a:r>
            <a:endParaRPr lang="en-US" sz="2800" dirty="0"/>
          </a:p>
        </p:txBody>
      </p:sp>
      <p:sp>
        <p:nvSpPr>
          <p:cNvPr id="5" name="Shape 2"/>
          <p:cNvSpPr/>
          <p:nvPr/>
        </p:nvSpPr>
        <p:spPr>
          <a:xfrm>
            <a:off x="457200" y="1280160"/>
            <a:ext cx="2651760" cy="3200400"/>
          </a:xfrm>
          <a:prstGeom prst="roundRect">
            <a:avLst>
              <a:gd name="adj" fmla="val 2759"/>
            </a:avLst>
          </a:prstGeom>
          <a:solidFill>
            <a:srgbClr val="F4F7FB"/>
          </a:solidFill>
          <a:ln w="12700">
            <a:solidFill>
              <a:srgbClr val="F4F7FB"/>
            </a:solidFill>
            <a:prstDash val="solid"/>
          </a:ln>
        </p:spPr>
      </p:sp>
      <p:sp>
        <p:nvSpPr>
          <p:cNvPr id="6" name="Text 3"/>
          <p:cNvSpPr txBox="1"/>
          <p:nvPr/>
        </p:nvSpPr>
        <p:spPr>
          <a:xfrm>
            <a:off x="64008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Schrödinger's cat</a:t>
            </a:r>
            <a:endParaRPr lang="en-US" sz="1500" dirty="0"/>
          </a:p>
        </p:txBody>
      </p:sp>
      <p:sp>
        <p:nvSpPr>
          <p:cNvPr id="7" name="Text 4"/>
          <p:cNvSpPr txBox="1"/>
          <p:nvPr/>
        </p:nvSpPr>
        <p:spPr>
          <a:xfrm>
            <a:off x="640080" y="1810512"/>
            <a:ext cx="2286000" cy="256032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A filing problem, not a paradox. Counter, vial, chemistry are records: the wall between alive and dead was written before the box opened. The cat was never in the electron's regime — because of its records, not its size.</a:t>
            </a:r>
            <a:endParaRPr lang="en-US" sz="1200" dirty="0"/>
          </a:p>
        </p:txBody>
      </p:sp>
      <p:sp>
        <p:nvSpPr>
          <p:cNvPr id="8" name="Shape 5"/>
          <p:cNvSpPr/>
          <p:nvPr/>
        </p:nvSpPr>
        <p:spPr>
          <a:xfrm>
            <a:off x="3246120" y="1280160"/>
            <a:ext cx="2651760" cy="3200400"/>
          </a:xfrm>
          <a:prstGeom prst="roundRect">
            <a:avLst>
              <a:gd name="adj" fmla="val 2759"/>
            </a:avLst>
          </a:prstGeom>
          <a:solidFill>
            <a:srgbClr val="E8F0FA"/>
          </a:solidFill>
          <a:ln w="12700">
            <a:solidFill>
              <a:srgbClr val="E8F0FA"/>
            </a:solidFill>
            <a:prstDash val="solid"/>
          </a:ln>
        </p:spPr>
      </p:sp>
      <p:sp>
        <p:nvSpPr>
          <p:cNvPr id="9" name="Text 6"/>
          <p:cNvSpPr txBox="1"/>
          <p:nvPr/>
        </p:nvSpPr>
        <p:spPr>
          <a:xfrm>
            <a:off x="342900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Delayed choice</a:t>
            </a:r>
            <a:endParaRPr lang="en-US" sz="1500" dirty="0"/>
          </a:p>
        </p:txBody>
      </p:sp>
      <p:sp>
        <p:nvSpPr>
          <p:cNvPr id="10" name="Text 7"/>
          <p:cNvSpPr txBox="1"/>
          <p:nvPr/>
        </p:nvSpPr>
        <p:spPr>
          <a:xfrm>
            <a:off x="3429000" y="1810512"/>
            <a:ext cx="2286000" cy="256032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Place the detector after the photon passes the slits; the pattern obeys it anyway. No retrocausation: the record is in the block, and the block is indexed whole.</a:t>
            </a:r>
            <a:endParaRPr lang="en-US" sz="1200" dirty="0"/>
          </a:p>
        </p:txBody>
      </p:sp>
      <p:sp>
        <p:nvSpPr>
          <p:cNvPr id="11" name="Shape 8"/>
          <p:cNvSpPr/>
          <p:nvPr/>
        </p:nvSpPr>
        <p:spPr>
          <a:xfrm>
            <a:off x="6035040" y="1280160"/>
            <a:ext cx="2651760" cy="3200400"/>
          </a:xfrm>
          <a:prstGeom prst="roundRect">
            <a:avLst>
              <a:gd name="adj" fmla="val 2759"/>
            </a:avLst>
          </a:prstGeom>
          <a:solidFill>
            <a:srgbClr val="F4F7FB"/>
          </a:solidFill>
          <a:ln w="12700">
            <a:solidFill>
              <a:srgbClr val="F4F7FB"/>
            </a:solidFill>
            <a:prstDash val="solid"/>
          </a:ln>
        </p:spPr>
      </p:sp>
      <p:sp>
        <p:nvSpPr>
          <p:cNvPr id="12" name="Text 9"/>
          <p:cNvSpPr txBox="1"/>
          <p:nvPr/>
        </p:nvSpPr>
        <p:spPr>
          <a:xfrm>
            <a:off x="6217920" y="1417320"/>
            <a:ext cx="228600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bomb tester</a:t>
            </a:r>
            <a:endParaRPr lang="en-US" sz="1500" dirty="0"/>
          </a:p>
        </p:txBody>
      </p:sp>
      <p:sp>
        <p:nvSpPr>
          <p:cNvPr id="13" name="Text 10"/>
          <p:cNvSpPr txBox="1"/>
          <p:nvPr/>
        </p:nvSpPr>
        <p:spPr>
          <a:xfrm>
            <a:off x="6217920" y="1810512"/>
            <a:ext cx="2286000" cy="2560320"/>
          </a:xfrm>
          <a:prstGeom prst="rect">
            <a:avLst/>
          </a:prstGeom>
          <a:noFill/>
          <a:ln/>
        </p:spPr>
        <p:txBody>
          <a:bodyPr wrap="square" lIns="0" tIns="0" rIns="0" bIns="0" rtlCol="0" anchor="t"/>
          <a:lstStyle/>
          <a:p>
            <a:pPr indent="0" marL="0">
              <a:lnSpc>
                <a:spcPct val="112000"/>
              </a:lnSpc>
              <a:buNone/>
            </a:pPr>
            <a:r>
              <a:rPr lang="en-US" sz="1200" dirty="0">
                <a:solidFill>
                  <a:srgbClr val="1A2B45"/>
                </a:solidFill>
                <a:latin typeface="Calibri" pitchFamily="34" charset="0"/>
                <a:ea typeface="Calibri" pitchFamily="34" charset="-122"/>
                <a:cs typeface="Calibri" pitchFamily="34" charset="-120"/>
              </a:rPr>
              <a:t>Certify a live bomb the photon never touched. A bomb that didn't go off is a record of which arm was taken. An absence is a record whenever a presence would have been one.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The price, stated once</a:t>
            </a:r>
            <a:endParaRPr lang="en-US" sz="2800" dirty="0"/>
          </a:p>
        </p:txBody>
      </p:sp>
      <p:sp>
        <p:nvSpPr>
          <p:cNvPr id="5" name="Text 2"/>
          <p:cNvSpPr txBox="1"/>
          <p:nvPr/>
        </p:nvSpPr>
        <p:spPr>
          <a:xfrm>
            <a:off x="457200" y="1325880"/>
            <a:ext cx="3931920" cy="22860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1A2B45"/>
                </a:solidFill>
                <a:latin typeface="Calibri" pitchFamily="34" charset="0"/>
                <a:ea typeface="Calibri" pitchFamily="34" charset="-122"/>
                <a:cs typeface="Calibri" pitchFamily="34" charset="-120"/>
              </a:rPr>
              <a:t>the index — determinacy is relative to an Aethus</a:t>
            </a:r>
            <a:endParaRPr lang="en-US" sz="1500" dirty="0"/>
          </a:p>
          <a:p>
            <a:pPr marL="342900" indent="-342900">
              <a:spcAft>
                <a:spcPts val="1200"/>
              </a:spcAft>
              <a:buSzPct val="100000"/>
              <a:buChar char="•"/>
            </a:pPr>
            <a:r>
              <a:rPr lang="en-US" sz="1500" dirty="0">
                <a:solidFill>
                  <a:srgbClr val="1A2B45"/>
                </a:solidFill>
                <a:latin typeface="Calibri" pitchFamily="34" charset="0"/>
                <a:ea typeface="Calibri" pitchFamily="34" charset="-122"/>
                <a:cs typeface="Calibri" pitchFamily="34" charset="-120"/>
              </a:rPr>
              <a:t>the constructive blank — open, not unknown</a:t>
            </a:r>
            <a:endParaRPr lang="en-US" sz="1500" dirty="0"/>
          </a:p>
          <a:p>
            <a:pPr marL="342900" indent="-342900">
              <a:spcAft>
                <a:spcPts val="1200"/>
              </a:spcAft>
              <a:buSzPct val="100000"/>
              <a:buChar char="•"/>
            </a:pPr>
            <a:r>
              <a:rPr lang="en-US" sz="1500" dirty="0">
                <a:solidFill>
                  <a:srgbClr val="1A2B45"/>
                </a:solidFill>
                <a:latin typeface="Calibri" pitchFamily="34" charset="0"/>
                <a:ea typeface="Calibri" pitchFamily="34" charset="-122"/>
                <a:cs typeface="Calibri" pitchFamily="34" charset="-120"/>
              </a:rPr>
              <a:t>the primitive jointness of “or”</a:t>
            </a:r>
            <a:endParaRPr lang="en-US" sz="1500" dirty="0"/>
          </a:p>
          <a:p>
            <a:pPr marL="342900" indent="-342900">
              <a:spcAft>
                <a:spcPts val="1200"/>
              </a:spcAft>
              <a:buSzPct val="100000"/>
              <a:buChar char="•"/>
            </a:pPr>
            <a:r>
              <a:rPr lang="en-US" sz="1500" dirty="0">
                <a:solidFill>
                  <a:srgbClr val="1A2B45"/>
                </a:solidFill>
                <a:latin typeface="Calibri" pitchFamily="34" charset="0"/>
                <a:ea typeface="Calibri" pitchFamily="34" charset="-122"/>
                <a:cs typeface="Calibri" pitchFamily="34" charset="-120"/>
              </a:rPr>
              <a:t>the third postulate's ∃∀ form, within a stated class</a:t>
            </a:r>
            <a:endParaRPr lang="en-US" sz="1500" dirty="0"/>
          </a:p>
        </p:txBody>
      </p:sp>
      <p:sp>
        <p:nvSpPr>
          <p:cNvPr id="6" name="Text 3"/>
          <p:cNvSpPr txBox="1"/>
          <p:nvPr/>
        </p:nvSpPr>
        <p:spPr>
          <a:xfrm>
            <a:off x="4663440" y="1325880"/>
            <a:ext cx="4023360" cy="228600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1A2B45"/>
                </a:solidFill>
                <a:latin typeface="Calibri" pitchFamily="34" charset="0"/>
                <a:ea typeface="Calibri" pitchFamily="34" charset="-122"/>
                <a:cs typeface="Calibri" pitchFamily="34" charset="-120"/>
              </a:rPr>
              <a:t>one composition primitive</a:t>
            </a:r>
            <a:endParaRPr lang="en-US" sz="1500" dirty="0"/>
          </a:p>
          <a:p>
            <a:pPr marL="342900" indent="-342900">
              <a:spcAft>
                <a:spcPts val="1200"/>
              </a:spcAft>
              <a:buSzPct val="100000"/>
              <a:buChar char="•"/>
            </a:pPr>
            <a:r>
              <a:rPr lang="en-US" sz="1500" dirty="0">
                <a:solidFill>
                  <a:srgbClr val="1A2B45"/>
                </a:solidFill>
                <a:latin typeface="Calibri" pitchFamily="34" charset="0"/>
                <a:ea typeface="Calibri" pitchFamily="34" charset="-122"/>
                <a:cs typeface="Calibri" pitchFamily="34" charset="-120"/>
              </a:rPr>
              <a:t>one algebraic choice: a semiring, no negative weights</a:t>
            </a:r>
            <a:endParaRPr lang="en-US" sz="1500" dirty="0"/>
          </a:p>
          <a:p>
            <a:pPr marL="342900" indent="-342900">
              <a:spcAft>
                <a:spcPts val="1200"/>
              </a:spcAft>
              <a:buSzPct val="100000"/>
              <a:buChar char="•"/>
            </a:pPr>
            <a:r>
              <a:rPr lang="en-US" sz="1500" dirty="0">
                <a:solidFill>
                  <a:srgbClr val="1A2B45"/>
                </a:solidFill>
                <a:latin typeface="Calibri" pitchFamily="34" charset="0"/>
                <a:ea typeface="Calibri" pitchFamily="34" charset="-122"/>
                <a:cs typeface="Calibri" pitchFamily="34" charset="-120"/>
              </a:rPr>
              <a:t>the kernel — Feynman's phase, in pairs</a:t>
            </a:r>
            <a:endParaRPr lang="en-US" sz="1500" dirty="0"/>
          </a:p>
          <a:p>
            <a:pPr marL="342900" indent="-342900">
              <a:spcAft>
                <a:spcPts val="1200"/>
              </a:spcAft>
              <a:buSzPct val="100000"/>
              <a:buChar char="•"/>
            </a:pPr>
            <a:r>
              <a:rPr lang="en-US" sz="1500" dirty="0">
                <a:solidFill>
                  <a:srgbClr val="1A2B45"/>
                </a:solidFill>
                <a:latin typeface="Calibri" pitchFamily="34" charset="0"/>
                <a:ea typeface="Calibri" pitchFamily="34" charset="-122"/>
                <a:cs typeface="Calibri" pitchFamily="34" charset="-120"/>
              </a:rPr>
              <a:t>the realization bridge — invalid means unrealized</a:t>
            </a:r>
            <a:endParaRPr lang="en-US" sz="1500" dirty="0"/>
          </a:p>
        </p:txBody>
      </p:sp>
      <p:sp>
        <p:nvSpPr>
          <p:cNvPr id="7" name="Shape 4"/>
          <p:cNvSpPr/>
          <p:nvPr/>
        </p:nvSpPr>
        <p:spPr>
          <a:xfrm>
            <a:off x="457200" y="3703320"/>
            <a:ext cx="8229600" cy="777240"/>
          </a:xfrm>
          <a:prstGeom prst="roundRect">
            <a:avLst>
              <a:gd name="adj" fmla="val 9412"/>
            </a:avLst>
          </a:prstGeom>
          <a:solidFill>
            <a:srgbClr val="FCF3E0"/>
          </a:solidFill>
          <a:ln w="12700">
            <a:solidFill>
              <a:srgbClr val="FCF3E0"/>
            </a:solidFill>
            <a:prstDash val="solid"/>
          </a:ln>
        </p:spPr>
      </p:sp>
      <p:sp>
        <p:nvSpPr>
          <p:cNvPr id="8" name="Text 5"/>
          <p:cNvSpPr txBox="1"/>
          <p:nvPr/>
        </p:nvSpPr>
        <p:spPr>
          <a:xfrm>
            <a:off x="640080" y="3840480"/>
            <a:ext cx="7863840" cy="502920"/>
          </a:xfrm>
          <a:prstGeom prst="rect">
            <a:avLst/>
          </a:prstGeom>
          <a:noFill/>
          <a:ln/>
        </p:spPr>
        <p:txBody>
          <a:bodyPr wrap="square" lIns="0" tIns="0" rIns="0" bIns="0" rtlCol="0" anchor="t"/>
          <a:lstStyle/>
          <a:p>
            <a:pPr indent="0" marL="0">
              <a:lnSpc>
                <a:spcPct val="112000"/>
              </a:lnSpc>
              <a:buNone/>
            </a:pPr>
            <a:r>
              <a:rPr lang="en-US" sz="1300" dirty="0">
                <a:solidFill>
                  <a:srgbClr val="1A2B45"/>
                </a:solidFill>
                <a:latin typeface="Calibri" pitchFamily="34" charset="0"/>
                <a:ea typeface="Calibri" pitchFamily="34" charset="-122"/>
                <a:cs typeface="Calibri" pitchFamily="34" charset="-120"/>
              </a:rPr>
              <a:t>Everything else — collapse, the Born rule, the quantum–classical boundary, no-signalling — is derived. To attack the framework, aim at one of these eight.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493776"/>
            <a:ext cx="128016" cy="128016"/>
          </a:xfrm>
          <a:prstGeom prst="rect">
            <a:avLst/>
          </a:prstGeom>
          <a:solidFill>
            <a:srgbClr val="E9A23B"/>
          </a:solidFill>
          <a:ln w="12700">
            <a:solidFill>
              <a:srgbClr val="E9A23B"/>
            </a:solidFill>
            <a:prstDash val="solid"/>
          </a:ln>
        </p:spPr>
      </p:sp>
      <p:sp>
        <p:nvSpPr>
          <p:cNvPr id="3" name="Text 1"/>
          <p:cNvSpPr txBox="1"/>
          <p:nvPr/>
        </p:nvSpPr>
        <p:spPr>
          <a:xfrm>
            <a:off x="685800" y="320040"/>
            <a:ext cx="8001000" cy="685800"/>
          </a:xfrm>
          <a:prstGeom prst="rect">
            <a:avLst/>
          </a:prstGeom>
          <a:noFill/>
          <a:ln/>
        </p:spPr>
        <p:txBody>
          <a:bodyPr wrap="square" lIns="0" tIns="0" rIns="0" bIns="0" rtlCol="0" anchor="ctr"/>
          <a:lstStyle/>
          <a:p>
            <a:pPr indent="0" marL="0">
              <a:buNone/>
            </a:pPr>
            <a:r>
              <a:rPr lang="en-US" sz="2800" b="1" dirty="0">
                <a:solidFill>
                  <a:srgbClr val="0F1B2D"/>
                </a:solidFill>
                <a:latin typeface="Cambria" pitchFamily="34" charset="0"/>
                <a:ea typeface="Cambria" pitchFamily="34" charset="-122"/>
                <a:cs typeface="Cambria" pitchFamily="34" charset="-120"/>
              </a:rPr>
              <a:t>It makes a prediction you can lose on</a:t>
            </a:r>
            <a:endParaRPr lang="en-US" sz="2800" dirty="0"/>
          </a:p>
        </p:txBody>
      </p:sp>
      <p:sp>
        <p:nvSpPr>
          <p:cNvPr id="5" name="Shape 2"/>
          <p:cNvSpPr/>
          <p:nvPr/>
        </p:nvSpPr>
        <p:spPr>
          <a:xfrm>
            <a:off x="457200" y="1280160"/>
            <a:ext cx="3931920" cy="2103120"/>
          </a:xfrm>
          <a:prstGeom prst="roundRect">
            <a:avLst>
              <a:gd name="adj" fmla="val 3478"/>
            </a:avLst>
          </a:prstGeom>
          <a:solidFill>
            <a:srgbClr val="E9F3E4"/>
          </a:solidFill>
          <a:ln w="12700">
            <a:solidFill>
              <a:srgbClr val="E9F3E4"/>
            </a:solidFill>
            <a:prstDash val="solid"/>
          </a:ln>
        </p:spPr>
      </p:sp>
      <p:sp>
        <p:nvSpPr>
          <p:cNvPr id="6" name="Text 3"/>
          <p:cNvSpPr txBox="1"/>
          <p:nvPr/>
        </p:nvSpPr>
        <p:spPr>
          <a:xfrm>
            <a:off x="64008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Disagreeing Metric Principle</a:t>
            </a:r>
            <a:endParaRPr lang="en-US" sz="1500" dirty="0"/>
          </a:p>
        </p:txBody>
      </p:sp>
      <p:sp>
        <p:nvSpPr>
          <p:cNvPr id="7" name="Text 4"/>
          <p:cNvSpPr txBox="1"/>
          <p:nvPr/>
        </p:nvSpPr>
        <p:spPr>
          <a:xfrm>
            <a:off x="640080" y="1810512"/>
            <a:ext cx="3566160" cy="14630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Apply the third postulate to geometry: each valid agreeing cluster carries one spacetime, the clusters enumerate in disagreeing superposition, and no geometry is ever averaged across them.</a:t>
            </a:r>
            <a:endParaRPr lang="en-US" sz="1250" dirty="0"/>
          </a:p>
        </p:txBody>
      </p:sp>
      <p:sp>
        <p:nvSpPr>
          <p:cNvPr id="8" name="Shape 5"/>
          <p:cNvSpPr/>
          <p:nvPr/>
        </p:nvSpPr>
        <p:spPr>
          <a:xfrm>
            <a:off x="4754880" y="1280160"/>
            <a:ext cx="3931920" cy="2103120"/>
          </a:xfrm>
          <a:prstGeom prst="roundRect">
            <a:avLst>
              <a:gd name="adj" fmla="val 3478"/>
            </a:avLst>
          </a:prstGeom>
          <a:solidFill>
            <a:srgbClr val="FBE9E7"/>
          </a:solidFill>
          <a:ln w="12700">
            <a:solidFill>
              <a:srgbClr val="FBE9E7"/>
            </a:solidFill>
            <a:prstDash val="solid"/>
          </a:ln>
        </p:spPr>
      </p:sp>
      <p:sp>
        <p:nvSpPr>
          <p:cNvPr id="9" name="Text 6"/>
          <p:cNvSpPr txBox="1"/>
          <p:nvPr/>
        </p:nvSpPr>
        <p:spPr>
          <a:xfrm>
            <a:off x="4937760" y="1417320"/>
            <a:ext cx="3566160" cy="36576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The prediction</a:t>
            </a:r>
            <a:endParaRPr lang="en-US" sz="1500" dirty="0"/>
          </a:p>
        </p:txBody>
      </p:sp>
      <p:sp>
        <p:nvSpPr>
          <p:cNvPr id="10" name="Text 7"/>
          <p:cNvSpPr txBox="1"/>
          <p:nvPr/>
        </p:nvSpPr>
        <p:spPr>
          <a:xfrm>
            <a:off x="4937760" y="1810512"/>
            <a:ext cx="3566160" cy="1463040"/>
          </a:xfrm>
          <a:prstGeom prst="rect">
            <a:avLst/>
          </a:prstGeom>
          <a:noFill/>
          <a:ln/>
        </p:spPr>
        <p:txBody>
          <a:bodyPr wrap="square" lIns="0" tIns="0" rIns="0" bIns="0" rtlCol="0" anchor="t"/>
          <a:lstStyle/>
          <a:p>
            <a:pPr indent="0" marL="0">
              <a:lnSpc>
                <a:spcPct val="112000"/>
              </a:lnSpc>
              <a:buNone/>
            </a:pPr>
            <a:r>
              <a:rPr lang="en-US" sz="1250" dirty="0">
                <a:solidFill>
                  <a:srgbClr val="1A2B45"/>
                </a:solidFill>
                <a:latin typeface="Calibri" pitchFamily="34" charset="0"/>
                <a:ea typeface="Calibri" pitchFamily="34" charset="-122"/>
                <a:cs typeface="Calibri" pitchFamily="34" charset="-120"/>
              </a:rPr>
              <a:t>Gravity does not mediate entanglement. The Bose–Marletto–Vedral experiments now under construction test precisely this. A positive result refutes the framework's account of gravity.</a:t>
            </a:r>
            <a:endParaRPr lang="en-US" sz="1250" dirty="0"/>
          </a:p>
        </p:txBody>
      </p:sp>
      <p:sp>
        <p:nvSpPr>
          <p:cNvPr id="11" name="Text 8"/>
          <p:cNvSpPr txBox="1"/>
          <p:nvPr/>
        </p:nvSpPr>
        <p:spPr>
          <a:xfrm>
            <a:off x="457200" y="3749040"/>
            <a:ext cx="8229600" cy="457200"/>
          </a:xfrm>
          <a:prstGeom prst="rect">
            <a:avLst/>
          </a:prstGeom>
          <a:noFill/>
          <a:ln/>
        </p:spPr>
        <p:txBody>
          <a:bodyPr wrap="square" lIns="0" tIns="0" rIns="0" bIns="0" rtlCol="0" anchor="ctr"/>
          <a:lstStyle/>
          <a:p>
            <a:pPr indent="0" marL="0">
              <a:buNone/>
            </a:pPr>
            <a:r>
              <a:rPr lang="en-US" sz="1800" b="1" i="1" dirty="0">
                <a:solidFill>
                  <a:srgbClr val="0F1B2D"/>
                </a:solidFill>
                <a:latin typeface="Cambria" pitchFamily="34" charset="0"/>
                <a:ea typeface="Cambria" pitchFamily="34" charset="-122"/>
                <a:cs typeface="Cambria" pitchFamily="34" charset="-120"/>
              </a:rPr>
              <a:t>I would rather be checkable than safe.</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640080" y="960120"/>
            <a:ext cx="128016" cy="128016"/>
          </a:xfrm>
          <a:prstGeom prst="rect">
            <a:avLst/>
          </a:prstGeom>
          <a:solidFill>
            <a:srgbClr val="E9A23B"/>
          </a:solidFill>
          <a:ln w="12700">
            <a:solidFill>
              <a:srgbClr val="E9A23B"/>
            </a:solidFill>
            <a:prstDash val="solid"/>
          </a:ln>
        </p:spPr>
      </p:sp>
      <p:sp>
        <p:nvSpPr>
          <p:cNvPr id="3" name="Text 1"/>
          <p:cNvSpPr txBox="1"/>
          <p:nvPr/>
        </p:nvSpPr>
        <p:spPr>
          <a:xfrm>
            <a:off x="640080" y="1188720"/>
            <a:ext cx="7863840" cy="731520"/>
          </a:xfrm>
          <a:prstGeom prst="rect">
            <a:avLst/>
          </a:prstGeom>
          <a:noFill/>
          <a:ln/>
        </p:spPr>
        <p:txBody>
          <a:bodyPr wrap="square" lIns="0" tIns="0" rIns="0" bIns="0" rtlCol="0" anchor="ctr"/>
          <a:lstStyle/>
          <a:p>
            <a:pPr indent="0" marL="0">
              <a:buNone/>
            </a:pPr>
            <a:r>
              <a:rPr lang="en-US" sz="3400" b="1" dirty="0">
                <a:solidFill>
                  <a:srgbClr val="DCE8F5"/>
                </a:solidFill>
                <a:latin typeface="Cambria" pitchFamily="34" charset="0"/>
                <a:ea typeface="Cambria" pitchFamily="34" charset="-122"/>
                <a:cs typeface="Cambria" pitchFamily="34" charset="-120"/>
              </a:rPr>
              <a:t>The particle never changed.</a:t>
            </a:r>
            <a:endParaRPr lang="en-US" sz="3400" dirty="0"/>
          </a:p>
        </p:txBody>
      </p:sp>
      <p:sp>
        <p:nvSpPr>
          <p:cNvPr id="4" name="Text 2"/>
          <p:cNvSpPr txBox="1"/>
          <p:nvPr/>
        </p:nvSpPr>
        <p:spPr>
          <a:xfrm>
            <a:off x="640080" y="192024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Aethus did.</a:t>
            </a:r>
            <a:endParaRPr lang="en-US" sz="4000" dirty="0"/>
          </a:p>
        </p:txBody>
      </p:sp>
      <p:sp>
        <p:nvSpPr>
          <p:cNvPr id="5" name="Text 3"/>
          <p:cNvSpPr txBox="1"/>
          <p:nvPr/>
        </p:nvSpPr>
        <p:spPr>
          <a:xfrm>
            <a:off x="640080" y="3017520"/>
            <a:ext cx="7863840" cy="731520"/>
          </a:xfrm>
          <a:prstGeom prst="rect">
            <a:avLst/>
          </a:prstGeom>
          <a:noFill/>
          <a:ln/>
        </p:spPr>
        <p:txBody>
          <a:bodyPr wrap="square" lIns="0" tIns="0" rIns="0" bIns="0" rtlCol="0" anchor="ctr"/>
          <a:lstStyle/>
          <a:p>
            <a:pPr indent="0" marL="0">
              <a:buNone/>
            </a:pPr>
            <a:r>
              <a:rPr lang="en-US" sz="1500" dirty="0">
                <a:solidFill>
                  <a:srgbClr val="DCE8F5"/>
                </a:solidFill>
                <a:latin typeface="Calibri" pitchFamily="34" charset="0"/>
                <a:ea typeface="Calibri" pitchFamily="34" charset="-122"/>
                <a:cs typeface="Calibri" pitchFamily="34" charset="-120"/>
              </a:rPr>
              <a:t>Three postulates. One kernel. No measurement axiom. The papers, the axiomatization, and the full record are at the link below.</a:t>
            </a:r>
            <a:endParaRPr lang="en-US" sz="1500" dirty="0"/>
          </a:p>
        </p:txBody>
      </p:sp>
      <p:sp>
        <p:nvSpPr>
          <p:cNvPr id="6" name="Text 4"/>
          <p:cNvSpPr txBox="1"/>
          <p:nvPr/>
        </p:nvSpPr>
        <p:spPr>
          <a:xfrm>
            <a:off x="640080" y="4023360"/>
            <a:ext cx="7863840" cy="365760"/>
          </a:xfrm>
          <a:prstGeom prst="rect">
            <a:avLst/>
          </a:prstGeom>
          <a:noFill/>
          <a:ln/>
        </p:spPr>
        <p:txBody>
          <a:bodyPr wrap="square" lIns="0" tIns="0" rIns="0" bIns="0" rtlCol="0" anchor="ctr"/>
          <a:lstStyle/>
          <a:p>
            <a:pPr indent="0" marL="0">
              <a:buNone/>
            </a:pPr>
            <a:r>
              <a:rPr lang="en-US" sz="1200" dirty="0">
                <a:solidFill>
                  <a:srgbClr val="6B7A90"/>
                </a:solidFill>
                <a:latin typeface="Calibri" pitchFamily="34" charset="0"/>
                <a:ea typeface="Calibri" pitchFamily="34" charset="-122"/>
                <a:cs typeface="Calibri" pitchFamily="34" charset="-120"/>
              </a:rPr>
              <a:t>aethic-reasoning  ·  Quantum Mechanics from Records (the axiomatization)  ·  Aethic Reasoning in Brief</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Aethic Reasoning in Ten Minutes</dc:title>
  <dc:subject>The room contains the multiverse</dc:subject>
  <dc:creator>Ajax Coriander Weeks</dc:creator>
  <cp:lastModifiedBy>Ajax Coriander Weeks</cp:lastModifiedBy>
  <cp:revision>1</cp:revision>
  <dcterms:created xsi:type="dcterms:W3CDTF">2026-09-11T15:32:01Z</dcterms:created>
  <dcterms:modified xsi:type="dcterms:W3CDTF">2026-09-11T15:32:01Z</dcterms:modified>
</cp:coreProperties>
</file>