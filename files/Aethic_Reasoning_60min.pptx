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title is a claim, and the hour is its defense: an axiom set in which measurement is derived rather than posited. I'll state the problem, make one correction, show three postulates and what they entail, add one quantitative rule, and show the standard formalism come back out — with a price list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Parts one through three are conceptual and cost nothing quantum. Four and five are the logical results. Six is where the numbers enter. Seven runs cases. Eight shows the reach outside physics. Nine is the price and the open questions. If you only stay for one part, stay for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 want the problem stated precisely, because a vague problem admits vague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Maudlin's formulation is the cleanest. The wavefunction is complete; it evolves linearly; measurements have definite outcomes. Any two are consistent; all three are not. Every interpretation denies one horn. The framework I'll present denies the first — but in a specific way: not by adding hidden variables, but by relativizing what 'complete' is complete relative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menu with the bill attached. I'm not going to argue any of these is wrong tonight. I'm going to argue they share a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 wants two things. Enough counterfactual structure to say what an unperformed measurement would have shown, and no hidden valuation for Bell to kill. The theorems say: you can't have a standing assignment of values to unmeasured observables. So the realist needs counterfactual substance without counterfactual definiteness — and every possible-worlds semantics evaluates at complete worlds, which is definiteness by another name. That's the box the framework was built to get out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correction. Following Spekkens's diagnosis that quantum interpretation is stalled on a category mistake — an early wrong entry propagated through a century of coherent work — here is the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Determinacy has been treated as a one-place property that facts have or lack. It is a two-place relation between an attribute and an information state. That's the whole correction. Everything tonight follows from taking it seriously, and the four incumbent interpretations can be read as four strategies for protecting the one-place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Aethus is an observer-indexed information state: a deductively closed partial assignment of answers to attributes. 'Partial' is the whole point — some attributes are stated, some are blank. It's the thing determinacy is relative to. Not a mind, not a wavefunction; a set of records, closed under what they entail. Plural: Aethae.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attribution of reality is a statement of relation to a particular Aethus. Two clarifications that prevent the standard misreadings. The attribution is of content — determinate values. The structure over Aethae — which are valid, what weights attach — is not indexed; there is one grammar over all vantages. And it applies to any record-bearing system. A rabbit's Aethus is as good an index as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friend in the parking lot. 'I'm next to a red car.' The ordinary picture: the car had a color, you learned it. The framework's picture: relative to your Aethus the color was open; the call moved you to the Aethus in which the car was always red. Nothing about the car changed. Your index did. This is the extrusion principle, and it's the hinge on which the time story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Philosophy of time has two theories. The B-theory: time is tenseless, one static block. The A-theory: tense is real, there's genuine becoming. Both collide with physics. A tenseless block of determinate events is a hidden-variables model, and Bell forbids it. An objective present is forbidden by the relativity of simultaneity. The framework keeps what each gets right and relocates becoming: not within the block, where relativity forbids it, but between blocks — the sequence of Aethae.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second postulate, and the theorem that forbids reading it as ignorance.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Aethus is valid, an attribute is in superposition relative to it if and only if it is nonpresent to it. Blank means superposition. And the superposition is constructive — a real openness — not epistemic. The obvious objection is: why not just say the value is there and you don't know it? The next slide is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you insist every blank hides a value. Then across all attributes you've built a single sample space — a joint distribution over everything at once. Bell's statistics exclude that; that's what the Boole–Fine–Pitowsky correspondence says a single sample space cannot do. So the deflationary reading is refuted exactly where the quantum statistics exceed the classical bounds, and granted where they don't. That's the reductio, and it's a theorem, not a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consequences, and an instrument. First, a past attribute with no surviving record is constructively open, not determinate-but-forgotten. Second, knowledge is one operation regardless of tense; nothing acts backward along the block because nothing acts along the block at all. The instrument is Wheeler's delayed choice: decide after the photon passes the slits whether a which-path record will exist, and the pattern obeys the record configuration of the whole block. Retrocausation is what you have to narrate if you think the block is indexed slice by slice. It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is the one posit I'm adding beyond the postulates, and it's the one that does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metaphysics: 'or' excludes by nature. The principle: jointness is primitive, and exclusion is an achievement — stated, interior content that alternatives carry or lack. A classical 'or' is a jointness whose alternatives carry declared exclusions. A superposition is a jointness whose alternatives don't. The difference is written in the alternatives, not in the logic composing them. That splits superposition into two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Detector off: no record in the block distinguishes the slits. The arm attribute is blank, so open, so an agreeing superposition — no wall, amplitudes add, fringes. Detector on: a record separates them, the wall is written into the alternatives, the weights add, two lumps. The kernel is identical in both cases. The marker did nothing to the photon. What changed is which of the two composition laws applies, and that was decided by the existence of a record — not by whether anyone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Many-worlds got the phenomenology right: once a record separates two alternatives they stop interacting, each carries its weight, an observer finds itself in one. The union principle deduces that look rather than positing it: records write the exclusions in, and alternatives whose interiors exclude each other don't interact. Same walls, same weights, one spacetime. Everett's error was taking non-interaction for a place. And beneath the branches: an Everettian branch is a term of a state vector, individuated by an approximate basis. An Aethic pocket is an information state, individuated exactly by the record partition. Everett branched the wavefunction; this framework transits the observer.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This is the engine, and if you remember one part, remember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Aethus is valid, there exists a proper child all of whose proper children are valid. Existential, then universal. Validity is a two-generation safety property on the refinement graph — a greatest fixed point, coinductively. The one-generation version — 'valid if all children valid' — fails: it either forbids every superposition or none. Two generations is the minimum that lets a superposition survive exactly when some refinement of it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A superposition that some future record could contradict: every refinement leads to a state where the record contradicts the coherence claim. No safe line. Checkmate — not captured, but every move loses. So the superposition is invalid the moment the record exists, relative to every Aethus that can read it. Collapse isn't a process in the block; it's a verdict about validity, and the projection postulate is this rule at work on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postulates over every subset of a set of alternatives under an arbitrary detector configuration. The records induce a partition — the signature partition — and every candidate superposition lands in one of three bins. Valid: a whole class. Over-specified: a proper part of a class, asserting a resolution no record made. Checkmated: spans two classes, contradicted in every refinement. That is measurement derived from records, and the quantum–classical boundary relocated from scale to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Sifting Principle. Measurement is the transition from agreeing to disagreeing: a record exists in the block, the alternatives are enumerated as pockets, each with a weight — nothing selected. Observation is the selection of a pocket: the record arrives in your Aethus and you transit. Copenhagen fused them. Everett kept measurement and denied observation. The framework keeps both and says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six. Everything so far cost no number. Now exactly one quantitative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quantitative axiom: Feynman's phase over paths, but composed over pairs. The weight of a cluster T of paths is the double integral over T×T of the cosine of the action difference. Read that carefully: there is no stage at which a single path carries an amplitude that is then squared. The square in the Born rule is not an exponent on one path. It's the insistence that every weight is a pairing of two. A probability is what a pair looks like once both members are integrated.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a cluster of alternatives the vector sum over its paths of e to the iS over h-bar times the readout configuration ket. Then, axiom by axiom. States are rays. Superposition is the union of clusters in the agreeing regime. Observables are the partitions records induce. The Born rule is the weight of a record-restricted cluster. The projection postulate is pruning then renormalization. Composites are products of path spaces. Evolution is the kernel's composition law. No-signalling is an identity. Six theorems; the seventh absorbed.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kernel, two composition laws. Four path amplitudes. No marker: the two paths to a port are one cluster, amplitudes add, sin² and cos² of phi over two. A which-path marker: two pockets, weights add, one half and one half at every phi. The kernel didn't change. The classification did. And a partial marker with overlap gamma gives visibility gamma and distinguishability root one minus gamma squared: V² + D² = 1, Englert's relation, as a theorem about records rather than a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seven. Cases — with one rule: the classification is fixed before the case, and nothing is added per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records: the Geiger counter, the vial, the cat's own chemistry, the heat in the box's air and walls. Every one is a degree of freedom correlated with the decay, readable in some refinement. So alive and dead are separated by records from the start, and the superposition between them is checkmated before anyone opens the box. The cat was never in the electron's regime — and the reason is its records, not its size. Decoherence saw the walls go up and could only call them 'small' because it had one grade. This framework has two: weight and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Wigner's friend: the friend measures, Wigner hasn't. Two Aethae. The friend's states the outcome; Wigner's has it blank — a disagreeing superposition, because the friend's records exist. No contradiction: cross-observer objectivity is a theorem — no observer can meet another who contradicts them. Frauchiger–Renner adds nested reasoning and reaches a contradiction; the framework locates the step where an agent reasons about another's Aethus as if it were their own — a first-postulate violation — and marks the case as contested,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Elitzur–Vaidman. Put a bomb in one arm of the balanced interferometer. A dud: interference, every photon to D₁. A live bomb: half explode; a quarter go to D₁; a quarter to D₀ — and a D₀ click certifies a live bomb the photon never touched. 'Interaction-free measurement.' The framework: the intact bomb is a record. Its not having detonated states, in every Aethus that can read it, that the photon didn't take that arm. So the arms are record-separated, the coherence claim is checkmated, and D₀ becomes possible. Nothing was interaction-free. It was absorption-free. The numbers are standard — no new prediction — and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eight, briefly: the same operation, pointed elsewhere. I'll take two minutes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'if X had happened, Y would have': reopen X's entry in your own Aethus at a declared scope, restate it, re-prune, read the verdict off the surviving residue. Would, might, and the probability that are one operator at three grains. The similarity ordering of Lewis–Stalnaker appears nowhere. Its work is done by three things the state already has: dependency structure, binary validity, graded weight. And the would-clause's consequence relation violates Cautious Monotony — so it's not representable by any similarity ordering. That's a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is accounted for by the joint invalidity of the combinations it excludes. 'A causes B' is re-read as 'A and not-B is jointly invalid.' No direction, no mechanism. In the disagreeing regime Reichenbach's principle becomes a theorem, and the classical triad — A causes B, B causes A, common cause — becomes the narration inventory of two horns. Bell correlations are the theorem's regime boundary: where alternatives co-obtain rather than exclude, the screening certificate loses its subject. No fine-tuning, because there's no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justified-true-belief analysis compares a subject's Aethus against a valuation that lives at the narrator's. The truth condition is ill-typed. A Gettier case is right value, wrong pocket: the justification supports one way the proposition can be true, and the truth at the narrating index comes through another. Three propositions: the verdict isn't a property of the subject's Aethus; its weight there is the weight of the coincidence; and no condition on the subject's side can close the gap — Zagzebski's inescapability, with its cause. Safety comes back as a threshold on a reopened residue, no ordering, checked against the standard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Nexic development. Take as data the one fact presupposed by anyone reading the fossil record: a lineage arose that produces observers. Treat it as evidence about the history. Features whose alternatives would have cost observers by orders of magnitude are prerequisites, and prerequisites arrive together — committing to one forces others. The dinosaurs' rise and fall is one coupled object, not two accidents. The method makes predictions of the form: prerequisite, therefore signature, therefore a place to 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nine. The price list, and where the framework can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price. The index. The constructive blank. Jointness. The third postulate's form — derived within a stated class, posited as to the class. A composition primitive. A semiring with no negative weights. The kernel. The realization bridge from invalid to unrealized. Everything else — collapse, the Born rule, the boundary, no-signalling — is derived. To attack the framework, aim at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four levels apart. Level one: the postulates and the union principle — posited. Level two: the third postulate's consequences, the boundary — derived. Level three: the kernel and everything quantitative — the kernel posited, the rest derived from it. Level four: the arena the kernel lives on — open. This is a re-axiomatization, not an operational reconstruction: the kernel's content is what the reconstruction programs seek from operational axioms, and its derivation is assigned to a geometric program, on the argument that the postulates are logical where the kernel is kinematic.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robust part is one principle: apply the third postulate to geometry and each valid agreeing cluster carries one spacetime, the clusters enumerate in disagreeing superposition, and no geometry is ever averaged across them. That dissolves the Eppley–Hannah dilemma at three layers. The speculative part is Aethic semiclassical gravity — the semiclassical equation confined to a cluster — and it makes a prediction: gravity does not mediate entanglement. The Bose–Marletto–Vedral experiments test exactly that. A positive result refutes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named targets, in order of what they'd settle. The irretrievability trigger: can an observer's records ever be kept from escaping? That's where divergence from universal unitarity would live. The kernel's derivation from the arena — the Maximal Principle's instrument. And the common source: whether spacetime and the kernel are two projections of one deeper space, with three-dimensionality as what records can be laid down along. Named as targets,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postulates, one kernel, no measurement axiom. The axiomatization is a thirty-page paper; the compressed framework is thirty more; and every claim tonight is priced on a ledger with its falsifier. Thank you — and I'd rather take a hard question than an easy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640080" y="960120"/>
            <a:ext cx="128016" cy="128016"/>
          </a:xfrm>
          <a:prstGeom prst="rect">
            <a:avLst/>
          </a:prstGeom>
          <a:solidFill>
            <a:srgbClr val="E9A23B"/>
          </a:solidFill>
          <a:ln w="12700">
            <a:solidFill>
              <a:srgbClr val="E9A23B"/>
            </a:solidFill>
            <a:prstDash val="solid"/>
          </a:ln>
        </p:spPr>
      </p:sp>
      <p:sp>
        <p:nvSpPr>
          <p:cNvPr id="3" name="Text 1"/>
          <p:cNvSpPr txBox="1"/>
          <p:nvPr/>
        </p:nvSpPr>
        <p:spPr>
          <a:xfrm>
            <a:off x="640080" y="114300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AETHIC REASONING</a:t>
            </a:r>
            <a:endParaRPr lang="en-US" sz="1050" dirty="0"/>
          </a:p>
        </p:txBody>
      </p:sp>
      <p:sp>
        <p:nvSpPr>
          <p:cNvPr id="4" name="Text 2"/>
          <p:cNvSpPr txBox="1"/>
          <p:nvPr/>
        </p:nvSpPr>
        <p:spPr>
          <a:xfrm>
            <a:off x="640080" y="146304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Quantum Mechanics from Records</a:t>
            </a:r>
            <a:endParaRPr lang="en-US" sz="3800" dirty="0"/>
          </a:p>
        </p:txBody>
      </p:sp>
      <p:sp>
        <p:nvSpPr>
          <p:cNvPr id="5" name="Text 3"/>
          <p:cNvSpPr txBox="1"/>
          <p:nvPr/>
        </p:nvSpPr>
        <p:spPr>
          <a:xfrm>
            <a:off x="640080" y="2377440"/>
            <a:ext cx="7863840" cy="822960"/>
          </a:xfrm>
          <a:prstGeom prst="rect">
            <a:avLst/>
          </a:prstGeom>
          <a:noFill/>
          <a:ln/>
        </p:spPr>
        <p:txBody>
          <a:bodyPr wrap="square" lIns="0" tIns="0" rIns="0" bIns="0" rtlCol="0" anchor="ctr"/>
          <a:lstStyle/>
          <a:p>
            <a:pPr indent="0" marL="0">
              <a:lnSpc>
                <a:spcPct val="120000"/>
              </a:lnSpc>
              <a:buNone/>
            </a:pPr>
            <a:r>
              <a:rPr lang="en-US" sz="1800" dirty="0">
                <a:solidFill>
                  <a:srgbClr val="DCE8F5"/>
                </a:solidFill>
                <a:latin typeface="Cambria" pitchFamily="34" charset="0"/>
                <a:ea typeface="Cambria" pitchFamily="34" charset="-122"/>
                <a:cs typeface="Cambria" pitchFamily="34" charset="-120"/>
              </a:rPr>
              <a:t>Three consistency postulates and one kernel recover the Dirac–von Neumann formalism, with the projection postulate as a theorem</a:t>
            </a:r>
            <a:endParaRPr lang="en-US" sz="1800" dirty="0"/>
          </a:p>
        </p:txBody>
      </p:sp>
      <p:sp>
        <p:nvSpPr>
          <p:cNvPr id="6" name="Text 4"/>
          <p:cNvSpPr txBox="1"/>
          <p:nvPr/>
        </p:nvSpPr>
        <p:spPr>
          <a:xfrm>
            <a:off x="640080" y="4114800"/>
            <a:ext cx="7863840" cy="32004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Ajax Coriander Weeks  ·  Brown University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hour, in nine parts</a:t>
            </a:r>
            <a:endParaRPr lang="en-US" sz="2800" dirty="0"/>
          </a:p>
        </p:txBody>
      </p:sp>
      <p:sp>
        <p:nvSpPr>
          <p:cNvPr id="5" name="Shape 2"/>
          <p:cNvSpPr/>
          <p:nvPr/>
        </p:nvSpPr>
        <p:spPr>
          <a:xfrm>
            <a:off x="457200" y="1280160"/>
            <a:ext cx="2651760" cy="960120"/>
          </a:xfrm>
          <a:prstGeom prst="roundRect">
            <a:avLst>
              <a:gd name="adj" fmla="val 5714"/>
            </a:avLst>
          </a:prstGeom>
          <a:solidFill>
            <a:srgbClr val="F4F7FB"/>
          </a:solidFill>
          <a:ln w="12700">
            <a:solidFill>
              <a:srgbClr val="F4F7FB"/>
            </a:solidFill>
            <a:prstDash val="solid"/>
          </a:ln>
        </p:spPr>
      </p:sp>
      <p:sp>
        <p:nvSpPr>
          <p:cNvPr id="6" name="Text 3"/>
          <p:cNvSpPr txBox="1"/>
          <p:nvPr/>
        </p:nvSpPr>
        <p:spPr>
          <a:xfrm>
            <a:off x="594360" y="137160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a:t>
            </a:r>
            <a:endParaRPr lang="en-US" sz="1800" dirty="0"/>
          </a:p>
        </p:txBody>
      </p:sp>
      <p:sp>
        <p:nvSpPr>
          <p:cNvPr id="7" name="Text 4"/>
          <p:cNvSpPr txBox="1"/>
          <p:nvPr/>
        </p:nvSpPr>
        <p:spPr>
          <a:xfrm>
            <a:off x="594360" y="171907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The problem, and where every answer pays</a:t>
            </a:r>
            <a:endParaRPr lang="en-US" sz="1200" dirty="0"/>
          </a:p>
        </p:txBody>
      </p:sp>
      <p:sp>
        <p:nvSpPr>
          <p:cNvPr id="8" name="Shape 5"/>
          <p:cNvSpPr/>
          <p:nvPr/>
        </p:nvSpPr>
        <p:spPr>
          <a:xfrm>
            <a:off x="3246120" y="1280160"/>
            <a:ext cx="2651760" cy="960120"/>
          </a:xfrm>
          <a:prstGeom prst="roundRect">
            <a:avLst>
              <a:gd name="adj" fmla="val 5714"/>
            </a:avLst>
          </a:prstGeom>
          <a:solidFill>
            <a:srgbClr val="F4F7FB"/>
          </a:solidFill>
          <a:ln w="12700">
            <a:solidFill>
              <a:srgbClr val="F4F7FB"/>
            </a:solidFill>
            <a:prstDash val="solid"/>
          </a:ln>
        </p:spPr>
      </p:sp>
      <p:sp>
        <p:nvSpPr>
          <p:cNvPr id="9" name="Text 6"/>
          <p:cNvSpPr txBox="1"/>
          <p:nvPr/>
        </p:nvSpPr>
        <p:spPr>
          <a:xfrm>
            <a:off x="3383280" y="137160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II</a:t>
            </a:r>
            <a:endParaRPr lang="en-US" sz="1800" dirty="0"/>
          </a:p>
        </p:txBody>
      </p:sp>
      <p:sp>
        <p:nvSpPr>
          <p:cNvPr id="10" name="Text 7"/>
          <p:cNvSpPr txBox="1"/>
          <p:nvPr/>
        </p:nvSpPr>
        <p:spPr>
          <a:xfrm>
            <a:off x="3383280" y="171907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One correction: determinacy is two-place</a:t>
            </a:r>
            <a:endParaRPr lang="en-US" sz="1200" dirty="0"/>
          </a:p>
        </p:txBody>
      </p:sp>
      <p:sp>
        <p:nvSpPr>
          <p:cNvPr id="11" name="Shape 8"/>
          <p:cNvSpPr/>
          <p:nvPr/>
        </p:nvSpPr>
        <p:spPr>
          <a:xfrm>
            <a:off x="6035040" y="1280160"/>
            <a:ext cx="2651760" cy="960120"/>
          </a:xfrm>
          <a:prstGeom prst="roundRect">
            <a:avLst>
              <a:gd name="adj" fmla="val 5714"/>
            </a:avLst>
          </a:prstGeom>
          <a:solidFill>
            <a:srgbClr val="F4F7FB"/>
          </a:solidFill>
          <a:ln w="12700">
            <a:solidFill>
              <a:srgbClr val="F4F7FB"/>
            </a:solidFill>
            <a:prstDash val="solid"/>
          </a:ln>
        </p:spPr>
      </p:sp>
      <p:sp>
        <p:nvSpPr>
          <p:cNvPr id="12" name="Text 9"/>
          <p:cNvSpPr txBox="1"/>
          <p:nvPr/>
        </p:nvSpPr>
        <p:spPr>
          <a:xfrm>
            <a:off x="6172200" y="137160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III</a:t>
            </a:r>
            <a:endParaRPr lang="en-US" sz="1800" dirty="0"/>
          </a:p>
        </p:txBody>
      </p:sp>
      <p:sp>
        <p:nvSpPr>
          <p:cNvPr id="13" name="Text 10"/>
          <p:cNvSpPr txBox="1"/>
          <p:nvPr/>
        </p:nvSpPr>
        <p:spPr>
          <a:xfrm>
            <a:off x="6172200" y="171907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Blanks are open — and the past is too</a:t>
            </a:r>
            <a:endParaRPr lang="en-US" sz="1200" dirty="0"/>
          </a:p>
        </p:txBody>
      </p:sp>
      <p:sp>
        <p:nvSpPr>
          <p:cNvPr id="14" name="Shape 11"/>
          <p:cNvSpPr/>
          <p:nvPr/>
        </p:nvSpPr>
        <p:spPr>
          <a:xfrm>
            <a:off x="457200" y="2377440"/>
            <a:ext cx="2651760" cy="960120"/>
          </a:xfrm>
          <a:prstGeom prst="roundRect">
            <a:avLst>
              <a:gd name="adj" fmla="val 5714"/>
            </a:avLst>
          </a:prstGeom>
          <a:solidFill>
            <a:srgbClr val="F4F7FB"/>
          </a:solidFill>
          <a:ln w="12700">
            <a:solidFill>
              <a:srgbClr val="F4F7FB"/>
            </a:solidFill>
            <a:prstDash val="solid"/>
          </a:ln>
        </p:spPr>
      </p:sp>
      <p:sp>
        <p:nvSpPr>
          <p:cNvPr id="15" name="Text 12"/>
          <p:cNvSpPr txBox="1"/>
          <p:nvPr/>
        </p:nvSpPr>
        <p:spPr>
          <a:xfrm>
            <a:off x="594360" y="246888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IV</a:t>
            </a:r>
            <a:endParaRPr lang="en-US" sz="1800" dirty="0"/>
          </a:p>
        </p:txBody>
      </p:sp>
      <p:sp>
        <p:nvSpPr>
          <p:cNvPr id="16" name="Text 13"/>
          <p:cNvSpPr txBox="1"/>
          <p:nvPr/>
        </p:nvSpPr>
        <p:spPr>
          <a:xfrm>
            <a:off x="594360" y="281635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Exclusion is an achievement: the union principle</a:t>
            </a:r>
            <a:endParaRPr lang="en-US" sz="1200" dirty="0"/>
          </a:p>
        </p:txBody>
      </p:sp>
      <p:sp>
        <p:nvSpPr>
          <p:cNvPr id="17" name="Shape 14"/>
          <p:cNvSpPr/>
          <p:nvPr/>
        </p:nvSpPr>
        <p:spPr>
          <a:xfrm>
            <a:off x="3246120" y="2377440"/>
            <a:ext cx="2651760" cy="960120"/>
          </a:xfrm>
          <a:prstGeom prst="roundRect">
            <a:avLst>
              <a:gd name="adj" fmla="val 5714"/>
            </a:avLst>
          </a:prstGeom>
          <a:solidFill>
            <a:srgbClr val="E9F3E4"/>
          </a:solidFill>
          <a:ln w="12700">
            <a:solidFill>
              <a:srgbClr val="E9F3E4"/>
            </a:solidFill>
            <a:prstDash val="solid"/>
          </a:ln>
        </p:spPr>
      </p:sp>
      <p:sp>
        <p:nvSpPr>
          <p:cNvPr id="18" name="Text 15"/>
          <p:cNvSpPr txBox="1"/>
          <p:nvPr/>
        </p:nvSpPr>
        <p:spPr>
          <a:xfrm>
            <a:off x="3383280" y="246888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a:t>
            </a:r>
            <a:endParaRPr lang="en-US" sz="1800" dirty="0"/>
          </a:p>
        </p:txBody>
      </p:sp>
      <p:sp>
        <p:nvSpPr>
          <p:cNvPr id="19" name="Text 16"/>
          <p:cNvSpPr txBox="1"/>
          <p:nvPr/>
        </p:nvSpPr>
        <p:spPr>
          <a:xfrm>
            <a:off x="3383280" y="281635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The third postulate: collapse as checkmate</a:t>
            </a:r>
            <a:endParaRPr lang="en-US" sz="1200" dirty="0"/>
          </a:p>
        </p:txBody>
      </p:sp>
      <p:sp>
        <p:nvSpPr>
          <p:cNvPr id="20" name="Shape 17"/>
          <p:cNvSpPr/>
          <p:nvPr/>
        </p:nvSpPr>
        <p:spPr>
          <a:xfrm>
            <a:off x="6035040" y="2377440"/>
            <a:ext cx="2651760" cy="960120"/>
          </a:xfrm>
          <a:prstGeom prst="roundRect">
            <a:avLst>
              <a:gd name="adj" fmla="val 5714"/>
            </a:avLst>
          </a:prstGeom>
          <a:solidFill>
            <a:srgbClr val="F4F7FB"/>
          </a:solidFill>
          <a:ln w="12700">
            <a:solidFill>
              <a:srgbClr val="F4F7FB"/>
            </a:solidFill>
            <a:prstDash val="solid"/>
          </a:ln>
        </p:spPr>
      </p:sp>
      <p:sp>
        <p:nvSpPr>
          <p:cNvPr id="21" name="Text 18"/>
          <p:cNvSpPr txBox="1"/>
          <p:nvPr/>
        </p:nvSpPr>
        <p:spPr>
          <a:xfrm>
            <a:off x="6172200" y="246888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VI</a:t>
            </a:r>
            <a:endParaRPr lang="en-US" sz="1800" dirty="0"/>
          </a:p>
        </p:txBody>
      </p:sp>
      <p:sp>
        <p:nvSpPr>
          <p:cNvPr id="22" name="Text 19"/>
          <p:cNvSpPr txBox="1"/>
          <p:nvPr/>
        </p:nvSpPr>
        <p:spPr>
          <a:xfrm>
            <a:off x="6172200" y="281635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One kernel, and the formalism recovered</a:t>
            </a:r>
            <a:endParaRPr lang="en-US" sz="1200" dirty="0"/>
          </a:p>
        </p:txBody>
      </p:sp>
      <p:sp>
        <p:nvSpPr>
          <p:cNvPr id="23" name="Shape 20"/>
          <p:cNvSpPr/>
          <p:nvPr/>
        </p:nvSpPr>
        <p:spPr>
          <a:xfrm>
            <a:off x="457200" y="3474720"/>
            <a:ext cx="2651760" cy="960120"/>
          </a:xfrm>
          <a:prstGeom prst="roundRect">
            <a:avLst>
              <a:gd name="adj" fmla="val 5714"/>
            </a:avLst>
          </a:prstGeom>
          <a:solidFill>
            <a:srgbClr val="F4F7FB"/>
          </a:solidFill>
          <a:ln w="12700">
            <a:solidFill>
              <a:srgbClr val="F4F7FB"/>
            </a:solidFill>
            <a:prstDash val="solid"/>
          </a:ln>
        </p:spPr>
      </p:sp>
      <p:sp>
        <p:nvSpPr>
          <p:cNvPr id="24" name="Text 21"/>
          <p:cNvSpPr txBox="1"/>
          <p:nvPr/>
        </p:nvSpPr>
        <p:spPr>
          <a:xfrm>
            <a:off x="594360" y="356616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VII</a:t>
            </a:r>
            <a:endParaRPr lang="en-US" sz="1800" dirty="0"/>
          </a:p>
        </p:txBody>
      </p:sp>
      <p:sp>
        <p:nvSpPr>
          <p:cNvPr id="25" name="Text 22"/>
          <p:cNvSpPr txBox="1"/>
          <p:nvPr/>
        </p:nvSpPr>
        <p:spPr>
          <a:xfrm>
            <a:off x="594360" y="391363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Cases: the cat, Wigner, the bomb</a:t>
            </a:r>
            <a:endParaRPr lang="en-US" sz="1200" dirty="0"/>
          </a:p>
        </p:txBody>
      </p:sp>
      <p:sp>
        <p:nvSpPr>
          <p:cNvPr id="26" name="Shape 23"/>
          <p:cNvSpPr/>
          <p:nvPr/>
        </p:nvSpPr>
        <p:spPr>
          <a:xfrm>
            <a:off x="3246120" y="3474720"/>
            <a:ext cx="2651760" cy="960120"/>
          </a:xfrm>
          <a:prstGeom prst="roundRect">
            <a:avLst>
              <a:gd name="adj" fmla="val 5714"/>
            </a:avLst>
          </a:prstGeom>
          <a:solidFill>
            <a:srgbClr val="F4F7FB"/>
          </a:solidFill>
          <a:ln w="12700">
            <a:solidFill>
              <a:srgbClr val="F4F7FB"/>
            </a:solidFill>
            <a:prstDash val="solid"/>
          </a:ln>
        </p:spPr>
      </p:sp>
      <p:sp>
        <p:nvSpPr>
          <p:cNvPr id="27" name="Text 24"/>
          <p:cNvSpPr txBox="1"/>
          <p:nvPr/>
        </p:nvSpPr>
        <p:spPr>
          <a:xfrm>
            <a:off x="3383280" y="356616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VIII</a:t>
            </a:r>
            <a:endParaRPr lang="en-US" sz="1800" dirty="0"/>
          </a:p>
        </p:txBody>
      </p:sp>
      <p:sp>
        <p:nvSpPr>
          <p:cNvPr id="28" name="Text 25"/>
          <p:cNvSpPr txBox="1"/>
          <p:nvPr/>
        </p:nvSpPr>
        <p:spPr>
          <a:xfrm>
            <a:off x="3383280" y="391363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Reach: counterfactuals, causation, knowledge, Earth</a:t>
            </a:r>
            <a:endParaRPr lang="en-US" sz="1200" dirty="0"/>
          </a:p>
        </p:txBody>
      </p:sp>
      <p:sp>
        <p:nvSpPr>
          <p:cNvPr id="29" name="Shape 26"/>
          <p:cNvSpPr/>
          <p:nvPr/>
        </p:nvSpPr>
        <p:spPr>
          <a:xfrm>
            <a:off x="6035040" y="3474720"/>
            <a:ext cx="2651760" cy="960120"/>
          </a:xfrm>
          <a:prstGeom prst="roundRect">
            <a:avLst>
              <a:gd name="adj" fmla="val 5714"/>
            </a:avLst>
          </a:prstGeom>
          <a:solidFill>
            <a:srgbClr val="F4F7FB"/>
          </a:solidFill>
          <a:ln w="12700">
            <a:solidFill>
              <a:srgbClr val="F4F7FB"/>
            </a:solidFill>
            <a:prstDash val="solid"/>
          </a:ln>
        </p:spPr>
      </p:sp>
      <p:sp>
        <p:nvSpPr>
          <p:cNvPr id="30" name="Text 27"/>
          <p:cNvSpPr txBox="1"/>
          <p:nvPr/>
        </p:nvSpPr>
        <p:spPr>
          <a:xfrm>
            <a:off x="6172200" y="356616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IX</a:t>
            </a:r>
            <a:endParaRPr lang="en-US" sz="1800" dirty="0"/>
          </a:p>
        </p:txBody>
      </p:sp>
      <p:sp>
        <p:nvSpPr>
          <p:cNvPr id="31" name="Text 28"/>
          <p:cNvSpPr txBox="1"/>
          <p:nvPr/>
        </p:nvSpPr>
        <p:spPr>
          <a:xfrm>
            <a:off x="6172200" y="391363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The price, the prediction, the open constructions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problem, and where every answer pays</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measurement problem stated exactly, the standard menu, and the two theorems that fence a realist in.</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Maudlin's trilemma: three things you cannot have together</a:t>
            </a:r>
            <a:endParaRPr lang="en-US" sz="2800" dirty="0"/>
          </a:p>
        </p:txBody>
      </p:sp>
      <p:sp>
        <p:nvSpPr>
          <p:cNvPr id="5" name="Shape 2"/>
          <p:cNvSpPr/>
          <p:nvPr/>
        </p:nvSpPr>
        <p:spPr>
          <a:xfrm>
            <a:off x="457200" y="1280160"/>
            <a:ext cx="2651760" cy="1554480"/>
          </a:xfrm>
          <a:prstGeom prst="roundRect">
            <a:avLst>
              <a:gd name="adj" fmla="val 4706"/>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Completeness</a:t>
            </a:r>
            <a:endParaRPr lang="en-US" sz="1500" dirty="0"/>
          </a:p>
        </p:txBody>
      </p:sp>
      <p:sp>
        <p:nvSpPr>
          <p:cNvPr id="7" name="Text 4"/>
          <p:cNvSpPr txBox="1"/>
          <p:nvPr/>
        </p:nvSpPr>
        <p:spPr>
          <a:xfrm>
            <a:off x="640080" y="1810512"/>
            <a:ext cx="2286000" cy="9144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wavefunction is the whole physical story of the system</a:t>
            </a:r>
            <a:endParaRPr lang="en-US" sz="1250" dirty="0"/>
          </a:p>
        </p:txBody>
      </p:sp>
      <p:sp>
        <p:nvSpPr>
          <p:cNvPr id="8" name="Shape 5"/>
          <p:cNvSpPr/>
          <p:nvPr/>
        </p:nvSpPr>
        <p:spPr>
          <a:xfrm>
            <a:off x="3246120" y="1280160"/>
            <a:ext cx="2651760" cy="1554480"/>
          </a:xfrm>
          <a:prstGeom prst="roundRect">
            <a:avLst>
              <a:gd name="adj" fmla="val 4706"/>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Linearity</a:t>
            </a:r>
            <a:endParaRPr lang="en-US" sz="1500" dirty="0"/>
          </a:p>
        </p:txBody>
      </p:sp>
      <p:sp>
        <p:nvSpPr>
          <p:cNvPr id="10" name="Text 7"/>
          <p:cNvSpPr txBox="1"/>
          <p:nvPr/>
        </p:nvSpPr>
        <p:spPr>
          <a:xfrm>
            <a:off x="3429000" y="1810512"/>
            <a:ext cx="2286000" cy="9144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it evolves by the Schrödinger equation, always</a:t>
            </a:r>
            <a:endParaRPr lang="en-US" sz="1250" dirty="0"/>
          </a:p>
        </p:txBody>
      </p:sp>
      <p:sp>
        <p:nvSpPr>
          <p:cNvPr id="11" name="Shape 8"/>
          <p:cNvSpPr/>
          <p:nvPr/>
        </p:nvSpPr>
        <p:spPr>
          <a:xfrm>
            <a:off x="6035040" y="1280160"/>
            <a:ext cx="2651760" cy="1554480"/>
          </a:xfrm>
          <a:prstGeom prst="roundRect">
            <a:avLst>
              <a:gd name="adj" fmla="val 4706"/>
            </a:avLst>
          </a:prstGeom>
          <a:solidFill>
            <a:srgbClr val="F4F7FB"/>
          </a:solidFill>
          <a:ln w="12700">
            <a:solidFill>
              <a:srgbClr val="F4F7FB"/>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Definite outcomes</a:t>
            </a:r>
            <a:endParaRPr lang="en-US" sz="1500" dirty="0"/>
          </a:p>
        </p:txBody>
      </p:sp>
      <p:sp>
        <p:nvSpPr>
          <p:cNvPr id="13" name="Text 10"/>
          <p:cNvSpPr txBox="1"/>
          <p:nvPr/>
        </p:nvSpPr>
        <p:spPr>
          <a:xfrm>
            <a:off x="6217920" y="1810512"/>
            <a:ext cx="2286000" cy="9144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measurements end with one result, not a superposition of results</a:t>
            </a:r>
            <a:endParaRPr lang="en-US" sz="1250" dirty="0"/>
          </a:p>
        </p:txBody>
      </p:sp>
      <p:sp>
        <p:nvSpPr>
          <p:cNvPr id="14" name="Text 11"/>
          <p:cNvSpPr txBox="1"/>
          <p:nvPr/>
        </p:nvSpPr>
        <p:spPr>
          <a:xfrm>
            <a:off x="457200" y="3063240"/>
            <a:ext cx="8229600" cy="914400"/>
          </a:xfrm>
          <a:prstGeom prst="rect">
            <a:avLst/>
          </a:prstGeom>
          <a:noFill/>
          <a:ln/>
        </p:spPr>
        <p:txBody>
          <a:bodyPr wrap="square" lIns="0" tIns="0" rIns="0" bIns="0" rtlCol="0" anchor="t"/>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Any two are consistent. All three are not. Every interpretation denies one horn, and the framework presented here denies the first — not by adding hidden variables beneath the wavefunction, but by asking what completeness is complete relative to.</a:t>
            </a:r>
            <a:endParaRPr lang="en-US" sz="1400" dirty="0"/>
          </a:p>
        </p:txBody>
      </p:sp>
      <p:sp>
        <p:nvSpPr>
          <p:cNvPr id="15" name="Text 12"/>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600" b="1" i="1" dirty="0">
                <a:solidFill>
                  <a:srgbClr val="0F1B2D"/>
                </a:solidFill>
                <a:latin typeface="Cambria" pitchFamily="34" charset="0"/>
                <a:ea typeface="Cambria" pitchFamily="34" charset="-122"/>
                <a:cs typeface="Cambria" pitchFamily="34" charset="-120"/>
              </a:rPr>
              <a:t>Deny the right horn in the right way, and the other two survive intact.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standard menu, and the line item on each bill</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4663440"/>
                <a:gridCol w="18288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pays</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Copenhagen</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cut it cannot locate</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Bohr</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Everett</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probability rule it cannot derive; branches individuated by an approximate basis</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Everett, DeWitt, Wallace</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Bohm</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nonlocal guiding field that acts and is never acted on</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Bohm, Dürr–Goldstein–Zanghì</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GRW / CSL</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stochastic collapse term no experiment has found</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Ghirardi–Rimini–Weber</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QBism / RQM</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relativized facts — but at one grade, probability, with no account of which facts</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Fuchs, Rovelli</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6" name="Text 2"/>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500" b="1" i="1" dirty="0">
                <a:solidFill>
                  <a:srgbClr val="E9A23B"/>
                </a:solidFill>
                <a:latin typeface="Cambria" pitchFamily="34" charset="0"/>
                <a:ea typeface="Cambria" pitchFamily="34" charset="-122"/>
                <a:cs typeface="Cambria" pitchFamily="34" charset="-120"/>
              </a:rPr>
              <a:t>Every line is a payment for one assumption: that determinacy is a one-place property facts have or lack.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What a realist wants, and what Bell and Kochen–Specker forbid</a:t>
            </a:r>
            <a:endParaRPr lang="en-US" sz="2800" dirty="0"/>
          </a:p>
        </p:txBody>
      </p:sp>
      <p:sp>
        <p:nvSpPr>
          <p:cNvPr id="5" name="Shape 2"/>
          <p:cNvSpPr/>
          <p:nvPr/>
        </p:nvSpPr>
        <p:spPr>
          <a:xfrm>
            <a:off x="457200" y="1280160"/>
            <a:ext cx="3931920" cy="1417320"/>
          </a:xfrm>
          <a:prstGeom prst="roundRect">
            <a:avLst>
              <a:gd name="adj" fmla="val 5161"/>
            </a:avLst>
          </a:prstGeom>
          <a:solidFill>
            <a:srgbClr val="E9F3E4"/>
          </a:solidFill>
          <a:ln w="12700">
            <a:solidFill>
              <a:srgbClr val="E9F3E4"/>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Wanted</a:t>
            </a:r>
            <a:endParaRPr lang="en-US" sz="1500" dirty="0"/>
          </a:p>
        </p:txBody>
      </p:sp>
      <p:sp>
        <p:nvSpPr>
          <p:cNvPr id="7" name="Text 4"/>
          <p:cNvSpPr txBox="1"/>
          <p:nvPr/>
        </p:nvSpPr>
        <p:spPr>
          <a:xfrm>
            <a:off x="64008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Counterfactual substance: a fact of the matter about what an unperformed experiment would have shown.</a:t>
            </a:r>
            <a:endParaRPr lang="en-US" sz="1250" dirty="0"/>
          </a:p>
        </p:txBody>
      </p:sp>
      <p:sp>
        <p:nvSpPr>
          <p:cNvPr id="8" name="Shape 5"/>
          <p:cNvSpPr/>
          <p:nvPr/>
        </p:nvSpPr>
        <p:spPr>
          <a:xfrm>
            <a:off x="4754880" y="1280160"/>
            <a:ext cx="3931920" cy="1417320"/>
          </a:xfrm>
          <a:prstGeom prst="roundRect">
            <a:avLst>
              <a:gd name="adj" fmla="val 5161"/>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Forbidden</a:t>
            </a:r>
            <a:endParaRPr lang="en-US" sz="1500" dirty="0"/>
          </a:p>
        </p:txBody>
      </p:sp>
      <p:sp>
        <p:nvSpPr>
          <p:cNvPr id="10" name="Text 7"/>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Counterfactual definiteness: a standing valuation of unmeasured observables. Bell and Kochen–Specker close that door.</a:t>
            </a:r>
            <a:endParaRPr lang="en-US" sz="1250" dirty="0"/>
          </a:p>
        </p:txBody>
      </p:sp>
      <p:sp>
        <p:nvSpPr>
          <p:cNvPr id="11" name="Shape 8"/>
          <p:cNvSpPr/>
          <p:nvPr/>
        </p:nvSpPr>
        <p:spPr>
          <a:xfrm>
            <a:off x="457200" y="2880360"/>
            <a:ext cx="8229600" cy="1508760"/>
          </a:xfrm>
          <a:prstGeom prst="roundRect">
            <a:avLst>
              <a:gd name="adj" fmla="val 4848"/>
            </a:avLst>
          </a:prstGeom>
          <a:solidFill>
            <a:srgbClr val="FCF3E0"/>
          </a:solidFill>
          <a:ln w="12700">
            <a:solidFill>
              <a:srgbClr val="FCF3E0"/>
            </a:solidFill>
            <a:prstDash val="solid"/>
          </a:ln>
        </p:spPr>
      </p:sp>
      <p:sp>
        <p:nvSpPr>
          <p:cNvPr id="12" name="Text 9"/>
          <p:cNvSpPr txBox="1"/>
          <p:nvPr/>
        </p:nvSpPr>
        <p:spPr>
          <a:xfrm>
            <a:off x="640080" y="301752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box</a:t>
            </a:r>
            <a:endParaRPr lang="en-US" sz="1500" dirty="0"/>
          </a:p>
        </p:txBody>
      </p:sp>
      <p:sp>
        <p:nvSpPr>
          <p:cNvPr id="13" name="Text 10"/>
          <p:cNvSpPr txBox="1"/>
          <p:nvPr/>
        </p:nvSpPr>
        <p:spPr>
          <a:xfrm>
            <a:off x="640080" y="3410712"/>
            <a:ext cx="7863840" cy="8686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Every possible-worlds semantics for counterfactuals evaluates at complete worlds — a valuation by another name. So the realist needs substance without definiteness, and no standard semantics supplies it. The framework was built to.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One correction: determinacy is a two-place relation</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category mistake, the object that fixes it, and the first postulate.</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category mistake</a:t>
            </a:r>
            <a:endParaRPr lang="en-US" sz="2800" dirty="0"/>
          </a:p>
        </p:txBody>
      </p:sp>
      <p:sp>
        <p:nvSpPr>
          <p:cNvPr id="5" name="Text 2"/>
          <p:cNvSpPr txBox="1"/>
          <p:nvPr/>
        </p:nvSpPr>
        <p:spPr>
          <a:xfrm>
            <a:off x="457200" y="1325880"/>
            <a:ext cx="8229600" cy="548640"/>
          </a:xfrm>
          <a:prstGeom prst="rect">
            <a:avLst/>
          </a:prstGeom>
          <a:noFill/>
          <a:ln/>
        </p:spPr>
        <p:txBody>
          <a:bodyPr wrap="square" lIns="0" tIns="0" rIns="0" bIns="0" rtlCol="0" anchor="ctr"/>
          <a:lstStyle/>
          <a:p>
            <a:pPr indent="0" marL="0">
              <a:buNone/>
            </a:pPr>
            <a:r>
              <a:rPr lang="en-US" sz="2000" dirty="0">
                <a:solidFill>
                  <a:srgbClr val="6B7A90"/>
                </a:solidFill>
                <a:latin typeface="Cambria" pitchFamily="34" charset="0"/>
                <a:ea typeface="Cambria" pitchFamily="34" charset="-122"/>
                <a:cs typeface="Cambria" pitchFamily="34" charset="-120"/>
              </a:rPr>
              <a:t>Determinacy has been treated as a one-place property that facts have or lack —</a:t>
            </a:r>
            <a:endParaRPr lang="en-US" sz="2000" dirty="0"/>
          </a:p>
        </p:txBody>
      </p:sp>
      <p:sp>
        <p:nvSpPr>
          <p:cNvPr id="6" name="Text 3"/>
          <p:cNvSpPr txBox="1"/>
          <p:nvPr/>
        </p:nvSpPr>
        <p:spPr>
          <a:xfrm>
            <a:off x="457200" y="1920240"/>
            <a:ext cx="8229600" cy="82296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when it is a two-place relation between an attribute and an information state.</a:t>
            </a:r>
            <a:endParaRPr lang="en-US" sz="2400" dirty="0"/>
          </a:p>
        </p:txBody>
      </p:sp>
      <p:sp>
        <p:nvSpPr>
          <p:cNvPr id="7" name="Shape 4"/>
          <p:cNvSpPr/>
          <p:nvPr/>
        </p:nvSpPr>
        <p:spPr>
          <a:xfrm>
            <a:off x="457200" y="2926080"/>
            <a:ext cx="2651760" cy="1508760"/>
          </a:xfrm>
          <a:prstGeom prst="roundRect">
            <a:avLst>
              <a:gd name="adj" fmla="val 4848"/>
            </a:avLst>
          </a:prstGeom>
          <a:solidFill>
            <a:srgbClr val="F4F7FB"/>
          </a:solidFill>
          <a:ln w="12700">
            <a:solidFill>
              <a:srgbClr val="F4F7FB"/>
            </a:solidFill>
            <a:prstDash val="solid"/>
          </a:ln>
        </p:spPr>
      </p:sp>
      <p:sp>
        <p:nvSpPr>
          <p:cNvPr id="8" name="Text 5"/>
          <p:cNvSpPr txBox="1"/>
          <p:nvPr/>
        </p:nvSpPr>
        <p:spPr>
          <a:xfrm>
            <a:off x="640080" y="306324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Copenhagen</a:t>
            </a:r>
            <a:endParaRPr lang="en-US" sz="1500" dirty="0"/>
          </a:p>
        </p:txBody>
      </p:sp>
      <p:sp>
        <p:nvSpPr>
          <p:cNvPr id="9" name="Text 6"/>
          <p:cNvSpPr txBox="1"/>
          <p:nvPr/>
        </p:nvSpPr>
        <p:spPr>
          <a:xfrm>
            <a:off x="640080" y="3456432"/>
            <a:ext cx="2286000" cy="868680"/>
          </a:xfrm>
          <a:prstGeom prst="rect">
            <a:avLst/>
          </a:prstGeom>
          <a:noFill/>
          <a:ln/>
        </p:spPr>
        <p:txBody>
          <a:bodyPr wrap="square" lIns="0" tIns="0" rIns="0" bIns="0" rtlCol="0" anchor="t"/>
          <a:lstStyle/>
          <a:p>
            <a:pPr indent="0" marL="0">
              <a:lnSpc>
                <a:spcPct val="112000"/>
              </a:lnSpc>
              <a:buNone/>
            </a:pPr>
            <a:r>
              <a:rPr lang="en-US" sz="1150" dirty="0">
                <a:solidFill>
                  <a:srgbClr val="1A2B45"/>
                </a:solidFill>
                <a:latin typeface="Calibri" pitchFamily="34" charset="0"/>
                <a:ea typeface="Calibri" pitchFamily="34" charset="-122"/>
                <a:cs typeface="Calibri" pitchFamily="34" charset="-120"/>
              </a:rPr>
              <a:t>protects the entry by locating a cut where the one-place facts begin</a:t>
            </a:r>
            <a:endParaRPr lang="en-US" sz="1150" dirty="0"/>
          </a:p>
        </p:txBody>
      </p:sp>
      <p:sp>
        <p:nvSpPr>
          <p:cNvPr id="10" name="Shape 7"/>
          <p:cNvSpPr/>
          <p:nvPr/>
        </p:nvSpPr>
        <p:spPr>
          <a:xfrm>
            <a:off x="3246120" y="2926080"/>
            <a:ext cx="2651760" cy="1508760"/>
          </a:xfrm>
          <a:prstGeom prst="roundRect">
            <a:avLst>
              <a:gd name="adj" fmla="val 4848"/>
            </a:avLst>
          </a:prstGeom>
          <a:solidFill>
            <a:srgbClr val="F4F7FB"/>
          </a:solidFill>
          <a:ln w="12700">
            <a:solidFill>
              <a:srgbClr val="F4F7FB"/>
            </a:solidFill>
            <a:prstDash val="solid"/>
          </a:ln>
        </p:spPr>
      </p:sp>
      <p:sp>
        <p:nvSpPr>
          <p:cNvPr id="11" name="Text 8"/>
          <p:cNvSpPr txBox="1"/>
          <p:nvPr/>
        </p:nvSpPr>
        <p:spPr>
          <a:xfrm>
            <a:off x="3429000" y="306324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Everett</a:t>
            </a:r>
            <a:endParaRPr lang="en-US" sz="1500" dirty="0"/>
          </a:p>
        </p:txBody>
      </p:sp>
      <p:sp>
        <p:nvSpPr>
          <p:cNvPr id="12" name="Text 9"/>
          <p:cNvSpPr txBox="1"/>
          <p:nvPr/>
        </p:nvSpPr>
        <p:spPr>
          <a:xfrm>
            <a:off x="3429000" y="3456432"/>
            <a:ext cx="2286000" cy="868680"/>
          </a:xfrm>
          <a:prstGeom prst="rect">
            <a:avLst/>
          </a:prstGeom>
          <a:noFill/>
          <a:ln/>
        </p:spPr>
        <p:txBody>
          <a:bodyPr wrap="square" lIns="0" tIns="0" rIns="0" bIns="0" rtlCol="0" anchor="t"/>
          <a:lstStyle/>
          <a:p>
            <a:pPr indent="0" marL="0">
              <a:lnSpc>
                <a:spcPct val="112000"/>
              </a:lnSpc>
              <a:buNone/>
            </a:pPr>
            <a:r>
              <a:rPr lang="en-US" sz="1150" dirty="0">
                <a:solidFill>
                  <a:srgbClr val="1A2B45"/>
                </a:solidFill>
                <a:latin typeface="Calibri" pitchFamily="34" charset="0"/>
                <a:ea typeface="Calibri" pitchFamily="34" charset="-122"/>
                <a:cs typeface="Calibri" pitchFamily="34" charset="-120"/>
              </a:rPr>
              <a:t>protects it by multiplying worlds so every branch has one-place facts</a:t>
            </a:r>
            <a:endParaRPr lang="en-US" sz="1150" dirty="0"/>
          </a:p>
        </p:txBody>
      </p:sp>
      <p:sp>
        <p:nvSpPr>
          <p:cNvPr id="13" name="Shape 10"/>
          <p:cNvSpPr/>
          <p:nvPr/>
        </p:nvSpPr>
        <p:spPr>
          <a:xfrm>
            <a:off x="6035040" y="2926080"/>
            <a:ext cx="2651760" cy="1508760"/>
          </a:xfrm>
          <a:prstGeom prst="roundRect">
            <a:avLst>
              <a:gd name="adj" fmla="val 4848"/>
            </a:avLst>
          </a:prstGeom>
          <a:solidFill>
            <a:srgbClr val="F4F7FB"/>
          </a:solidFill>
          <a:ln w="12700">
            <a:solidFill>
              <a:srgbClr val="F4F7FB"/>
            </a:solidFill>
            <a:prstDash val="solid"/>
          </a:ln>
        </p:spPr>
      </p:sp>
      <p:sp>
        <p:nvSpPr>
          <p:cNvPr id="14" name="Text 11"/>
          <p:cNvSpPr txBox="1"/>
          <p:nvPr/>
        </p:nvSpPr>
        <p:spPr>
          <a:xfrm>
            <a:off x="6217920" y="306324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Bohm</a:t>
            </a:r>
            <a:endParaRPr lang="en-US" sz="1500" dirty="0"/>
          </a:p>
        </p:txBody>
      </p:sp>
      <p:sp>
        <p:nvSpPr>
          <p:cNvPr id="15" name="Text 12"/>
          <p:cNvSpPr txBox="1"/>
          <p:nvPr/>
        </p:nvSpPr>
        <p:spPr>
          <a:xfrm>
            <a:off x="6217920" y="3456432"/>
            <a:ext cx="2286000" cy="868680"/>
          </a:xfrm>
          <a:prstGeom prst="rect">
            <a:avLst/>
          </a:prstGeom>
          <a:noFill/>
          <a:ln/>
        </p:spPr>
        <p:txBody>
          <a:bodyPr wrap="square" lIns="0" tIns="0" rIns="0" bIns="0" rtlCol="0" anchor="t"/>
          <a:lstStyle/>
          <a:p>
            <a:pPr indent="0" marL="0">
              <a:lnSpc>
                <a:spcPct val="112000"/>
              </a:lnSpc>
              <a:buNone/>
            </a:pPr>
            <a:r>
              <a:rPr lang="en-US" sz="1150" dirty="0">
                <a:solidFill>
                  <a:srgbClr val="1A2B45"/>
                </a:solidFill>
                <a:latin typeface="Calibri" pitchFamily="34" charset="0"/>
                <a:ea typeface="Calibri" pitchFamily="34" charset="-122"/>
                <a:cs typeface="Calibri" pitchFamily="34" charset="-120"/>
              </a:rPr>
              <a:t>protects it by positing one-place positions beneath the wavefunction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object: an Aethus</a:t>
            </a:r>
            <a:endParaRPr lang="en-US" sz="2800" dirty="0"/>
          </a:p>
        </p:txBody>
      </p:sp>
      <p:sp>
        <p:nvSpPr>
          <p:cNvPr id="5" name="Shape 2"/>
          <p:cNvSpPr/>
          <p:nvPr/>
        </p:nvSpPr>
        <p:spPr>
          <a:xfrm>
            <a:off x="457200" y="1280160"/>
            <a:ext cx="3931920" cy="3154680"/>
          </a:xfrm>
          <a:prstGeom prst="roundRect">
            <a:avLst>
              <a:gd name="adj" fmla="val 2319"/>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Aethus  (plural: Aethae)</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An observer-indexed information state.</a:t>
            </a:r>
            <a:endParaRPr lang="en-US" sz="1300" dirty="0"/>
          </a:p>
          <a:p>
            <a:pPr indent="0" marL="0">
              <a:lnSpc>
                <a:spcPct val="112000"/>
              </a:lnSpc>
              <a:buNone/>
            </a:pPr>
            <a:endParaRPr lang="en-US" sz="1300" dirty="0"/>
          </a:p>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A deductively closed, partial assignment of answers to attributes.</a:t>
            </a:r>
            <a:endParaRPr lang="en-US" sz="1300" dirty="0"/>
          </a:p>
          <a:p>
            <a:pPr indent="0" marL="0">
              <a:lnSpc>
                <a:spcPct val="112000"/>
              </a:lnSpc>
              <a:buNone/>
            </a:pPr>
            <a:endParaRPr lang="en-US" sz="1300" dirty="0"/>
          </a:p>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Some attributes are stated. Some are blank. Determinacy is relative to it.</a:t>
            </a:r>
            <a:endParaRPr lang="en-US" sz="1300" dirty="0"/>
          </a:p>
          <a:p>
            <a:pPr indent="0" marL="0">
              <a:lnSpc>
                <a:spcPct val="112000"/>
              </a:lnSpc>
              <a:buNone/>
            </a:pPr>
            <a:endParaRPr lang="en-US" sz="1300" dirty="0"/>
          </a:p>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Not a mind. Not a wavefunction. A set of records, closed under what they entail — a counter's Aethus, a rock's, or yours.</a:t>
            </a:r>
            <a:endParaRPr lang="en-US" sz="1300" dirty="0"/>
          </a:p>
        </p:txBody>
      </p:sp>
      <p:sp>
        <p:nvSpPr>
          <p:cNvPr id="8" name="Shape 5"/>
          <p:cNvSpPr/>
          <p:nvPr/>
        </p:nvSpPr>
        <p:spPr>
          <a:xfrm>
            <a:off x="4754880" y="1280160"/>
            <a:ext cx="3931920" cy="1417320"/>
          </a:xfrm>
          <a:prstGeom prst="roundRect">
            <a:avLst>
              <a:gd name="adj" fmla="val 5161"/>
            </a:avLst>
          </a:prstGeom>
          <a:solidFill>
            <a:srgbClr val="F4F7FB"/>
          </a:solidFill>
          <a:ln w="12700">
            <a:solidFill>
              <a:srgbClr val="F4F7FB"/>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Stated attribute</a:t>
            </a:r>
            <a:endParaRPr lang="en-US" sz="1500" dirty="0"/>
          </a:p>
        </p:txBody>
      </p:sp>
      <p:sp>
        <p:nvSpPr>
          <p:cNvPr id="10" name="Text 7"/>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Aethus holds a record fixing its value. Determinate relative to it.</a:t>
            </a:r>
            <a:endParaRPr lang="en-US" sz="1250" dirty="0"/>
          </a:p>
        </p:txBody>
      </p:sp>
      <p:sp>
        <p:nvSpPr>
          <p:cNvPr id="11" name="Shape 8"/>
          <p:cNvSpPr/>
          <p:nvPr/>
        </p:nvSpPr>
        <p:spPr>
          <a:xfrm>
            <a:off x="4754880" y="2834640"/>
            <a:ext cx="3931920" cy="1600200"/>
          </a:xfrm>
          <a:prstGeom prst="roundRect">
            <a:avLst>
              <a:gd name="adj" fmla="val 4571"/>
            </a:avLst>
          </a:prstGeom>
          <a:solidFill>
            <a:srgbClr val="F4F7FB"/>
          </a:solidFill>
          <a:ln w="12700">
            <a:solidFill>
              <a:srgbClr val="F4F7FB"/>
            </a:solidFill>
            <a:prstDash val="solid"/>
          </a:ln>
        </p:spPr>
      </p:sp>
      <p:sp>
        <p:nvSpPr>
          <p:cNvPr id="12" name="Text 9"/>
          <p:cNvSpPr txBox="1"/>
          <p:nvPr/>
        </p:nvSpPr>
        <p:spPr>
          <a:xfrm>
            <a:off x="4937760" y="29718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Blank attribute</a:t>
            </a:r>
            <a:endParaRPr lang="en-US" sz="1500" dirty="0"/>
          </a:p>
        </p:txBody>
      </p:sp>
      <p:sp>
        <p:nvSpPr>
          <p:cNvPr id="13" name="Text 10"/>
          <p:cNvSpPr txBox="1"/>
          <p:nvPr/>
        </p:nvSpPr>
        <p:spPr>
          <a:xfrm>
            <a:off x="4937760" y="3364992"/>
            <a:ext cx="3566160" cy="9601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No record fixes it. Not unknown — open. What that means is the second postulate, and it is where quantum mechanics enters.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first postulate</a:t>
            </a:r>
            <a:endParaRPr lang="en-US" sz="2800" dirty="0"/>
          </a:p>
        </p:txBody>
      </p:sp>
      <p:sp>
        <p:nvSpPr>
          <p:cNvPr id="5" name="Shape 2"/>
          <p:cNvSpPr/>
          <p:nvPr/>
        </p:nvSpPr>
        <p:spPr>
          <a:xfrm>
            <a:off x="457200" y="1280160"/>
            <a:ext cx="8229600" cy="914400"/>
          </a:xfrm>
          <a:prstGeom prst="roundRect">
            <a:avLst>
              <a:gd name="adj" fmla="val 6000"/>
            </a:avLst>
          </a:prstGeom>
          <a:solidFill>
            <a:srgbClr val="FBE9E7"/>
          </a:solidFill>
          <a:ln w="12700">
            <a:solidFill>
              <a:srgbClr val="FBE9E7"/>
            </a:solidFill>
            <a:prstDash val="solid"/>
          </a:ln>
        </p:spPr>
      </p:sp>
      <p:sp>
        <p:nvSpPr>
          <p:cNvPr id="6" name="Text 3"/>
          <p:cNvSpPr txBox="1"/>
          <p:nvPr/>
        </p:nvSpPr>
        <p:spPr>
          <a:xfrm>
            <a:off x="640080" y="137160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First Postulate of the Aethus</a:t>
            </a:r>
            <a:endParaRPr lang="en-US" sz="1300" dirty="0"/>
          </a:p>
        </p:txBody>
      </p:sp>
      <p:sp>
        <p:nvSpPr>
          <p:cNvPr id="7" name="Text 4"/>
          <p:cNvSpPr txBox="1"/>
          <p:nvPr/>
        </p:nvSpPr>
        <p:spPr>
          <a:xfrm>
            <a:off x="640080" y="1664208"/>
            <a:ext cx="7863840" cy="457200"/>
          </a:xfrm>
          <a:prstGeom prst="rect">
            <a:avLst/>
          </a:prstGeom>
          <a:noFill/>
          <a:ln/>
        </p:spPr>
        <p:txBody>
          <a:bodyPr wrap="square" lIns="0" tIns="0" rIns="0" bIns="0" rtlCol="0" anchor="t"/>
          <a:lstStyle/>
          <a:p>
            <a:pPr indent="0" marL="0">
              <a:buNone/>
            </a:pPr>
            <a:r>
              <a:rPr lang="en-US" sz="1300" dirty="0">
                <a:solidFill>
                  <a:srgbClr val="1A2B45"/>
                </a:solidFill>
                <a:latin typeface="Calibri" pitchFamily="34" charset="0"/>
                <a:ea typeface="Calibri" pitchFamily="34" charset="-122"/>
                <a:cs typeface="Calibri" pitchFamily="34" charset="-120"/>
              </a:rPr>
              <a:t>Any attribution of reality is a statement of relation to a particular Aethus.</a:t>
            </a:r>
            <a:endParaRPr lang="en-US" sz="1300" dirty="0"/>
          </a:p>
        </p:txBody>
      </p:sp>
      <p:sp>
        <p:nvSpPr>
          <p:cNvPr id="8" name="Shape 5"/>
          <p:cNvSpPr/>
          <p:nvPr/>
        </p:nvSpPr>
        <p:spPr>
          <a:xfrm>
            <a:off x="457200" y="2377440"/>
            <a:ext cx="3931920" cy="2057400"/>
          </a:xfrm>
          <a:prstGeom prst="roundRect">
            <a:avLst>
              <a:gd name="adj" fmla="val 3556"/>
            </a:avLst>
          </a:prstGeom>
          <a:solidFill>
            <a:srgbClr val="F4F7FB"/>
          </a:solidFill>
          <a:ln w="12700">
            <a:solidFill>
              <a:srgbClr val="F4F7FB"/>
            </a:solidFill>
            <a:prstDash val="solid"/>
          </a:ln>
        </p:spPr>
      </p:sp>
      <p:sp>
        <p:nvSpPr>
          <p:cNvPr id="9" name="Text 6"/>
          <p:cNvSpPr txBox="1"/>
          <p:nvPr/>
        </p:nvSpPr>
        <p:spPr>
          <a:xfrm>
            <a:off x="64008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is indexed: content</a:t>
            </a:r>
            <a:endParaRPr lang="en-US" sz="1500" dirty="0"/>
          </a:p>
        </p:txBody>
      </p:sp>
      <p:sp>
        <p:nvSpPr>
          <p:cNvPr id="10" name="Text 7"/>
          <p:cNvSpPr txBox="1"/>
          <p:nvPr/>
        </p:nvSpPr>
        <p:spPr>
          <a:xfrm>
            <a:off x="64008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Every determinate value of a contingent attribute. There is no Aethus-free ledger of facts.</a:t>
            </a:r>
            <a:endParaRPr lang="en-US" sz="1250" dirty="0"/>
          </a:p>
        </p:txBody>
      </p:sp>
      <p:sp>
        <p:nvSpPr>
          <p:cNvPr id="11" name="Shape 8"/>
          <p:cNvSpPr/>
          <p:nvPr/>
        </p:nvSpPr>
        <p:spPr>
          <a:xfrm>
            <a:off x="4754880" y="2377440"/>
            <a:ext cx="3931920" cy="2057400"/>
          </a:xfrm>
          <a:prstGeom prst="roundRect">
            <a:avLst>
              <a:gd name="adj" fmla="val 3556"/>
            </a:avLst>
          </a:prstGeom>
          <a:solidFill>
            <a:srgbClr val="F4F7FB"/>
          </a:solidFill>
          <a:ln w="12700">
            <a:solidFill>
              <a:srgbClr val="F4F7FB"/>
            </a:solidFill>
            <a:prstDash val="solid"/>
          </a:ln>
        </p:spPr>
      </p:sp>
      <p:sp>
        <p:nvSpPr>
          <p:cNvPr id="12" name="Text 9"/>
          <p:cNvSpPr txBox="1"/>
          <p:nvPr/>
        </p:nvSpPr>
        <p:spPr>
          <a:xfrm>
            <a:off x="493776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is not: structure</a:t>
            </a:r>
            <a:endParaRPr lang="en-US" sz="1500" dirty="0"/>
          </a:p>
        </p:txBody>
      </p:sp>
      <p:sp>
        <p:nvSpPr>
          <p:cNvPr id="13" name="Text 10"/>
          <p:cNvSpPr txBox="1"/>
          <p:nvPr/>
        </p:nvSpPr>
        <p:spPr>
          <a:xfrm>
            <a:off x="493776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Which Aethae are valid, what weights attach, the rule from a detector configuration to its record partition. One grammar over all vantages — the grammar is not itself a vantage.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Learning is motion, not update</a:t>
            </a:r>
            <a:endParaRPr lang="en-US" sz="2800" dirty="0"/>
          </a:p>
        </p:txBody>
      </p:sp>
      <p:sp>
        <p:nvSpPr>
          <p:cNvPr id="5" name="Shape 2"/>
          <p:cNvSpPr/>
          <p:nvPr/>
        </p:nvSpPr>
        <p:spPr>
          <a:xfrm>
            <a:off x="457200" y="1371600"/>
            <a:ext cx="3566160" cy="1828800"/>
          </a:xfrm>
          <a:prstGeom prst="rect">
            <a:avLst/>
          </a:prstGeom>
          <a:solidFill>
            <a:srgbClr val="F4F7FB"/>
          </a:solidFill>
          <a:ln w="12700">
            <a:solidFill>
              <a:srgbClr val="0F1B2D"/>
            </a:solidFill>
            <a:prstDash val="solid"/>
          </a:ln>
        </p:spPr>
      </p:sp>
      <p:sp>
        <p:nvSpPr>
          <p:cNvPr id="6" name="Shape 3"/>
          <p:cNvSpPr/>
          <p:nvPr/>
        </p:nvSpPr>
        <p:spPr>
          <a:xfrm>
            <a:off x="1348740" y="1371600"/>
            <a:ext cx="914" cy="1828800"/>
          </a:xfrm>
          <a:prstGeom prst="line">
            <a:avLst/>
          </a:prstGeom>
          <a:noFill/>
          <a:ln w="9525">
            <a:solidFill>
              <a:srgbClr val="DCE8F5"/>
            </a:solidFill>
            <a:prstDash val="solid"/>
          </a:ln>
        </p:spPr>
      </p:sp>
      <p:sp>
        <p:nvSpPr>
          <p:cNvPr id="7" name="Shape 4"/>
          <p:cNvSpPr/>
          <p:nvPr/>
        </p:nvSpPr>
        <p:spPr>
          <a:xfrm>
            <a:off x="2240280" y="1371600"/>
            <a:ext cx="914" cy="1828800"/>
          </a:xfrm>
          <a:prstGeom prst="line">
            <a:avLst/>
          </a:prstGeom>
          <a:noFill/>
          <a:ln w="9525">
            <a:solidFill>
              <a:srgbClr val="DCE8F5"/>
            </a:solidFill>
            <a:prstDash val="solid"/>
          </a:ln>
        </p:spPr>
      </p:sp>
      <p:sp>
        <p:nvSpPr>
          <p:cNvPr id="8" name="Shape 5"/>
          <p:cNvSpPr/>
          <p:nvPr/>
        </p:nvSpPr>
        <p:spPr>
          <a:xfrm>
            <a:off x="3131820" y="1371600"/>
            <a:ext cx="914" cy="1828800"/>
          </a:xfrm>
          <a:prstGeom prst="line">
            <a:avLst/>
          </a:prstGeom>
          <a:noFill/>
          <a:ln w="9525">
            <a:solidFill>
              <a:srgbClr val="DCE8F5"/>
            </a:solidFill>
            <a:prstDash val="solid"/>
          </a:ln>
        </p:spPr>
      </p:sp>
      <p:sp>
        <p:nvSpPr>
          <p:cNvPr id="9" name="Shape 6"/>
          <p:cNvSpPr/>
          <p:nvPr/>
        </p:nvSpPr>
        <p:spPr>
          <a:xfrm>
            <a:off x="457200" y="1981200"/>
            <a:ext cx="3566160" cy="914"/>
          </a:xfrm>
          <a:prstGeom prst="line">
            <a:avLst/>
          </a:prstGeom>
          <a:noFill/>
          <a:ln w="9525">
            <a:solidFill>
              <a:srgbClr val="DCE8F5"/>
            </a:solidFill>
            <a:prstDash val="solid"/>
          </a:ln>
        </p:spPr>
      </p:sp>
      <p:sp>
        <p:nvSpPr>
          <p:cNvPr id="10" name="Shape 7"/>
          <p:cNvSpPr/>
          <p:nvPr/>
        </p:nvSpPr>
        <p:spPr>
          <a:xfrm>
            <a:off x="457200" y="2590800"/>
            <a:ext cx="3566160" cy="914"/>
          </a:xfrm>
          <a:prstGeom prst="line">
            <a:avLst/>
          </a:prstGeom>
          <a:noFill/>
          <a:ln w="9525">
            <a:solidFill>
              <a:srgbClr val="DCE8F5"/>
            </a:solidFill>
            <a:prstDash val="solid"/>
          </a:ln>
        </p:spPr>
      </p:sp>
      <p:sp>
        <p:nvSpPr>
          <p:cNvPr id="11" name="Text 8"/>
          <p:cNvSpPr txBox="1"/>
          <p:nvPr/>
        </p:nvSpPr>
        <p:spPr>
          <a:xfrm>
            <a:off x="457200" y="3246120"/>
            <a:ext cx="3566160" cy="274320"/>
          </a:xfrm>
          <a:prstGeom prst="rect">
            <a:avLst/>
          </a:prstGeom>
          <a:noFill/>
          <a:ln/>
        </p:spPr>
        <p:txBody>
          <a:bodyPr wrap="square" lIns="0" tIns="0" rIns="0" bIns="0" rtlCol="0" anchor="ctr"/>
          <a:lstStyle/>
          <a:p>
            <a:pPr algn="ctr" indent="0" marL="0">
              <a:buNone/>
            </a:pPr>
            <a:r>
              <a:rPr lang="en-US" sz="1050" dirty="0">
                <a:solidFill>
                  <a:srgbClr val="0F1B2D"/>
                </a:solidFill>
                <a:latin typeface="Calibri" pitchFamily="34" charset="0"/>
                <a:ea typeface="Calibri" pitchFamily="34" charset="-122"/>
                <a:cs typeface="Calibri" pitchFamily="34" charset="-120"/>
              </a:rPr>
              <a:t>Aethus A₁: the block, tenseless, fixed end to end</a:t>
            </a:r>
            <a:endParaRPr lang="en-US" sz="1050" dirty="0"/>
          </a:p>
        </p:txBody>
      </p:sp>
      <p:sp>
        <p:nvSpPr>
          <p:cNvPr id="12" name="Text 9"/>
          <p:cNvSpPr txBox="1"/>
          <p:nvPr/>
        </p:nvSpPr>
        <p:spPr>
          <a:xfrm>
            <a:off x="502920" y="2944368"/>
            <a:ext cx="731520" cy="228600"/>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time →</a:t>
            </a:r>
            <a:endParaRPr lang="en-US" sz="900" dirty="0"/>
          </a:p>
        </p:txBody>
      </p:sp>
      <p:sp>
        <p:nvSpPr>
          <p:cNvPr id="13" name="Shape 10"/>
          <p:cNvSpPr/>
          <p:nvPr/>
        </p:nvSpPr>
        <p:spPr>
          <a:xfrm>
            <a:off x="5120640" y="1371600"/>
            <a:ext cx="3566160" cy="1828800"/>
          </a:xfrm>
          <a:prstGeom prst="rect">
            <a:avLst/>
          </a:prstGeom>
          <a:solidFill>
            <a:srgbClr val="F4F7FB"/>
          </a:solidFill>
          <a:ln w="12700">
            <a:solidFill>
              <a:srgbClr val="0F1B2D"/>
            </a:solidFill>
            <a:prstDash val="solid"/>
          </a:ln>
        </p:spPr>
      </p:sp>
      <p:sp>
        <p:nvSpPr>
          <p:cNvPr id="14" name="Shape 11"/>
          <p:cNvSpPr/>
          <p:nvPr/>
        </p:nvSpPr>
        <p:spPr>
          <a:xfrm>
            <a:off x="6012180" y="1371600"/>
            <a:ext cx="914" cy="1828800"/>
          </a:xfrm>
          <a:prstGeom prst="line">
            <a:avLst/>
          </a:prstGeom>
          <a:noFill/>
          <a:ln w="9525">
            <a:solidFill>
              <a:srgbClr val="DCE8F5"/>
            </a:solidFill>
            <a:prstDash val="solid"/>
          </a:ln>
        </p:spPr>
      </p:sp>
      <p:sp>
        <p:nvSpPr>
          <p:cNvPr id="15" name="Shape 12"/>
          <p:cNvSpPr/>
          <p:nvPr/>
        </p:nvSpPr>
        <p:spPr>
          <a:xfrm>
            <a:off x="6903720" y="1371600"/>
            <a:ext cx="914" cy="1828800"/>
          </a:xfrm>
          <a:prstGeom prst="line">
            <a:avLst/>
          </a:prstGeom>
          <a:noFill/>
          <a:ln w="9525">
            <a:solidFill>
              <a:srgbClr val="DCE8F5"/>
            </a:solidFill>
            <a:prstDash val="solid"/>
          </a:ln>
        </p:spPr>
      </p:sp>
      <p:sp>
        <p:nvSpPr>
          <p:cNvPr id="16" name="Shape 13"/>
          <p:cNvSpPr/>
          <p:nvPr/>
        </p:nvSpPr>
        <p:spPr>
          <a:xfrm>
            <a:off x="7795260" y="1371600"/>
            <a:ext cx="914" cy="1828800"/>
          </a:xfrm>
          <a:prstGeom prst="line">
            <a:avLst/>
          </a:prstGeom>
          <a:noFill/>
          <a:ln w="9525">
            <a:solidFill>
              <a:srgbClr val="DCE8F5"/>
            </a:solidFill>
            <a:prstDash val="solid"/>
          </a:ln>
        </p:spPr>
      </p:sp>
      <p:sp>
        <p:nvSpPr>
          <p:cNvPr id="17" name="Shape 14"/>
          <p:cNvSpPr/>
          <p:nvPr/>
        </p:nvSpPr>
        <p:spPr>
          <a:xfrm>
            <a:off x="5120640" y="1981200"/>
            <a:ext cx="3566160" cy="914"/>
          </a:xfrm>
          <a:prstGeom prst="line">
            <a:avLst/>
          </a:prstGeom>
          <a:noFill/>
          <a:ln w="9525">
            <a:solidFill>
              <a:srgbClr val="DCE8F5"/>
            </a:solidFill>
            <a:prstDash val="solid"/>
          </a:ln>
        </p:spPr>
      </p:sp>
      <p:sp>
        <p:nvSpPr>
          <p:cNvPr id="18" name="Shape 15"/>
          <p:cNvSpPr/>
          <p:nvPr/>
        </p:nvSpPr>
        <p:spPr>
          <a:xfrm>
            <a:off x="5120640" y="2590800"/>
            <a:ext cx="3566160" cy="914"/>
          </a:xfrm>
          <a:prstGeom prst="line">
            <a:avLst/>
          </a:prstGeom>
          <a:noFill/>
          <a:ln w="9525">
            <a:solidFill>
              <a:srgbClr val="DCE8F5"/>
            </a:solidFill>
            <a:prstDash val="solid"/>
          </a:ln>
        </p:spPr>
      </p:sp>
      <p:sp>
        <p:nvSpPr>
          <p:cNvPr id="19" name="Text 16"/>
          <p:cNvSpPr txBox="1"/>
          <p:nvPr/>
        </p:nvSpPr>
        <p:spPr>
          <a:xfrm>
            <a:off x="5120640" y="3246120"/>
            <a:ext cx="3566160" cy="274320"/>
          </a:xfrm>
          <a:prstGeom prst="rect">
            <a:avLst/>
          </a:prstGeom>
          <a:noFill/>
          <a:ln/>
        </p:spPr>
        <p:txBody>
          <a:bodyPr wrap="square" lIns="0" tIns="0" rIns="0" bIns="0" rtlCol="0" anchor="ctr"/>
          <a:lstStyle/>
          <a:p>
            <a:pPr algn="ctr" indent="0" marL="0">
              <a:buNone/>
            </a:pPr>
            <a:r>
              <a:rPr lang="en-US" sz="1050" dirty="0">
                <a:solidFill>
                  <a:srgbClr val="0F1B2D"/>
                </a:solidFill>
                <a:latin typeface="Calibri" pitchFamily="34" charset="0"/>
                <a:ea typeface="Calibri" pitchFamily="34" charset="-122"/>
                <a:cs typeface="Calibri" pitchFamily="34" charset="-120"/>
              </a:rPr>
              <a:t>Aethus A₂: another block, also fixed</a:t>
            </a:r>
            <a:endParaRPr lang="en-US" sz="1050" dirty="0"/>
          </a:p>
        </p:txBody>
      </p:sp>
      <p:sp>
        <p:nvSpPr>
          <p:cNvPr id="20" name="Text 17"/>
          <p:cNvSpPr txBox="1"/>
          <p:nvPr/>
        </p:nvSpPr>
        <p:spPr>
          <a:xfrm>
            <a:off x="5166360" y="2944368"/>
            <a:ext cx="731520" cy="228600"/>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time →</a:t>
            </a:r>
            <a:endParaRPr lang="en-US" sz="900" dirty="0"/>
          </a:p>
        </p:txBody>
      </p:sp>
      <p:sp>
        <p:nvSpPr>
          <p:cNvPr id="21" name="Shape 18"/>
          <p:cNvSpPr/>
          <p:nvPr/>
        </p:nvSpPr>
        <p:spPr>
          <a:xfrm>
            <a:off x="4160520" y="2286000"/>
            <a:ext cx="822960" cy="914"/>
          </a:xfrm>
          <a:prstGeom prst="line">
            <a:avLst/>
          </a:prstGeom>
          <a:noFill/>
          <a:ln w="31750">
            <a:solidFill>
              <a:srgbClr val="E9A23B"/>
            </a:solidFill>
            <a:prstDash val="solid"/>
            <a:tailEnd type="triangle"/>
          </a:ln>
        </p:spPr>
      </p:sp>
      <p:sp>
        <p:nvSpPr>
          <p:cNvPr id="22" name="Text 19"/>
          <p:cNvSpPr txBox="1"/>
          <p:nvPr/>
        </p:nvSpPr>
        <p:spPr>
          <a:xfrm>
            <a:off x="4069080" y="1901952"/>
            <a:ext cx="1005840" cy="274320"/>
          </a:xfrm>
          <a:prstGeom prst="rect">
            <a:avLst/>
          </a:prstGeom>
          <a:noFill/>
          <a:ln/>
        </p:spPr>
        <p:txBody>
          <a:bodyPr wrap="square" lIns="0" tIns="0" rIns="0" bIns="0" rtlCol="0" anchor="ctr"/>
          <a:lstStyle/>
          <a:p>
            <a:pPr algn="ctr" indent="0" marL="0">
              <a:buNone/>
            </a:pPr>
            <a:r>
              <a:rPr lang="en-US" sz="1050" b="1" dirty="0">
                <a:solidFill>
                  <a:srgbClr val="E9A23B"/>
                </a:solidFill>
                <a:latin typeface="Calibri" pitchFamily="34" charset="0"/>
                <a:ea typeface="Calibri" pitchFamily="34" charset="-122"/>
                <a:cs typeface="Calibri" pitchFamily="34" charset="-120"/>
              </a:rPr>
              <a:t>becoming</a:t>
            </a:r>
            <a:endParaRPr lang="en-US" sz="1050" dirty="0"/>
          </a:p>
        </p:txBody>
      </p:sp>
      <p:sp>
        <p:nvSpPr>
          <p:cNvPr id="23" name="Text 20"/>
          <p:cNvSpPr txBox="1"/>
          <p:nvPr/>
        </p:nvSpPr>
        <p:spPr>
          <a:xfrm>
            <a:off x="457200" y="3657600"/>
            <a:ext cx="8229600" cy="822960"/>
          </a:xfrm>
          <a:prstGeom prst="rect">
            <a:avLst/>
          </a:prstGeom>
          <a:noFill/>
          <a:ln/>
        </p:spPr>
        <p:txBody>
          <a:bodyPr wrap="square" lIns="0" tIns="0" rIns="0" bIns="0" rtlCol="0" anchor="t"/>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“I'm next to a red car.” The ordinary picture: the car had a colour and you learned it. Here: relative to your Aethus the colour was open, and the call moved you to the Aethus in which the car was always red. Nothing about the car changed. Your index did.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Time: keep the B-theorist's block, keep the A-theorist's becoming, relocate</a:t>
            </a:r>
            <a:endParaRPr lang="en-US" sz="2800" dirty="0"/>
          </a:p>
        </p:txBody>
      </p:sp>
      <p:sp>
        <p:nvSpPr>
          <p:cNvPr id="5" name="Shape 2"/>
          <p:cNvSpPr/>
          <p:nvPr/>
        </p:nvSpPr>
        <p:spPr>
          <a:xfrm>
            <a:off x="457200" y="1280160"/>
            <a:ext cx="3931920" cy="1463040"/>
          </a:xfrm>
          <a:prstGeom prst="roundRect">
            <a:avLst>
              <a:gd name="adj" fmla="val 5000"/>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B-theory: the tenseless block</a:t>
            </a:r>
            <a:endParaRPr lang="en-US" sz="1500" dirty="0"/>
          </a:p>
        </p:txBody>
      </p:sp>
      <p:sp>
        <p:nvSpPr>
          <p:cNvPr id="7" name="Text 4"/>
          <p:cNvSpPr txBox="1"/>
          <p:nvPr/>
        </p:nvSpPr>
        <p:spPr>
          <a:xfrm>
            <a:off x="64008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Right that spacetime has no preferred present. Wrong that a tenseless block of determinate events is complete — that is a hidden-variables model, and Bell forbids it.</a:t>
            </a:r>
            <a:endParaRPr lang="en-US" sz="1200" dirty="0"/>
          </a:p>
        </p:txBody>
      </p:sp>
      <p:sp>
        <p:nvSpPr>
          <p:cNvPr id="8" name="Shape 5"/>
          <p:cNvSpPr/>
          <p:nvPr/>
        </p:nvSpPr>
        <p:spPr>
          <a:xfrm>
            <a:off x="4754880" y="1280160"/>
            <a:ext cx="3931920" cy="1463040"/>
          </a:xfrm>
          <a:prstGeom prst="roundRect">
            <a:avLst>
              <a:gd name="adj" fmla="val 5000"/>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A-theory: genuine becoming</a:t>
            </a:r>
            <a:endParaRPr lang="en-US" sz="1500" dirty="0"/>
          </a:p>
        </p:txBody>
      </p:sp>
      <p:sp>
        <p:nvSpPr>
          <p:cNvPr id="10" name="Text 7"/>
          <p:cNvSpPr txBox="1"/>
          <p:nvPr/>
        </p:nvSpPr>
        <p:spPr>
          <a:xfrm>
            <a:off x="493776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Right that becoming is real. Wrong about where: an objective moving present is what the relativity of simultaneity forbids (Rietdijk–Putnam).</a:t>
            </a:r>
            <a:endParaRPr lang="en-US" sz="1200" dirty="0"/>
          </a:p>
        </p:txBody>
      </p:sp>
      <p:sp>
        <p:nvSpPr>
          <p:cNvPr id="11" name="Shape 8"/>
          <p:cNvSpPr/>
          <p:nvPr/>
        </p:nvSpPr>
        <p:spPr>
          <a:xfrm>
            <a:off x="457200" y="2926080"/>
            <a:ext cx="8229600" cy="1508760"/>
          </a:xfrm>
          <a:prstGeom prst="roundRect">
            <a:avLst>
              <a:gd name="adj" fmla="val 4848"/>
            </a:avLst>
          </a:prstGeom>
          <a:solidFill>
            <a:srgbClr val="E9F3E4"/>
          </a:solidFill>
          <a:ln w="12700">
            <a:solidFill>
              <a:srgbClr val="E9F3E4"/>
            </a:solidFill>
            <a:prstDash val="solid"/>
          </a:ln>
        </p:spPr>
      </p:sp>
      <p:sp>
        <p:nvSpPr>
          <p:cNvPr id="12" name="Text 9"/>
          <p:cNvSpPr txBox="1"/>
          <p:nvPr/>
        </p:nvSpPr>
        <p:spPr>
          <a:xfrm>
            <a:off x="640080" y="306324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extrusion principle: relocation</a:t>
            </a:r>
            <a:endParaRPr lang="en-US" sz="1500" dirty="0"/>
          </a:p>
        </p:txBody>
      </p:sp>
      <p:sp>
        <p:nvSpPr>
          <p:cNvPr id="13" name="Text 10"/>
          <p:cNvSpPr txBox="1"/>
          <p:nvPr/>
        </p:nvSpPr>
        <p:spPr>
          <a:xfrm>
            <a:off x="640080" y="3456432"/>
            <a:ext cx="7863840" cy="8686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Becoming does not live within the block. It lives between blocks, as the sequence of an observer's Aethae — where there is no foliation to prefer and no geometry to contradict. Each block is tenseless and fixed; the A-series is the Markov chain that runs across them.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Blanks are open — and the past is too</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second postulate, why “unknown” is not an option, and delayed choice as the laboratory face.</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second postulate</a:t>
            </a:r>
            <a:endParaRPr lang="en-US" sz="2800" dirty="0"/>
          </a:p>
        </p:txBody>
      </p:sp>
      <p:sp>
        <p:nvSpPr>
          <p:cNvPr id="5" name="Shape 2"/>
          <p:cNvSpPr/>
          <p:nvPr/>
        </p:nvSpPr>
        <p:spPr>
          <a:xfrm>
            <a:off x="457200" y="1280160"/>
            <a:ext cx="8229600" cy="914400"/>
          </a:xfrm>
          <a:prstGeom prst="roundRect">
            <a:avLst>
              <a:gd name="adj" fmla="val 6000"/>
            </a:avLst>
          </a:prstGeom>
          <a:solidFill>
            <a:srgbClr val="E8F0FA"/>
          </a:solidFill>
          <a:ln w="12700">
            <a:solidFill>
              <a:srgbClr val="E8F0FA"/>
            </a:solidFill>
            <a:prstDash val="solid"/>
          </a:ln>
        </p:spPr>
      </p:sp>
      <p:sp>
        <p:nvSpPr>
          <p:cNvPr id="6" name="Text 3"/>
          <p:cNvSpPr txBox="1"/>
          <p:nvPr/>
        </p:nvSpPr>
        <p:spPr>
          <a:xfrm>
            <a:off x="640080" y="137160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Second Postulate of the Aethus</a:t>
            </a:r>
            <a:endParaRPr lang="en-US" sz="1300" dirty="0"/>
          </a:p>
        </p:txBody>
      </p:sp>
      <p:sp>
        <p:nvSpPr>
          <p:cNvPr id="7" name="Text 4"/>
          <p:cNvSpPr txBox="1"/>
          <p:nvPr/>
        </p:nvSpPr>
        <p:spPr>
          <a:xfrm>
            <a:off x="640080" y="1664208"/>
            <a:ext cx="7863840" cy="457200"/>
          </a:xfrm>
          <a:prstGeom prst="rect">
            <a:avLst/>
          </a:prstGeom>
          <a:noFill/>
          <a:ln/>
        </p:spPr>
        <p:txBody>
          <a:bodyPr wrap="square" lIns="0" tIns="0" rIns="0" bIns="0" rtlCol="0" anchor="t"/>
          <a:lstStyle/>
          <a:p>
            <a:pPr indent="0" marL="0">
              <a:buNone/>
            </a:pPr>
            <a:r>
              <a:rPr lang="en-US" sz="1300" dirty="0">
                <a:solidFill>
                  <a:srgbClr val="1A2B45"/>
                </a:solidFill>
                <a:latin typeface="Calibri" pitchFamily="34" charset="0"/>
                <a:ea typeface="Calibri" pitchFamily="34" charset="-122"/>
                <a:cs typeface="Calibri" pitchFamily="34" charset="-120"/>
              </a:rPr>
              <a:t>If an Aethus is valid, then any given attribute will be in Aethic superposition relative to it if and only if it is nonpresent to it.</a:t>
            </a:r>
            <a:endParaRPr lang="en-US" sz="1300" dirty="0"/>
          </a:p>
        </p:txBody>
      </p:sp>
      <p:sp>
        <p:nvSpPr>
          <p:cNvPr id="8" name="Shape 5"/>
          <p:cNvSpPr/>
          <p:nvPr/>
        </p:nvSpPr>
        <p:spPr>
          <a:xfrm>
            <a:off x="457200" y="2377440"/>
            <a:ext cx="3931920" cy="2057400"/>
          </a:xfrm>
          <a:prstGeom prst="roundRect">
            <a:avLst>
              <a:gd name="adj" fmla="val 3556"/>
            </a:avLst>
          </a:prstGeom>
          <a:solidFill>
            <a:srgbClr val="F4F7FB"/>
          </a:solidFill>
          <a:ln w="12700">
            <a:solidFill>
              <a:srgbClr val="F4F7FB"/>
            </a:solidFill>
            <a:prstDash val="solid"/>
          </a:ln>
        </p:spPr>
      </p:sp>
      <p:sp>
        <p:nvSpPr>
          <p:cNvPr id="9" name="Text 6"/>
          <p:cNvSpPr txBox="1"/>
          <p:nvPr/>
        </p:nvSpPr>
        <p:spPr>
          <a:xfrm>
            <a:off x="64008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Constructive, not epistemic</a:t>
            </a:r>
            <a:endParaRPr lang="en-US" sz="1500" dirty="0"/>
          </a:p>
        </p:txBody>
      </p:sp>
      <p:sp>
        <p:nvSpPr>
          <p:cNvPr id="10" name="Text 7"/>
          <p:cNvSpPr txBox="1"/>
          <p:nvPr/>
        </p:nvSpPr>
        <p:spPr>
          <a:xfrm>
            <a:off x="64008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 blank is not a determinate value you happen not to know. It is an open superposition over the attribute's answer space, relative to the Aethus.</a:t>
            </a:r>
            <a:endParaRPr lang="en-US" sz="1250" dirty="0"/>
          </a:p>
        </p:txBody>
      </p:sp>
      <p:sp>
        <p:nvSpPr>
          <p:cNvPr id="11" name="Shape 8"/>
          <p:cNvSpPr/>
          <p:nvPr/>
        </p:nvSpPr>
        <p:spPr>
          <a:xfrm>
            <a:off x="4754880" y="2377440"/>
            <a:ext cx="3931920" cy="2057400"/>
          </a:xfrm>
          <a:prstGeom prst="roundRect">
            <a:avLst>
              <a:gd name="adj" fmla="val 3556"/>
            </a:avLst>
          </a:prstGeom>
          <a:solidFill>
            <a:srgbClr val="F4F7FB"/>
          </a:solidFill>
          <a:ln w="12700">
            <a:solidFill>
              <a:srgbClr val="F4F7FB"/>
            </a:solidFill>
            <a:prstDash val="solid"/>
          </a:ln>
        </p:spPr>
      </p:sp>
      <p:sp>
        <p:nvSpPr>
          <p:cNvPr id="12" name="Text 9"/>
          <p:cNvSpPr txBox="1"/>
          <p:nvPr/>
        </p:nvSpPr>
        <p:spPr>
          <a:xfrm>
            <a:off x="493776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Tense-free</a:t>
            </a:r>
            <a:endParaRPr lang="en-US" sz="1500" dirty="0"/>
          </a:p>
        </p:txBody>
      </p:sp>
      <p:sp>
        <p:nvSpPr>
          <p:cNvPr id="13" name="Text 10"/>
          <p:cNvSpPr txBox="1"/>
          <p:nvPr/>
        </p:nvSpPr>
        <p:spPr>
          <a:xfrm>
            <a:off x="493776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attribute's position along the block's time is not something the postulate reads. An unlearned past is exactly as open as an unformed future.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Why “determinate but unknown” fails: the Deflation Reductio</a:t>
            </a:r>
            <a:endParaRPr lang="en-US" sz="2800" dirty="0"/>
          </a:p>
        </p:txBody>
      </p:sp>
      <p:sp>
        <p:nvSpPr>
          <p:cNvPr id="5" name="Shape 2"/>
          <p:cNvSpPr/>
          <p:nvPr/>
        </p:nvSpPr>
        <p:spPr>
          <a:xfrm>
            <a:off x="457200" y="1353312"/>
            <a:ext cx="411480" cy="411480"/>
          </a:xfrm>
          <a:prstGeom prst="ellipse">
            <a:avLst/>
          </a:prstGeom>
          <a:solidFill>
            <a:srgbClr val="0F1B2D"/>
          </a:solidFill>
          <a:ln w="12700">
            <a:solidFill>
              <a:srgbClr val="0F1B2D"/>
            </a:solidFill>
            <a:prstDash val="solid"/>
          </a:ln>
        </p:spPr>
      </p:sp>
      <p:sp>
        <p:nvSpPr>
          <p:cNvPr id="6" name="Text 3"/>
          <p:cNvSpPr txBox="1"/>
          <p:nvPr/>
        </p:nvSpPr>
        <p:spPr>
          <a:xfrm>
            <a:off x="457200" y="13533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051560" y="12801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Assume every blank hides a determinate value the Aethus lacks.</a:t>
            </a:r>
            <a:endParaRPr lang="en-US" sz="1400" dirty="0"/>
          </a:p>
        </p:txBody>
      </p:sp>
      <p:sp>
        <p:nvSpPr>
          <p:cNvPr id="8" name="Shape 5"/>
          <p:cNvSpPr/>
          <p:nvPr/>
        </p:nvSpPr>
        <p:spPr>
          <a:xfrm>
            <a:off x="457200" y="2039112"/>
            <a:ext cx="411480" cy="411480"/>
          </a:xfrm>
          <a:prstGeom prst="ellipse">
            <a:avLst/>
          </a:prstGeom>
          <a:solidFill>
            <a:srgbClr val="0F1B2D"/>
          </a:solidFill>
          <a:ln w="12700">
            <a:solidFill>
              <a:srgbClr val="0F1B2D"/>
            </a:solidFill>
            <a:prstDash val="solid"/>
          </a:ln>
        </p:spPr>
      </p:sp>
      <p:sp>
        <p:nvSpPr>
          <p:cNvPr id="9" name="Text 6"/>
          <p:cNvSpPr txBox="1"/>
          <p:nvPr/>
        </p:nvSpPr>
        <p:spPr>
          <a:xfrm>
            <a:off x="457200" y="20391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1051560" y="19659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Then the Aethus's blanks jointly define one sample space over all attributes.</a:t>
            </a:r>
            <a:endParaRPr lang="en-US" sz="1400" dirty="0"/>
          </a:p>
        </p:txBody>
      </p:sp>
      <p:sp>
        <p:nvSpPr>
          <p:cNvPr id="11" name="Shape 8"/>
          <p:cNvSpPr/>
          <p:nvPr/>
        </p:nvSpPr>
        <p:spPr>
          <a:xfrm>
            <a:off x="457200" y="2724912"/>
            <a:ext cx="411480" cy="411480"/>
          </a:xfrm>
          <a:prstGeom prst="ellipse">
            <a:avLst/>
          </a:prstGeom>
          <a:solidFill>
            <a:srgbClr val="0F1B2D"/>
          </a:solidFill>
          <a:ln w="12700">
            <a:solidFill>
              <a:srgbClr val="0F1B2D"/>
            </a:solidFill>
            <a:prstDash val="solid"/>
          </a:ln>
        </p:spPr>
      </p:sp>
      <p:sp>
        <p:nvSpPr>
          <p:cNvPr id="12" name="Text 9"/>
          <p:cNvSpPr txBox="1"/>
          <p:nvPr/>
        </p:nvSpPr>
        <p:spPr>
          <a:xfrm>
            <a:off x="457200" y="27249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0"/>
          <p:cNvSpPr txBox="1"/>
          <p:nvPr/>
        </p:nvSpPr>
        <p:spPr>
          <a:xfrm>
            <a:off x="1051560" y="26517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Bell-violating statistics admit no single sample space (Boole–Fine–Pitowsky).</a:t>
            </a:r>
            <a:endParaRPr lang="en-US" sz="1400" dirty="0"/>
          </a:p>
        </p:txBody>
      </p:sp>
      <p:sp>
        <p:nvSpPr>
          <p:cNvPr id="14" name="Shape 11"/>
          <p:cNvSpPr/>
          <p:nvPr/>
        </p:nvSpPr>
        <p:spPr>
          <a:xfrm>
            <a:off x="457200" y="3410712"/>
            <a:ext cx="411480" cy="411480"/>
          </a:xfrm>
          <a:prstGeom prst="ellipse">
            <a:avLst/>
          </a:prstGeom>
          <a:solidFill>
            <a:srgbClr val="C8553D"/>
          </a:solidFill>
          <a:ln w="12700">
            <a:solidFill>
              <a:srgbClr val="C8553D"/>
            </a:solidFill>
            <a:prstDash val="solid"/>
          </a:ln>
        </p:spPr>
      </p:sp>
      <p:sp>
        <p:nvSpPr>
          <p:cNvPr id="15" name="Text 12"/>
          <p:cNvSpPr txBox="1"/>
          <p:nvPr/>
        </p:nvSpPr>
        <p:spPr>
          <a:xfrm>
            <a:off x="457200" y="34107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3"/>
          <p:cNvSpPr txBox="1"/>
          <p:nvPr/>
        </p:nvSpPr>
        <p:spPr>
          <a:xfrm>
            <a:off x="1051560" y="33375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So the deflation fails wherever the statistics exceed the classical bounds — and is harmless where they don't.</a:t>
            </a:r>
            <a:endParaRPr lang="en-US" sz="1400" dirty="0"/>
          </a:p>
        </p:txBody>
      </p:sp>
      <p:sp>
        <p:nvSpPr>
          <p:cNvPr id="17" name="Shape 14"/>
          <p:cNvSpPr/>
          <p:nvPr/>
        </p:nvSpPr>
        <p:spPr>
          <a:xfrm>
            <a:off x="457200" y="4069080"/>
            <a:ext cx="8229600" cy="457200"/>
          </a:xfrm>
          <a:prstGeom prst="roundRect">
            <a:avLst>
              <a:gd name="adj" fmla="val 16000"/>
            </a:avLst>
          </a:prstGeom>
          <a:solidFill>
            <a:srgbClr val="FCF3E0"/>
          </a:solidFill>
          <a:ln w="12700">
            <a:solidFill>
              <a:srgbClr val="FCF3E0"/>
            </a:solidFill>
            <a:prstDash val="solid"/>
          </a:ln>
        </p:spPr>
      </p:sp>
      <p:sp>
        <p:nvSpPr>
          <p:cNvPr id="18" name="Text 15"/>
          <p:cNvSpPr txBox="1"/>
          <p:nvPr/>
        </p:nvSpPr>
        <p:spPr>
          <a:xfrm>
            <a:off x="640080" y="4206240"/>
            <a:ext cx="7863840" cy="1828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Blanks are constructive because the alternative is a valuation Bell already killed.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past fans out exactly as the future does</a:t>
            </a:r>
            <a:endParaRPr lang="en-US" sz="2800" dirty="0"/>
          </a:p>
        </p:txBody>
      </p:sp>
      <p:sp>
        <p:nvSpPr>
          <p:cNvPr id="5" name="Shape 2"/>
          <p:cNvSpPr/>
          <p:nvPr/>
        </p:nvSpPr>
        <p:spPr>
          <a:xfrm>
            <a:off x="457200" y="1280160"/>
            <a:ext cx="3931920" cy="1463040"/>
          </a:xfrm>
          <a:prstGeom prst="roundRect">
            <a:avLst>
              <a:gd name="adj" fmla="val 5000"/>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Consequence 1</a:t>
            </a:r>
            <a:endParaRPr lang="en-US" sz="1500" dirty="0"/>
          </a:p>
        </p:txBody>
      </p:sp>
      <p:sp>
        <p:nvSpPr>
          <p:cNvPr id="7" name="Text 4"/>
          <p:cNvSpPr txBox="1"/>
          <p:nvPr/>
        </p:nvSpPr>
        <p:spPr>
          <a:xfrm>
            <a:off x="64008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 past attribute with no surviving record is constructively open — the Record-Individuation Lemma: a value fixed in no Aethus ever is not a value.</a:t>
            </a:r>
            <a:endParaRPr lang="en-US" sz="1200" dirty="0"/>
          </a:p>
        </p:txBody>
      </p:sp>
      <p:sp>
        <p:nvSpPr>
          <p:cNvPr id="8" name="Shape 5"/>
          <p:cNvSpPr/>
          <p:nvPr/>
        </p:nvSpPr>
        <p:spPr>
          <a:xfrm>
            <a:off x="4754880" y="1280160"/>
            <a:ext cx="3931920" cy="1463040"/>
          </a:xfrm>
          <a:prstGeom prst="roundRect">
            <a:avLst>
              <a:gd name="adj" fmla="val 5000"/>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Consequence 2</a:t>
            </a:r>
            <a:endParaRPr lang="en-US" sz="1500" dirty="0"/>
          </a:p>
        </p:txBody>
      </p:sp>
      <p:sp>
        <p:nvSpPr>
          <p:cNvPr id="10" name="Text 7"/>
          <p:cNvSpPr txBox="1"/>
          <p:nvPr/>
        </p:nvSpPr>
        <p:spPr>
          <a:xfrm>
            <a:off x="493776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Knowledge is one operation regardless of tense. Nothing acts backward along the block, because nothing acts along the block at all.</a:t>
            </a:r>
            <a:endParaRPr lang="en-US" sz="1200" dirty="0"/>
          </a:p>
        </p:txBody>
      </p:sp>
      <p:sp>
        <p:nvSpPr>
          <p:cNvPr id="11" name="Shape 8"/>
          <p:cNvSpPr/>
          <p:nvPr/>
        </p:nvSpPr>
        <p:spPr>
          <a:xfrm>
            <a:off x="457200" y="2926080"/>
            <a:ext cx="8229600" cy="1508760"/>
          </a:xfrm>
          <a:prstGeom prst="roundRect">
            <a:avLst>
              <a:gd name="adj" fmla="val 4848"/>
            </a:avLst>
          </a:prstGeom>
          <a:solidFill>
            <a:srgbClr val="FCF3E0"/>
          </a:solidFill>
          <a:ln w="12700">
            <a:solidFill>
              <a:srgbClr val="FCF3E0"/>
            </a:solidFill>
            <a:prstDash val="solid"/>
          </a:ln>
        </p:spPr>
      </p:sp>
      <p:sp>
        <p:nvSpPr>
          <p:cNvPr id="12" name="Text 9"/>
          <p:cNvSpPr txBox="1"/>
          <p:nvPr/>
        </p:nvSpPr>
        <p:spPr>
          <a:xfrm>
            <a:off x="640080" y="306324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instrument: delayed choice</a:t>
            </a:r>
            <a:endParaRPr lang="en-US" sz="1500" dirty="0"/>
          </a:p>
        </p:txBody>
      </p:sp>
      <p:sp>
        <p:nvSpPr>
          <p:cNvPr id="13" name="Text 10"/>
          <p:cNvSpPr txBox="1"/>
          <p:nvPr/>
        </p:nvSpPr>
        <p:spPr>
          <a:xfrm>
            <a:off x="640080" y="3456432"/>
            <a:ext cx="7863840" cy="8686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Decide after the photon has passed the slits whether a which-path record will exist. The pattern obeys the record configuration of the whole block. “Retrocausation” is the story you must tell if the block is indexed slice by slice. It is indexed whole.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IV</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Exclusion is an achievement: the union principle</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Jointness is primitive; walls are written by records; the double slit re-read.</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union principle</a:t>
            </a:r>
            <a:endParaRPr lang="en-US" sz="2800" dirty="0"/>
          </a:p>
        </p:txBody>
      </p:sp>
      <p:sp>
        <p:nvSpPr>
          <p:cNvPr id="5" name="Shape 2"/>
          <p:cNvSpPr/>
          <p:nvPr/>
        </p:nvSpPr>
        <p:spPr>
          <a:xfrm>
            <a:off x="457200" y="1280160"/>
            <a:ext cx="8229600" cy="1005840"/>
          </a:xfrm>
          <a:prstGeom prst="roundRect">
            <a:avLst>
              <a:gd name="adj" fmla="val 5455"/>
            </a:avLst>
          </a:prstGeom>
          <a:solidFill>
            <a:srgbClr val="FCF3E0"/>
          </a:solidFill>
          <a:ln w="12700">
            <a:solidFill>
              <a:srgbClr val="FCF3E0"/>
            </a:solidFill>
            <a:prstDash val="solid"/>
          </a:ln>
        </p:spPr>
      </p:sp>
      <p:sp>
        <p:nvSpPr>
          <p:cNvPr id="6" name="Text 3"/>
          <p:cNvSpPr txBox="1"/>
          <p:nvPr/>
        </p:nvSpPr>
        <p:spPr>
          <a:xfrm>
            <a:off x="640080" y="137160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The Aethic Union Principle</a:t>
            </a:r>
            <a:endParaRPr lang="en-US" sz="1300" dirty="0"/>
          </a:p>
        </p:txBody>
      </p:sp>
      <p:sp>
        <p:nvSpPr>
          <p:cNvPr id="7" name="Text 4"/>
          <p:cNvSpPr txBox="1"/>
          <p:nvPr/>
        </p:nvSpPr>
        <p:spPr>
          <a:xfrm>
            <a:off x="640080" y="1664208"/>
            <a:ext cx="7863840" cy="548640"/>
          </a:xfrm>
          <a:prstGeom prst="rect">
            <a:avLst/>
          </a:prstGeom>
          <a:noFill/>
          <a:ln/>
        </p:spPr>
        <p:txBody>
          <a:bodyPr wrap="square" lIns="0" tIns="0" rIns="0" bIns="0" rtlCol="0" anchor="t"/>
          <a:lstStyle/>
          <a:p>
            <a:pPr indent="0" marL="0">
              <a:buNone/>
            </a:pPr>
            <a:r>
              <a:rPr lang="en-US" sz="1300" dirty="0">
                <a:solidFill>
                  <a:srgbClr val="1A2B45"/>
                </a:solidFill>
                <a:latin typeface="Calibri" pitchFamily="34" charset="0"/>
                <a:ea typeface="Calibri" pitchFamily="34" charset="-122"/>
                <a:cs typeface="Calibri" pitchFamily="34" charset="-120"/>
              </a:rPr>
              <a:t>Jointness is primitive and exclusion is an achievement. A classical or is a jointness whose alternatives carry declared mutual exclusions; a superposition is a jointness whose alternatives do not; the difference is written in the alternatives, not in the logic that composes them.</a:t>
            </a:r>
            <a:endParaRPr lang="en-US" sz="1300" dirty="0"/>
          </a:p>
        </p:txBody>
      </p:sp>
      <p:sp>
        <p:nvSpPr>
          <p:cNvPr id="8" name="Shape 5"/>
          <p:cNvSpPr/>
          <p:nvPr/>
        </p:nvSpPr>
        <p:spPr>
          <a:xfrm>
            <a:off x="457200" y="2514600"/>
            <a:ext cx="3977640" cy="1920240"/>
          </a:xfrm>
          <a:prstGeom prst="roundRect">
            <a:avLst>
              <a:gd name="adj" fmla="val 3810"/>
            </a:avLst>
          </a:prstGeom>
          <a:solidFill>
            <a:srgbClr val="F4F7FB"/>
          </a:solidFill>
          <a:ln w="12700">
            <a:solidFill>
              <a:srgbClr val="F4F7FB"/>
            </a:solidFill>
            <a:prstDash val="solid"/>
          </a:ln>
        </p:spPr>
      </p:sp>
      <p:sp>
        <p:nvSpPr>
          <p:cNvPr id="9" name="Shape 6"/>
          <p:cNvSpPr/>
          <p:nvPr/>
        </p:nvSpPr>
        <p:spPr>
          <a:xfrm>
            <a:off x="4709160" y="2514600"/>
            <a:ext cx="3977640" cy="1920240"/>
          </a:xfrm>
          <a:prstGeom prst="roundRect">
            <a:avLst>
              <a:gd name="adj" fmla="val 3810"/>
            </a:avLst>
          </a:prstGeom>
          <a:solidFill>
            <a:srgbClr val="F4F7FB"/>
          </a:solidFill>
          <a:ln w="12700">
            <a:solidFill>
              <a:srgbClr val="F4F7FB"/>
            </a:solidFill>
            <a:prstDash val="solid"/>
          </a:ln>
        </p:spPr>
      </p:sp>
      <p:sp>
        <p:nvSpPr>
          <p:cNvPr id="10" name="Shape 7"/>
          <p:cNvSpPr/>
          <p:nvPr/>
        </p:nvSpPr>
        <p:spPr>
          <a:xfrm>
            <a:off x="1773936" y="3028493"/>
            <a:ext cx="1075334" cy="1075334"/>
          </a:xfrm>
          <a:prstGeom prst="ellipse">
            <a:avLst/>
          </a:prstGeom>
          <a:solidFill>
            <a:srgbClr val="2A9D8F">
              <a:alpha val="55000"/>
            </a:srgbClr>
          </a:solidFill>
          <a:ln w="12700">
            <a:solidFill>
              <a:srgbClr val="2A9D8F"/>
            </a:solidFill>
            <a:prstDash val="solid"/>
          </a:ln>
        </p:spPr>
      </p:sp>
      <p:sp>
        <p:nvSpPr>
          <p:cNvPr id="11" name="Shape 8"/>
          <p:cNvSpPr/>
          <p:nvPr/>
        </p:nvSpPr>
        <p:spPr>
          <a:xfrm>
            <a:off x="2311603" y="3028493"/>
            <a:ext cx="1075334" cy="1075334"/>
          </a:xfrm>
          <a:prstGeom prst="ellipse">
            <a:avLst/>
          </a:prstGeom>
          <a:solidFill>
            <a:srgbClr val="2A9D8F">
              <a:alpha val="55000"/>
            </a:srgbClr>
          </a:solidFill>
          <a:ln w="12700">
            <a:solidFill>
              <a:srgbClr val="2A9D8F"/>
            </a:solidFill>
            <a:prstDash val="solid"/>
          </a:ln>
        </p:spPr>
      </p:sp>
      <p:sp>
        <p:nvSpPr>
          <p:cNvPr id="12" name="Shape 9"/>
          <p:cNvSpPr/>
          <p:nvPr/>
        </p:nvSpPr>
        <p:spPr>
          <a:xfrm>
            <a:off x="5568879" y="3028493"/>
            <a:ext cx="1075334" cy="1075334"/>
          </a:xfrm>
          <a:prstGeom prst="ellipse">
            <a:avLst/>
          </a:prstGeom>
          <a:solidFill>
            <a:srgbClr val="0F1B2D">
              <a:alpha val="70000"/>
            </a:srgbClr>
          </a:solidFill>
          <a:ln w="12700">
            <a:solidFill>
              <a:srgbClr val="0F1B2D"/>
            </a:solidFill>
            <a:prstDash val="solid"/>
          </a:ln>
        </p:spPr>
      </p:sp>
      <p:sp>
        <p:nvSpPr>
          <p:cNvPr id="13" name="Shape 10"/>
          <p:cNvSpPr/>
          <p:nvPr/>
        </p:nvSpPr>
        <p:spPr>
          <a:xfrm>
            <a:off x="6751747" y="3028493"/>
            <a:ext cx="1075334" cy="1075334"/>
          </a:xfrm>
          <a:prstGeom prst="ellipse">
            <a:avLst/>
          </a:prstGeom>
          <a:solidFill>
            <a:srgbClr val="0F1B2D">
              <a:alpha val="70000"/>
            </a:srgbClr>
          </a:solidFill>
          <a:ln w="12700">
            <a:solidFill>
              <a:srgbClr val="0F1B2D"/>
            </a:solidFill>
            <a:prstDash val="solid"/>
          </a:ln>
        </p:spPr>
      </p:sp>
      <p:sp>
        <p:nvSpPr>
          <p:cNvPr id="14" name="Shape 11"/>
          <p:cNvSpPr/>
          <p:nvPr/>
        </p:nvSpPr>
        <p:spPr>
          <a:xfrm>
            <a:off x="6665976" y="2891333"/>
            <a:ext cx="64008" cy="1349654"/>
          </a:xfrm>
          <a:prstGeom prst="rect">
            <a:avLst/>
          </a:prstGeom>
          <a:solidFill>
            <a:srgbClr val="C8553D"/>
          </a:solidFill>
          <a:ln w="12700">
            <a:solidFill>
              <a:srgbClr val="C8553D"/>
            </a:solidFill>
            <a:prstDash val="solid"/>
          </a:ln>
        </p:spPr>
      </p:sp>
      <p:sp>
        <p:nvSpPr>
          <p:cNvPr id="15" name="Text 12"/>
          <p:cNvSpPr txBox="1"/>
          <p:nvPr/>
        </p:nvSpPr>
        <p:spPr>
          <a:xfrm>
            <a:off x="457200" y="2624328"/>
            <a:ext cx="3977640" cy="274320"/>
          </a:xfrm>
          <a:prstGeom prst="rect">
            <a:avLst/>
          </a:prstGeom>
          <a:noFill/>
          <a:ln/>
        </p:spPr>
        <p:txBody>
          <a:bodyPr wrap="square" lIns="0" tIns="0" rIns="0" bIns="0" rtlCol="0" anchor="ctr"/>
          <a:lstStyle/>
          <a:p>
            <a:pPr algn="ctr" indent="0" marL="0">
              <a:buNone/>
            </a:pPr>
            <a:r>
              <a:rPr lang="en-US" sz="1050" b="1" spc="200" kern="0" dirty="0">
                <a:solidFill>
                  <a:srgbClr val="2A9D8F"/>
                </a:solidFill>
                <a:latin typeface="Calibri" pitchFamily="34" charset="0"/>
                <a:ea typeface="Calibri" pitchFamily="34" charset="-122"/>
                <a:cs typeface="Calibri" pitchFamily="34" charset="-120"/>
              </a:rPr>
              <a:t>AGREEING</a:t>
            </a:r>
            <a:endParaRPr lang="en-US" sz="1050" dirty="0"/>
          </a:p>
        </p:txBody>
      </p:sp>
      <p:sp>
        <p:nvSpPr>
          <p:cNvPr id="16" name="Text 13"/>
          <p:cNvSpPr txBox="1"/>
          <p:nvPr/>
        </p:nvSpPr>
        <p:spPr>
          <a:xfrm>
            <a:off x="4709160" y="2624328"/>
            <a:ext cx="3977640" cy="274320"/>
          </a:xfrm>
          <a:prstGeom prst="rect">
            <a:avLst/>
          </a:prstGeom>
          <a:noFill/>
          <a:ln/>
        </p:spPr>
        <p:txBody>
          <a:bodyPr wrap="square" lIns="0" tIns="0" rIns="0" bIns="0" rtlCol="0" anchor="ctr"/>
          <a:lstStyle/>
          <a:p>
            <a:pPr algn="ctr" indent="0" marL="0">
              <a:buNone/>
            </a:pPr>
            <a:r>
              <a:rPr lang="en-US" sz="1050" b="1" spc="200" kern="0" dirty="0">
                <a:solidFill>
                  <a:srgbClr val="0F1B2D"/>
                </a:solidFill>
                <a:latin typeface="Calibri" pitchFamily="34" charset="0"/>
                <a:ea typeface="Calibri" pitchFamily="34" charset="-122"/>
                <a:cs typeface="Calibri" pitchFamily="34" charset="-120"/>
              </a:rPr>
              <a:t>DISAGREEING</a:t>
            </a:r>
            <a:endParaRPr lang="en-US" sz="1050" dirty="0"/>
          </a:p>
        </p:txBody>
      </p:sp>
      <p:sp>
        <p:nvSpPr>
          <p:cNvPr id="17" name="Text 14"/>
          <p:cNvSpPr txBox="1"/>
          <p:nvPr/>
        </p:nvSpPr>
        <p:spPr>
          <a:xfrm>
            <a:off x="457200" y="4023360"/>
            <a:ext cx="3977640" cy="320040"/>
          </a:xfrm>
          <a:prstGeom prst="rect">
            <a:avLst/>
          </a:prstGeom>
          <a:noFill/>
          <a:ln/>
        </p:spPr>
        <p:txBody>
          <a:bodyPr wrap="square" lIns="0" tIns="0" rIns="0" bIns="0" rtlCol="0" anchor="ctr"/>
          <a:lstStyle/>
          <a:p>
            <a:pPr algn="ctr" indent="0" marL="0">
              <a:buNone/>
            </a:pPr>
            <a:r>
              <a:rPr lang="en-US" sz="1050" dirty="0">
                <a:solidFill>
                  <a:srgbClr val="1A2B45"/>
                </a:solidFill>
                <a:latin typeface="Calibri" pitchFamily="34" charset="0"/>
                <a:ea typeface="Calibri" pitchFamily="34" charset="-122"/>
                <a:cs typeface="Calibri" pitchFamily="34" charset="-120"/>
              </a:rPr>
              <a:t>no record separates them — amplitudes add</a:t>
            </a:r>
            <a:endParaRPr lang="en-US" sz="1050" dirty="0"/>
          </a:p>
        </p:txBody>
      </p:sp>
      <p:sp>
        <p:nvSpPr>
          <p:cNvPr id="18" name="Text 15"/>
          <p:cNvSpPr txBox="1"/>
          <p:nvPr/>
        </p:nvSpPr>
        <p:spPr>
          <a:xfrm>
            <a:off x="4709160" y="4023360"/>
            <a:ext cx="3977640" cy="320040"/>
          </a:xfrm>
          <a:prstGeom prst="rect">
            <a:avLst/>
          </a:prstGeom>
          <a:noFill/>
          <a:ln/>
        </p:spPr>
        <p:txBody>
          <a:bodyPr wrap="square" lIns="0" tIns="0" rIns="0" bIns="0" rtlCol="0" anchor="ctr"/>
          <a:lstStyle/>
          <a:p>
            <a:pPr algn="ctr" indent="0" marL="0">
              <a:buNone/>
            </a:pPr>
            <a:r>
              <a:rPr lang="en-US" sz="1050" dirty="0">
                <a:solidFill>
                  <a:srgbClr val="1A2B45"/>
                </a:solidFill>
                <a:latin typeface="Calibri" pitchFamily="34" charset="0"/>
                <a:ea typeface="Calibri" pitchFamily="34" charset="-122"/>
                <a:cs typeface="Calibri" pitchFamily="34" charset="-120"/>
              </a:rPr>
              <a:t>a record writes the wall — weights add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double slit, re-read</a:t>
            </a:r>
            <a:endParaRPr lang="en-US" sz="2800" dirty="0"/>
          </a:p>
        </p:txBody>
      </p:sp>
      <p:sp>
        <p:nvSpPr>
          <p:cNvPr id="5" name="Shape 2"/>
          <p:cNvSpPr/>
          <p:nvPr/>
        </p:nvSpPr>
        <p:spPr>
          <a:xfrm>
            <a:off x="594360" y="1929384"/>
            <a:ext cx="164592" cy="164592"/>
          </a:xfrm>
          <a:prstGeom prst="ellipse">
            <a:avLst/>
          </a:prstGeom>
          <a:solidFill>
            <a:srgbClr val="E9A23B"/>
          </a:solidFill>
          <a:ln w="12700">
            <a:solidFill>
              <a:srgbClr val="E9A23B"/>
            </a:solidFill>
            <a:prstDash val="solid"/>
          </a:ln>
        </p:spPr>
      </p:sp>
      <p:sp>
        <p:nvSpPr>
          <p:cNvPr id="6" name="Shape 3"/>
          <p:cNvSpPr/>
          <p:nvPr/>
        </p:nvSpPr>
        <p:spPr>
          <a:xfrm>
            <a:off x="2070202" y="1417320"/>
            <a:ext cx="91440" cy="356616"/>
          </a:xfrm>
          <a:prstGeom prst="rect">
            <a:avLst/>
          </a:prstGeom>
          <a:solidFill>
            <a:srgbClr val="0F1B2D"/>
          </a:solidFill>
          <a:ln w="12700">
            <a:solidFill>
              <a:srgbClr val="0F1B2D"/>
            </a:solidFill>
            <a:prstDash val="solid"/>
          </a:ln>
        </p:spPr>
      </p:sp>
      <p:sp>
        <p:nvSpPr>
          <p:cNvPr id="7" name="Shape 4"/>
          <p:cNvSpPr/>
          <p:nvPr/>
        </p:nvSpPr>
        <p:spPr>
          <a:xfrm>
            <a:off x="2070202" y="1892808"/>
            <a:ext cx="91440" cy="237744"/>
          </a:xfrm>
          <a:prstGeom prst="rect">
            <a:avLst/>
          </a:prstGeom>
          <a:solidFill>
            <a:srgbClr val="0F1B2D"/>
          </a:solidFill>
          <a:ln w="12700">
            <a:solidFill>
              <a:srgbClr val="0F1B2D"/>
            </a:solidFill>
            <a:prstDash val="solid"/>
          </a:ln>
        </p:spPr>
      </p:sp>
      <p:sp>
        <p:nvSpPr>
          <p:cNvPr id="8" name="Shape 5"/>
          <p:cNvSpPr/>
          <p:nvPr/>
        </p:nvSpPr>
        <p:spPr>
          <a:xfrm>
            <a:off x="2070202" y="2249424"/>
            <a:ext cx="91440" cy="356616"/>
          </a:xfrm>
          <a:prstGeom prst="rect">
            <a:avLst/>
          </a:prstGeom>
          <a:solidFill>
            <a:srgbClr val="0F1B2D"/>
          </a:solidFill>
          <a:ln w="12700">
            <a:solidFill>
              <a:srgbClr val="0F1B2D"/>
            </a:solidFill>
            <a:prstDash val="solid"/>
          </a:ln>
        </p:spPr>
      </p:sp>
      <p:sp>
        <p:nvSpPr>
          <p:cNvPr id="9" name="Shape 6"/>
          <p:cNvSpPr/>
          <p:nvPr/>
        </p:nvSpPr>
        <p:spPr>
          <a:xfrm>
            <a:off x="4023360" y="1417320"/>
            <a:ext cx="73152" cy="1188720"/>
          </a:xfrm>
          <a:prstGeom prst="rect">
            <a:avLst/>
          </a:prstGeom>
          <a:solidFill>
            <a:srgbClr val="6B7A90"/>
          </a:solidFill>
          <a:ln w="12700">
            <a:solidFill>
              <a:srgbClr val="6B7A90"/>
            </a:solidFill>
            <a:prstDash val="solid"/>
          </a:ln>
        </p:spPr>
      </p:sp>
      <p:sp>
        <p:nvSpPr>
          <p:cNvPr id="10" name="Shape 7"/>
          <p:cNvSpPr/>
          <p:nvPr/>
        </p:nvSpPr>
        <p:spPr>
          <a:xfrm>
            <a:off x="3767328" y="1512418"/>
            <a:ext cx="182880" cy="95098"/>
          </a:xfrm>
          <a:prstGeom prst="rect">
            <a:avLst/>
          </a:prstGeom>
          <a:solidFill>
            <a:srgbClr val="2A9D8F">
              <a:alpha val="25000"/>
            </a:srgbClr>
          </a:solidFill>
          <a:ln w="12700">
            <a:solidFill>
              <a:srgbClr val="2A9D8F">
                <a:alpha val="25000"/>
              </a:srgbClr>
            </a:solidFill>
            <a:prstDash val="solid"/>
          </a:ln>
        </p:spPr>
      </p:sp>
      <p:sp>
        <p:nvSpPr>
          <p:cNvPr id="11" name="Shape 8"/>
          <p:cNvSpPr/>
          <p:nvPr/>
        </p:nvSpPr>
        <p:spPr>
          <a:xfrm>
            <a:off x="3767328" y="1661008"/>
            <a:ext cx="182880" cy="95098"/>
          </a:xfrm>
          <a:prstGeom prst="rect">
            <a:avLst/>
          </a:prstGeom>
          <a:solidFill>
            <a:srgbClr val="2A9D8F">
              <a:alpha val="45000"/>
            </a:srgbClr>
          </a:solidFill>
          <a:ln w="12700">
            <a:solidFill>
              <a:srgbClr val="2A9D8F">
                <a:alpha val="45000"/>
              </a:srgbClr>
            </a:solidFill>
            <a:prstDash val="solid"/>
          </a:ln>
        </p:spPr>
      </p:sp>
      <p:sp>
        <p:nvSpPr>
          <p:cNvPr id="12" name="Shape 9"/>
          <p:cNvSpPr/>
          <p:nvPr/>
        </p:nvSpPr>
        <p:spPr>
          <a:xfrm>
            <a:off x="3767328" y="1809598"/>
            <a:ext cx="182880" cy="95098"/>
          </a:xfrm>
          <a:prstGeom prst="rect">
            <a:avLst/>
          </a:prstGeom>
          <a:solidFill>
            <a:srgbClr val="2A9D8F">
              <a:alpha val="75000"/>
            </a:srgbClr>
          </a:solidFill>
          <a:ln w="12700">
            <a:solidFill>
              <a:srgbClr val="2A9D8F">
                <a:alpha val="75000"/>
              </a:srgbClr>
            </a:solidFill>
            <a:prstDash val="solid"/>
          </a:ln>
        </p:spPr>
      </p:sp>
      <p:sp>
        <p:nvSpPr>
          <p:cNvPr id="13" name="Shape 10"/>
          <p:cNvSpPr/>
          <p:nvPr/>
        </p:nvSpPr>
        <p:spPr>
          <a:xfrm>
            <a:off x="3767328" y="1958188"/>
            <a:ext cx="182880" cy="95098"/>
          </a:xfrm>
          <a:prstGeom prst="rect">
            <a:avLst/>
          </a:prstGeom>
          <a:solidFill>
            <a:srgbClr val="2A9D8F"/>
          </a:solidFill>
          <a:ln w="12700">
            <a:solidFill>
              <a:srgbClr val="2A9D8F"/>
            </a:solidFill>
            <a:prstDash val="solid"/>
          </a:ln>
        </p:spPr>
      </p:sp>
      <p:sp>
        <p:nvSpPr>
          <p:cNvPr id="14" name="Shape 11"/>
          <p:cNvSpPr/>
          <p:nvPr/>
        </p:nvSpPr>
        <p:spPr>
          <a:xfrm>
            <a:off x="3767328" y="2106778"/>
            <a:ext cx="182880" cy="95098"/>
          </a:xfrm>
          <a:prstGeom prst="rect">
            <a:avLst/>
          </a:prstGeom>
          <a:solidFill>
            <a:srgbClr val="2A9D8F">
              <a:alpha val="75000"/>
            </a:srgbClr>
          </a:solidFill>
          <a:ln w="12700">
            <a:solidFill>
              <a:srgbClr val="2A9D8F">
                <a:alpha val="75000"/>
              </a:srgbClr>
            </a:solidFill>
            <a:prstDash val="solid"/>
          </a:ln>
        </p:spPr>
      </p:sp>
      <p:sp>
        <p:nvSpPr>
          <p:cNvPr id="15" name="Shape 12"/>
          <p:cNvSpPr/>
          <p:nvPr/>
        </p:nvSpPr>
        <p:spPr>
          <a:xfrm>
            <a:off x="3767328" y="2255368"/>
            <a:ext cx="182880" cy="95098"/>
          </a:xfrm>
          <a:prstGeom prst="rect">
            <a:avLst/>
          </a:prstGeom>
          <a:solidFill>
            <a:srgbClr val="2A9D8F">
              <a:alpha val="45000"/>
            </a:srgbClr>
          </a:solidFill>
          <a:ln w="12700">
            <a:solidFill>
              <a:srgbClr val="2A9D8F">
                <a:alpha val="45000"/>
              </a:srgbClr>
            </a:solidFill>
            <a:prstDash val="solid"/>
          </a:ln>
        </p:spPr>
      </p:sp>
      <p:sp>
        <p:nvSpPr>
          <p:cNvPr id="16" name="Shape 13"/>
          <p:cNvSpPr/>
          <p:nvPr/>
        </p:nvSpPr>
        <p:spPr>
          <a:xfrm>
            <a:off x="3767328" y="2403958"/>
            <a:ext cx="182880" cy="95098"/>
          </a:xfrm>
          <a:prstGeom prst="rect">
            <a:avLst/>
          </a:prstGeom>
          <a:solidFill>
            <a:srgbClr val="2A9D8F">
              <a:alpha val="25000"/>
            </a:srgbClr>
          </a:solidFill>
          <a:ln w="12700">
            <a:solidFill>
              <a:srgbClr val="2A9D8F">
                <a:alpha val="25000"/>
              </a:srgbClr>
            </a:solidFill>
            <a:prstDash val="solid"/>
          </a:ln>
        </p:spPr>
      </p:sp>
      <p:sp>
        <p:nvSpPr>
          <p:cNvPr id="17" name="Text 14"/>
          <p:cNvSpPr txBox="1"/>
          <p:nvPr/>
        </p:nvSpPr>
        <p:spPr>
          <a:xfrm>
            <a:off x="3017520" y="2624328"/>
            <a:ext cx="1188720" cy="228600"/>
          </a:xfrm>
          <a:prstGeom prst="rect">
            <a:avLst/>
          </a:prstGeom>
          <a:noFill/>
          <a:ln/>
        </p:spPr>
        <p:txBody>
          <a:bodyPr wrap="square" lIns="0" tIns="0" rIns="0" bIns="0" rtlCol="0" anchor="ctr"/>
          <a:lstStyle/>
          <a:p>
            <a:pPr algn="ctr" indent="0" marL="0">
              <a:buNone/>
            </a:pPr>
            <a:r>
              <a:rPr lang="en-US" sz="950" dirty="0">
                <a:solidFill>
                  <a:srgbClr val="2A9D8F"/>
                </a:solidFill>
                <a:latin typeface="Calibri" pitchFamily="34" charset="0"/>
                <a:ea typeface="Calibri" pitchFamily="34" charset="-122"/>
                <a:cs typeface="Calibri" pitchFamily="34" charset="-120"/>
              </a:rPr>
              <a:t>fringes</a:t>
            </a:r>
            <a:endParaRPr lang="en-US" sz="950" dirty="0"/>
          </a:p>
        </p:txBody>
      </p:sp>
      <p:sp>
        <p:nvSpPr>
          <p:cNvPr id="18" name="Shape 15"/>
          <p:cNvSpPr/>
          <p:nvPr/>
        </p:nvSpPr>
        <p:spPr>
          <a:xfrm>
            <a:off x="758952" y="2011680"/>
            <a:ext cx="1311250" cy="-178308"/>
          </a:xfrm>
          <a:prstGeom prst="line">
            <a:avLst/>
          </a:prstGeom>
          <a:noFill/>
          <a:ln w="9525">
            <a:solidFill>
              <a:srgbClr val="6B7A90"/>
            </a:solidFill>
            <a:prstDash val="dash"/>
          </a:ln>
        </p:spPr>
      </p:sp>
      <p:sp>
        <p:nvSpPr>
          <p:cNvPr id="19" name="Shape 16"/>
          <p:cNvSpPr/>
          <p:nvPr/>
        </p:nvSpPr>
        <p:spPr>
          <a:xfrm>
            <a:off x="758952" y="2011680"/>
            <a:ext cx="1311250" cy="178308"/>
          </a:xfrm>
          <a:prstGeom prst="line">
            <a:avLst/>
          </a:prstGeom>
          <a:noFill/>
          <a:ln w="9525">
            <a:solidFill>
              <a:srgbClr val="6B7A90"/>
            </a:solidFill>
            <a:prstDash val="dash"/>
          </a:ln>
        </p:spPr>
      </p:sp>
      <p:sp>
        <p:nvSpPr>
          <p:cNvPr id="20" name="Shape 17"/>
          <p:cNvSpPr/>
          <p:nvPr/>
        </p:nvSpPr>
        <p:spPr>
          <a:xfrm>
            <a:off x="594360" y="3575304"/>
            <a:ext cx="164592" cy="164592"/>
          </a:xfrm>
          <a:prstGeom prst="ellipse">
            <a:avLst/>
          </a:prstGeom>
          <a:solidFill>
            <a:srgbClr val="E9A23B"/>
          </a:solidFill>
          <a:ln w="12700">
            <a:solidFill>
              <a:srgbClr val="E9A23B"/>
            </a:solidFill>
            <a:prstDash val="solid"/>
          </a:ln>
        </p:spPr>
      </p:sp>
      <p:sp>
        <p:nvSpPr>
          <p:cNvPr id="21" name="Shape 18"/>
          <p:cNvSpPr/>
          <p:nvPr/>
        </p:nvSpPr>
        <p:spPr>
          <a:xfrm>
            <a:off x="2070202" y="3063240"/>
            <a:ext cx="91440" cy="356616"/>
          </a:xfrm>
          <a:prstGeom prst="rect">
            <a:avLst/>
          </a:prstGeom>
          <a:solidFill>
            <a:srgbClr val="0F1B2D"/>
          </a:solidFill>
          <a:ln w="12700">
            <a:solidFill>
              <a:srgbClr val="0F1B2D"/>
            </a:solidFill>
            <a:prstDash val="solid"/>
          </a:ln>
        </p:spPr>
      </p:sp>
      <p:sp>
        <p:nvSpPr>
          <p:cNvPr id="22" name="Shape 19"/>
          <p:cNvSpPr/>
          <p:nvPr/>
        </p:nvSpPr>
        <p:spPr>
          <a:xfrm>
            <a:off x="2070202" y="3538728"/>
            <a:ext cx="91440" cy="237744"/>
          </a:xfrm>
          <a:prstGeom prst="rect">
            <a:avLst/>
          </a:prstGeom>
          <a:solidFill>
            <a:srgbClr val="0F1B2D"/>
          </a:solidFill>
          <a:ln w="12700">
            <a:solidFill>
              <a:srgbClr val="0F1B2D"/>
            </a:solidFill>
            <a:prstDash val="solid"/>
          </a:ln>
        </p:spPr>
      </p:sp>
      <p:sp>
        <p:nvSpPr>
          <p:cNvPr id="23" name="Shape 20"/>
          <p:cNvSpPr/>
          <p:nvPr/>
        </p:nvSpPr>
        <p:spPr>
          <a:xfrm>
            <a:off x="2070202" y="3895344"/>
            <a:ext cx="91440" cy="356616"/>
          </a:xfrm>
          <a:prstGeom prst="rect">
            <a:avLst/>
          </a:prstGeom>
          <a:solidFill>
            <a:srgbClr val="0F1B2D"/>
          </a:solidFill>
          <a:ln w="12700">
            <a:solidFill>
              <a:srgbClr val="0F1B2D"/>
            </a:solidFill>
            <a:prstDash val="solid"/>
          </a:ln>
        </p:spPr>
      </p:sp>
      <p:sp>
        <p:nvSpPr>
          <p:cNvPr id="24" name="Shape 21"/>
          <p:cNvSpPr/>
          <p:nvPr/>
        </p:nvSpPr>
        <p:spPr>
          <a:xfrm>
            <a:off x="4023360" y="3063240"/>
            <a:ext cx="73152" cy="1188720"/>
          </a:xfrm>
          <a:prstGeom prst="rect">
            <a:avLst/>
          </a:prstGeom>
          <a:solidFill>
            <a:srgbClr val="6B7A90"/>
          </a:solidFill>
          <a:ln w="12700">
            <a:solidFill>
              <a:srgbClr val="6B7A90"/>
            </a:solidFill>
            <a:prstDash val="solid"/>
          </a:ln>
        </p:spPr>
      </p:sp>
      <p:sp>
        <p:nvSpPr>
          <p:cNvPr id="25" name="Shape 22"/>
          <p:cNvSpPr/>
          <p:nvPr/>
        </p:nvSpPr>
        <p:spPr>
          <a:xfrm>
            <a:off x="3712464" y="3324758"/>
            <a:ext cx="237744" cy="237744"/>
          </a:xfrm>
          <a:prstGeom prst="ellipse">
            <a:avLst/>
          </a:prstGeom>
          <a:solidFill>
            <a:srgbClr val="0F1B2D">
              <a:alpha val="70000"/>
            </a:srgbClr>
          </a:solidFill>
          <a:ln w="12700">
            <a:solidFill>
              <a:srgbClr val="0F1B2D"/>
            </a:solidFill>
            <a:prstDash val="solid"/>
          </a:ln>
        </p:spPr>
      </p:sp>
      <p:sp>
        <p:nvSpPr>
          <p:cNvPr id="26" name="Shape 23"/>
          <p:cNvSpPr/>
          <p:nvPr/>
        </p:nvSpPr>
        <p:spPr>
          <a:xfrm>
            <a:off x="3712464" y="3728923"/>
            <a:ext cx="237744" cy="237744"/>
          </a:xfrm>
          <a:prstGeom prst="ellipse">
            <a:avLst/>
          </a:prstGeom>
          <a:solidFill>
            <a:srgbClr val="0F1B2D">
              <a:alpha val="70000"/>
            </a:srgbClr>
          </a:solidFill>
          <a:ln w="12700">
            <a:solidFill>
              <a:srgbClr val="0F1B2D"/>
            </a:solidFill>
            <a:prstDash val="solid"/>
          </a:ln>
        </p:spPr>
      </p:sp>
      <p:sp>
        <p:nvSpPr>
          <p:cNvPr id="27" name="Shape 24"/>
          <p:cNvSpPr/>
          <p:nvPr/>
        </p:nvSpPr>
        <p:spPr>
          <a:xfrm>
            <a:off x="2234794" y="3396082"/>
            <a:ext cx="201168" cy="137160"/>
          </a:xfrm>
          <a:prstGeom prst="rect">
            <a:avLst/>
          </a:prstGeom>
          <a:solidFill>
            <a:srgbClr val="C8553D"/>
          </a:solidFill>
          <a:ln w="12700">
            <a:solidFill>
              <a:srgbClr val="C8553D"/>
            </a:solidFill>
            <a:prstDash val="solid"/>
          </a:ln>
        </p:spPr>
      </p:sp>
      <p:sp>
        <p:nvSpPr>
          <p:cNvPr id="28" name="Text 25"/>
          <p:cNvSpPr txBox="1"/>
          <p:nvPr/>
        </p:nvSpPr>
        <p:spPr>
          <a:xfrm>
            <a:off x="2115922" y="3586277"/>
            <a:ext cx="548640" cy="201168"/>
          </a:xfrm>
          <a:prstGeom prst="rect">
            <a:avLst/>
          </a:prstGeom>
          <a:noFill/>
          <a:ln/>
        </p:spPr>
        <p:txBody>
          <a:bodyPr wrap="square" lIns="0" tIns="0" rIns="0" bIns="0" rtlCol="0" anchor="ctr"/>
          <a:lstStyle/>
          <a:p>
            <a:pPr algn="ctr" indent="0" marL="0">
              <a:buNone/>
            </a:pPr>
            <a:r>
              <a:rPr lang="en-US" sz="900" dirty="0">
                <a:solidFill>
                  <a:srgbClr val="C8553D"/>
                </a:solidFill>
                <a:latin typeface="Calibri" pitchFamily="34" charset="0"/>
                <a:ea typeface="Calibri" pitchFamily="34" charset="-122"/>
                <a:cs typeface="Calibri" pitchFamily="34" charset="-120"/>
              </a:rPr>
              <a:t>record</a:t>
            </a:r>
            <a:endParaRPr lang="en-US" sz="900" dirty="0"/>
          </a:p>
        </p:txBody>
      </p:sp>
      <p:sp>
        <p:nvSpPr>
          <p:cNvPr id="29" name="Text 26"/>
          <p:cNvSpPr txBox="1"/>
          <p:nvPr/>
        </p:nvSpPr>
        <p:spPr>
          <a:xfrm>
            <a:off x="3017520" y="4270248"/>
            <a:ext cx="1188720" cy="228600"/>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two lumps</a:t>
            </a:r>
            <a:endParaRPr lang="en-US" sz="950" dirty="0"/>
          </a:p>
        </p:txBody>
      </p:sp>
      <p:sp>
        <p:nvSpPr>
          <p:cNvPr id="30" name="Shape 27"/>
          <p:cNvSpPr/>
          <p:nvPr/>
        </p:nvSpPr>
        <p:spPr>
          <a:xfrm>
            <a:off x="758952" y="3657600"/>
            <a:ext cx="1311250" cy="-178308"/>
          </a:xfrm>
          <a:prstGeom prst="line">
            <a:avLst/>
          </a:prstGeom>
          <a:noFill/>
          <a:ln w="9525">
            <a:solidFill>
              <a:srgbClr val="6B7A90"/>
            </a:solidFill>
            <a:prstDash val="dash"/>
          </a:ln>
        </p:spPr>
      </p:sp>
      <p:sp>
        <p:nvSpPr>
          <p:cNvPr id="31" name="Shape 28"/>
          <p:cNvSpPr/>
          <p:nvPr/>
        </p:nvSpPr>
        <p:spPr>
          <a:xfrm>
            <a:off x="758952" y="3657600"/>
            <a:ext cx="1311250" cy="178308"/>
          </a:xfrm>
          <a:prstGeom prst="line">
            <a:avLst/>
          </a:prstGeom>
          <a:noFill/>
          <a:ln w="9525">
            <a:solidFill>
              <a:srgbClr val="6B7A90"/>
            </a:solidFill>
            <a:prstDash val="dash"/>
          </a:ln>
        </p:spPr>
      </p:sp>
      <p:sp>
        <p:nvSpPr>
          <p:cNvPr id="32" name="Shape 29"/>
          <p:cNvSpPr/>
          <p:nvPr/>
        </p:nvSpPr>
        <p:spPr>
          <a:xfrm>
            <a:off x="4754880" y="1280160"/>
            <a:ext cx="3931920" cy="1417320"/>
          </a:xfrm>
          <a:prstGeom prst="roundRect">
            <a:avLst>
              <a:gd name="adj" fmla="val 5161"/>
            </a:avLst>
          </a:prstGeom>
          <a:solidFill>
            <a:srgbClr val="E8F0FA"/>
          </a:solidFill>
          <a:ln w="12700">
            <a:solidFill>
              <a:srgbClr val="E8F0FA"/>
            </a:solidFill>
            <a:prstDash val="solid"/>
          </a:ln>
        </p:spPr>
      </p:sp>
      <p:sp>
        <p:nvSpPr>
          <p:cNvPr id="33" name="Text 30"/>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 record: agreeing</a:t>
            </a:r>
            <a:endParaRPr lang="en-US" sz="1500" dirty="0"/>
          </a:p>
        </p:txBody>
      </p:sp>
      <p:sp>
        <p:nvSpPr>
          <p:cNvPr id="34" name="Text 31"/>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Amplitudes add before the modulus. The cross-term is the entire φ-dependence. Fringes.</a:t>
            </a:r>
            <a:endParaRPr lang="en-US" sz="1200" dirty="0"/>
          </a:p>
        </p:txBody>
      </p:sp>
      <p:sp>
        <p:nvSpPr>
          <p:cNvPr id="35" name="Shape 32"/>
          <p:cNvSpPr/>
          <p:nvPr/>
        </p:nvSpPr>
        <p:spPr>
          <a:xfrm>
            <a:off x="4754880" y="2880360"/>
            <a:ext cx="3931920" cy="1554480"/>
          </a:xfrm>
          <a:prstGeom prst="roundRect">
            <a:avLst>
              <a:gd name="adj" fmla="val 4706"/>
            </a:avLst>
          </a:prstGeom>
          <a:solidFill>
            <a:srgbClr val="F4F7FB"/>
          </a:solidFill>
          <a:ln w="12700">
            <a:solidFill>
              <a:srgbClr val="F4F7FB"/>
            </a:solidFill>
            <a:prstDash val="solid"/>
          </a:ln>
        </p:spPr>
      </p:sp>
      <p:sp>
        <p:nvSpPr>
          <p:cNvPr id="36" name="Text 33"/>
          <p:cNvSpPr txBox="1"/>
          <p:nvPr/>
        </p:nvSpPr>
        <p:spPr>
          <a:xfrm>
            <a:off x="4937760" y="30175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 record: disagreeing</a:t>
            </a:r>
            <a:endParaRPr lang="en-US" sz="1500" dirty="0"/>
          </a:p>
        </p:txBody>
      </p:sp>
      <p:sp>
        <p:nvSpPr>
          <p:cNvPr id="37" name="Text 34"/>
          <p:cNvSpPr txBox="1"/>
          <p:nvPr/>
        </p:nvSpPr>
        <p:spPr>
          <a:xfrm>
            <a:off x="4937760" y="3410712"/>
            <a:ext cx="356616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Weights add across the record-separated pockets. No cross-term. Two lumps. The kernel is unchanged; the marker touched nothing. Which law applies was decided by the record's existence.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branching look is deduced — and branches are Aethae, not amplitude states</a:t>
            </a:r>
            <a:endParaRPr lang="en-US" sz="2800" dirty="0"/>
          </a:p>
        </p:txBody>
      </p:sp>
      <p:sp>
        <p:nvSpPr>
          <p:cNvPr id="5" name="Shape 2"/>
          <p:cNvSpPr/>
          <p:nvPr/>
        </p:nvSpPr>
        <p:spPr>
          <a:xfrm>
            <a:off x="457200" y="1280160"/>
            <a:ext cx="3931920" cy="3154680"/>
          </a:xfrm>
          <a:prstGeom prst="roundRect">
            <a:avLst>
              <a:gd name="adj" fmla="val 2319"/>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Everett saw</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Once a record separates two alternatives they stop interacting, each carries its weight, and an observer finds itself in one.</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union principle deduces that look rather than positing it: records write the exclusions in, and alternatives whose interiors exclude each other do not interact.</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Same walls, same weights — one spacetime. Everett's error was to take non-interaction for a place.</a:t>
            </a:r>
            <a:endParaRPr lang="en-US" sz="1200" dirty="0"/>
          </a:p>
        </p:txBody>
      </p:sp>
      <p:sp>
        <p:nvSpPr>
          <p:cNvPr id="8" name="Shape 5"/>
          <p:cNvSpPr/>
          <p:nvPr/>
        </p:nvSpPr>
        <p:spPr>
          <a:xfrm>
            <a:off x="4754880" y="1280160"/>
            <a:ext cx="3931920" cy="3154680"/>
          </a:xfrm>
          <a:prstGeom prst="roundRect">
            <a:avLst>
              <a:gd name="adj" fmla="val 2319"/>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the branches are</a:t>
            </a:r>
            <a:endParaRPr lang="en-US" sz="1500" dirty="0"/>
          </a:p>
        </p:txBody>
      </p:sp>
      <p:sp>
        <p:nvSpPr>
          <p:cNvPr id="10" name="Text 7"/>
          <p:cNvSpPr txBox="1"/>
          <p:nvPr/>
        </p:nvSpPr>
        <p:spPr>
          <a:xfrm>
            <a:off x="4937760" y="1810512"/>
            <a:ext cx="356616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An Everettian branch: a term of a state vector, individuated by an approximate basis, weighted by an amplitude that must be argued into a probability.</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An Aethic pocket: an information state, individuated exactly by the record partition, weighted by the framework's own primitive, with the state vector derived from the weights.</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Everett branched the wavefunction. This framework transits the observer.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third postulate: collapse as checkmate</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 form, why it is selected, the Powerset Invalidation Theorem, and the quantum–classical boundary as a record partition.</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third postulate</a:t>
            </a:r>
            <a:endParaRPr lang="en-US" sz="2800" dirty="0"/>
          </a:p>
        </p:txBody>
      </p:sp>
      <p:sp>
        <p:nvSpPr>
          <p:cNvPr id="5" name="Shape 2"/>
          <p:cNvSpPr/>
          <p:nvPr/>
        </p:nvSpPr>
        <p:spPr>
          <a:xfrm>
            <a:off x="457200" y="1280160"/>
            <a:ext cx="4937760" cy="1051560"/>
          </a:xfrm>
          <a:prstGeom prst="roundRect">
            <a:avLst>
              <a:gd name="adj" fmla="val 5217"/>
            </a:avLst>
          </a:prstGeom>
          <a:solidFill>
            <a:srgbClr val="E9F3E4"/>
          </a:solidFill>
          <a:ln w="12700">
            <a:solidFill>
              <a:srgbClr val="E9F3E4"/>
            </a:solidFill>
            <a:prstDash val="solid"/>
          </a:ln>
        </p:spPr>
      </p:sp>
      <p:sp>
        <p:nvSpPr>
          <p:cNvPr id="6" name="Text 3"/>
          <p:cNvSpPr txBox="1"/>
          <p:nvPr/>
        </p:nvSpPr>
        <p:spPr>
          <a:xfrm>
            <a:off x="640080" y="1371600"/>
            <a:ext cx="457200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Third Postulate of the Aethus</a:t>
            </a:r>
            <a:endParaRPr lang="en-US" sz="1300" dirty="0"/>
          </a:p>
        </p:txBody>
      </p:sp>
      <p:sp>
        <p:nvSpPr>
          <p:cNvPr id="7" name="Text 4"/>
          <p:cNvSpPr txBox="1"/>
          <p:nvPr/>
        </p:nvSpPr>
        <p:spPr>
          <a:xfrm>
            <a:off x="640080" y="1664208"/>
            <a:ext cx="4572000" cy="594360"/>
          </a:xfrm>
          <a:prstGeom prst="rect">
            <a:avLst/>
          </a:prstGeom>
          <a:noFill/>
          <a:ln/>
        </p:spPr>
        <p:txBody>
          <a:bodyPr wrap="square" lIns="0" tIns="0" rIns="0" bIns="0" rtlCol="0" anchor="t"/>
          <a:lstStyle/>
          <a:p>
            <a:pPr indent="0" marL="0">
              <a:buNone/>
            </a:pPr>
            <a:r>
              <a:rPr lang="en-US" sz="1250" dirty="0">
                <a:solidFill>
                  <a:srgbClr val="1A2B45"/>
                </a:solidFill>
                <a:latin typeface="Calibri" pitchFamily="34" charset="0"/>
                <a:ea typeface="Calibri" pitchFamily="34" charset="-122"/>
                <a:cs typeface="Calibri" pitchFamily="34" charset="-120"/>
              </a:rPr>
              <a:t>If some Aethus is valid, then there exists a proper child Aethus to it for which every one of its own proper child Aethae are valid.   V[A] ⇒ ∃B ⊑ A, ∀C ⊑ B, V[C]</a:t>
            </a:r>
            <a:endParaRPr lang="en-US" sz="1250" dirty="0"/>
          </a:p>
        </p:txBody>
      </p:sp>
      <p:sp>
        <p:nvSpPr>
          <p:cNvPr id="8" name="Shape 5"/>
          <p:cNvSpPr/>
          <p:nvPr/>
        </p:nvSpPr>
        <p:spPr>
          <a:xfrm flipV="1">
            <a:off x="6272784" y="1691640"/>
            <a:ext cx="905256" cy="777240"/>
          </a:xfrm>
          <a:prstGeom prst="line">
            <a:avLst/>
          </a:prstGeom>
          <a:noFill/>
          <a:ln w="15875">
            <a:solidFill>
              <a:srgbClr val="6B7A90"/>
            </a:solidFill>
            <a:prstDash val="solid"/>
          </a:ln>
        </p:spPr>
      </p:sp>
      <p:sp>
        <p:nvSpPr>
          <p:cNvPr id="9" name="Shape 6"/>
          <p:cNvSpPr/>
          <p:nvPr/>
        </p:nvSpPr>
        <p:spPr>
          <a:xfrm>
            <a:off x="7178040" y="1691640"/>
            <a:ext cx="914" cy="777240"/>
          </a:xfrm>
          <a:prstGeom prst="line">
            <a:avLst/>
          </a:prstGeom>
          <a:noFill/>
          <a:ln w="15875">
            <a:solidFill>
              <a:srgbClr val="6B7A90"/>
            </a:solidFill>
            <a:prstDash val="solid"/>
          </a:ln>
        </p:spPr>
      </p:sp>
      <p:sp>
        <p:nvSpPr>
          <p:cNvPr id="10" name="Shape 7"/>
          <p:cNvSpPr/>
          <p:nvPr/>
        </p:nvSpPr>
        <p:spPr>
          <a:xfrm>
            <a:off x="7178040" y="1691640"/>
            <a:ext cx="905256" cy="777240"/>
          </a:xfrm>
          <a:prstGeom prst="line">
            <a:avLst/>
          </a:prstGeom>
          <a:noFill/>
          <a:ln w="15875">
            <a:solidFill>
              <a:srgbClr val="6B7A90"/>
            </a:solidFill>
            <a:prstDash val="solid"/>
          </a:ln>
        </p:spPr>
      </p:sp>
      <p:sp>
        <p:nvSpPr>
          <p:cNvPr id="11" name="Shape 8"/>
          <p:cNvSpPr/>
          <p:nvPr/>
        </p:nvSpPr>
        <p:spPr>
          <a:xfrm flipV="1">
            <a:off x="5971032" y="2468880"/>
            <a:ext cx="301752" cy="777240"/>
          </a:xfrm>
          <a:prstGeom prst="line">
            <a:avLst/>
          </a:prstGeom>
          <a:noFill/>
          <a:ln w="15875">
            <a:solidFill>
              <a:srgbClr val="6B7A90"/>
            </a:solidFill>
            <a:prstDash val="solid"/>
          </a:ln>
        </p:spPr>
      </p:sp>
      <p:sp>
        <p:nvSpPr>
          <p:cNvPr id="12" name="Shape 9"/>
          <p:cNvSpPr/>
          <p:nvPr/>
        </p:nvSpPr>
        <p:spPr>
          <a:xfrm>
            <a:off x="6272784" y="2468880"/>
            <a:ext cx="301752" cy="777240"/>
          </a:xfrm>
          <a:prstGeom prst="line">
            <a:avLst/>
          </a:prstGeom>
          <a:noFill/>
          <a:ln w="15875">
            <a:solidFill>
              <a:srgbClr val="6B7A90"/>
            </a:solidFill>
            <a:prstDash val="solid"/>
          </a:ln>
        </p:spPr>
      </p:sp>
      <p:sp>
        <p:nvSpPr>
          <p:cNvPr id="13" name="Shape 10"/>
          <p:cNvSpPr/>
          <p:nvPr/>
        </p:nvSpPr>
        <p:spPr>
          <a:xfrm flipV="1">
            <a:off x="7027164" y="2468880"/>
            <a:ext cx="150876" cy="777240"/>
          </a:xfrm>
          <a:prstGeom prst="line">
            <a:avLst/>
          </a:prstGeom>
          <a:noFill/>
          <a:ln w="15875">
            <a:solidFill>
              <a:srgbClr val="C8553D"/>
            </a:solidFill>
            <a:prstDash val="solid"/>
          </a:ln>
        </p:spPr>
      </p:sp>
      <p:sp>
        <p:nvSpPr>
          <p:cNvPr id="14" name="Shape 11"/>
          <p:cNvSpPr/>
          <p:nvPr/>
        </p:nvSpPr>
        <p:spPr>
          <a:xfrm>
            <a:off x="7178040" y="2468880"/>
            <a:ext cx="362102" cy="777240"/>
          </a:xfrm>
          <a:prstGeom prst="line">
            <a:avLst/>
          </a:prstGeom>
          <a:noFill/>
          <a:ln w="15875">
            <a:solidFill>
              <a:srgbClr val="C8553D"/>
            </a:solidFill>
            <a:prstDash val="solid"/>
          </a:ln>
        </p:spPr>
      </p:sp>
      <p:sp>
        <p:nvSpPr>
          <p:cNvPr id="15" name="Shape 12"/>
          <p:cNvSpPr/>
          <p:nvPr/>
        </p:nvSpPr>
        <p:spPr>
          <a:xfrm>
            <a:off x="8083296" y="2468880"/>
            <a:ext cx="301752" cy="777240"/>
          </a:xfrm>
          <a:prstGeom prst="line">
            <a:avLst/>
          </a:prstGeom>
          <a:noFill/>
          <a:ln w="15875">
            <a:solidFill>
              <a:srgbClr val="6B7A90"/>
            </a:solidFill>
            <a:prstDash val="solid"/>
          </a:ln>
        </p:spPr>
      </p:sp>
      <p:sp>
        <p:nvSpPr>
          <p:cNvPr id="16" name="Shape 13"/>
          <p:cNvSpPr/>
          <p:nvPr/>
        </p:nvSpPr>
        <p:spPr>
          <a:xfrm>
            <a:off x="7022592" y="1536192"/>
            <a:ext cx="310896" cy="310896"/>
          </a:xfrm>
          <a:prstGeom prst="ellipse">
            <a:avLst/>
          </a:prstGeom>
          <a:solidFill>
            <a:srgbClr val="0F1B2D"/>
          </a:solidFill>
          <a:ln w="12700">
            <a:solidFill>
              <a:srgbClr val="0F1B2D"/>
            </a:solidFill>
            <a:prstDash val="solid"/>
          </a:ln>
        </p:spPr>
      </p:sp>
      <p:sp>
        <p:nvSpPr>
          <p:cNvPr id="17" name="Text 14"/>
          <p:cNvSpPr txBox="1"/>
          <p:nvPr/>
        </p:nvSpPr>
        <p:spPr>
          <a:xfrm>
            <a:off x="7022592" y="15361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18" name="Shape 15"/>
          <p:cNvSpPr/>
          <p:nvPr/>
        </p:nvSpPr>
        <p:spPr>
          <a:xfrm>
            <a:off x="6117336" y="2313432"/>
            <a:ext cx="310896" cy="310896"/>
          </a:xfrm>
          <a:prstGeom prst="ellipse">
            <a:avLst/>
          </a:prstGeom>
          <a:solidFill>
            <a:srgbClr val="5C8A4A"/>
          </a:solidFill>
          <a:ln w="12700">
            <a:solidFill>
              <a:srgbClr val="5C8A4A"/>
            </a:solidFill>
            <a:prstDash val="solid"/>
          </a:ln>
        </p:spPr>
      </p:sp>
      <p:sp>
        <p:nvSpPr>
          <p:cNvPr id="19" name="Text 16"/>
          <p:cNvSpPr txBox="1"/>
          <p:nvPr/>
        </p:nvSpPr>
        <p:spPr>
          <a:xfrm>
            <a:off x="6117336" y="231343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20" name="Shape 17"/>
          <p:cNvSpPr/>
          <p:nvPr/>
        </p:nvSpPr>
        <p:spPr>
          <a:xfrm>
            <a:off x="7022592" y="2313432"/>
            <a:ext cx="310896" cy="310896"/>
          </a:xfrm>
          <a:prstGeom prst="ellipse">
            <a:avLst/>
          </a:prstGeom>
          <a:solidFill>
            <a:srgbClr val="6B7A90"/>
          </a:solidFill>
          <a:ln w="12700">
            <a:solidFill>
              <a:srgbClr val="6B7A90"/>
            </a:solidFill>
            <a:prstDash val="solid"/>
          </a:ln>
        </p:spPr>
      </p:sp>
      <p:sp>
        <p:nvSpPr>
          <p:cNvPr id="21" name="Shape 18"/>
          <p:cNvSpPr/>
          <p:nvPr/>
        </p:nvSpPr>
        <p:spPr>
          <a:xfrm>
            <a:off x="7927848" y="2313432"/>
            <a:ext cx="310896" cy="310896"/>
          </a:xfrm>
          <a:prstGeom prst="ellipse">
            <a:avLst/>
          </a:prstGeom>
          <a:solidFill>
            <a:srgbClr val="5C8A4A"/>
          </a:solidFill>
          <a:ln w="12700">
            <a:solidFill>
              <a:srgbClr val="5C8A4A"/>
            </a:solidFill>
            <a:prstDash val="solid"/>
          </a:ln>
        </p:spPr>
      </p:sp>
      <p:sp>
        <p:nvSpPr>
          <p:cNvPr id="22" name="Shape 19"/>
          <p:cNvSpPr/>
          <p:nvPr/>
        </p:nvSpPr>
        <p:spPr>
          <a:xfrm>
            <a:off x="5815584" y="3090672"/>
            <a:ext cx="310896" cy="310896"/>
          </a:xfrm>
          <a:prstGeom prst="ellipse">
            <a:avLst/>
          </a:prstGeom>
          <a:solidFill>
            <a:srgbClr val="5C8A4A"/>
          </a:solidFill>
          <a:ln w="12700">
            <a:solidFill>
              <a:srgbClr val="5C8A4A"/>
            </a:solidFill>
            <a:prstDash val="solid"/>
          </a:ln>
        </p:spPr>
      </p:sp>
      <p:sp>
        <p:nvSpPr>
          <p:cNvPr id="23" name="Shape 20"/>
          <p:cNvSpPr/>
          <p:nvPr/>
        </p:nvSpPr>
        <p:spPr>
          <a:xfrm>
            <a:off x="6419088" y="3090672"/>
            <a:ext cx="310896" cy="310896"/>
          </a:xfrm>
          <a:prstGeom prst="ellipse">
            <a:avLst/>
          </a:prstGeom>
          <a:solidFill>
            <a:srgbClr val="5C8A4A"/>
          </a:solidFill>
          <a:ln w="12700">
            <a:solidFill>
              <a:srgbClr val="5C8A4A"/>
            </a:solidFill>
            <a:prstDash val="solid"/>
          </a:ln>
        </p:spPr>
      </p:sp>
      <p:sp>
        <p:nvSpPr>
          <p:cNvPr id="24" name="Shape 21"/>
          <p:cNvSpPr/>
          <p:nvPr/>
        </p:nvSpPr>
        <p:spPr>
          <a:xfrm>
            <a:off x="6871716" y="3090672"/>
            <a:ext cx="310896" cy="310896"/>
          </a:xfrm>
          <a:prstGeom prst="ellipse">
            <a:avLst/>
          </a:prstGeom>
          <a:solidFill>
            <a:srgbClr val="C8553D"/>
          </a:solidFill>
          <a:ln w="12700">
            <a:solidFill>
              <a:srgbClr val="C8553D"/>
            </a:solidFill>
            <a:prstDash val="solid"/>
          </a:ln>
        </p:spPr>
      </p:sp>
      <p:sp>
        <p:nvSpPr>
          <p:cNvPr id="25" name="Text 22"/>
          <p:cNvSpPr txBox="1"/>
          <p:nvPr/>
        </p:nvSpPr>
        <p:spPr>
          <a:xfrm>
            <a:off x="6871716" y="30906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6" name="Shape 23"/>
          <p:cNvSpPr/>
          <p:nvPr/>
        </p:nvSpPr>
        <p:spPr>
          <a:xfrm>
            <a:off x="7384694" y="3090672"/>
            <a:ext cx="310896" cy="310896"/>
          </a:xfrm>
          <a:prstGeom prst="ellipse">
            <a:avLst/>
          </a:prstGeom>
          <a:solidFill>
            <a:srgbClr val="C8553D"/>
          </a:solidFill>
          <a:ln w="12700">
            <a:solidFill>
              <a:srgbClr val="C8553D"/>
            </a:solidFill>
            <a:prstDash val="solid"/>
          </a:ln>
        </p:spPr>
      </p:sp>
      <p:sp>
        <p:nvSpPr>
          <p:cNvPr id="27" name="Text 24"/>
          <p:cNvSpPr txBox="1"/>
          <p:nvPr/>
        </p:nvSpPr>
        <p:spPr>
          <a:xfrm>
            <a:off x="7384694" y="30906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8" name="Shape 25"/>
          <p:cNvSpPr/>
          <p:nvPr/>
        </p:nvSpPr>
        <p:spPr>
          <a:xfrm>
            <a:off x="8229600" y="3090672"/>
            <a:ext cx="310896" cy="310896"/>
          </a:xfrm>
          <a:prstGeom prst="ellipse">
            <a:avLst/>
          </a:prstGeom>
          <a:solidFill>
            <a:srgbClr val="5C8A4A"/>
          </a:solidFill>
          <a:ln w="12700">
            <a:solidFill>
              <a:srgbClr val="5C8A4A"/>
            </a:solidFill>
            <a:prstDash val="solid"/>
          </a:ln>
        </p:spPr>
      </p:sp>
      <p:sp>
        <p:nvSpPr>
          <p:cNvPr id="29" name="Text 26"/>
          <p:cNvSpPr txBox="1"/>
          <p:nvPr/>
        </p:nvSpPr>
        <p:spPr>
          <a:xfrm>
            <a:off x="5669280" y="3566160"/>
            <a:ext cx="3017520" cy="274320"/>
          </a:xfrm>
          <a:prstGeom prst="rect">
            <a:avLst/>
          </a:prstGeom>
          <a:noFill/>
          <a:ln/>
        </p:spPr>
        <p:txBody>
          <a:bodyPr wrap="square" lIns="0" tIns="0" rIns="0" bIns="0" rtlCol="0" anchor="ctr"/>
          <a:lstStyle/>
          <a:p>
            <a:pPr algn="ctr" indent="0" marL="0">
              <a:buNone/>
            </a:pPr>
            <a:r>
              <a:rPr lang="en-US" sz="1000" dirty="0">
                <a:solidFill>
                  <a:srgbClr val="6B7A90"/>
                </a:solidFill>
                <a:latin typeface="Calibri" pitchFamily="34" charset="0"/>
                <a:ea typeface="Calibri" pitchFamily="34" charset="-122"/>
                <a:cs typeface="Calibri" pitchFamily="34" charset="-120"/>
              </a:rPr>
              <a:t>B is valid; the grey node is invalid now.</a:t>
            </a:r>
            <a:endParaRPr lang="en-US" sz="1000" dirty="0"/>
          </a:p>
        </p:txBody>
      </p:sp>
      <p:sp>
        <p:nvSpPr>
          <p:cNvPr id="30" name="Shape 27"/>
          <p:cNvSpPr/>
          <p:nvPr/>
        </p:nvSpPr>
        <p:spPr>
          <a:xfrm>
            <a:off x="457200" y="2514600"/>
            <a:ext cx="4937760" cy="1920240"/>
          </a:xfrm>
          <a:prstGeom prst="roundRect">
            <a:avLst>
              <a:gd name="adj" fmla="val 3810"/>
            </a:avLst>
          </a:prstGeom>
          <a:solidFill>
            <a:srgbClr val="F4F7FB"/>
          </a:solidFill>
          <a:ln w="12700">
            <a:solidFill>
              <a:srgbClr val="F4F7FB"/>
            </a:solidFill>
            <a:prstDash val="solid"/>
          </a:ln>
        </p:spPr>
      </p:sp>
      <p:sp>
        <p:nvSpPr>
          <p:cNvPr id="31" name="Text 28"/>
          <p:cNvSpPr txBox="1"/>
          <p:nvPr/>
        </p:nvSpPr>
        <p:spPr>
          <a:xfrm>
            <a:off x="640080" y="2651760"/>
            <a:ext cx="4572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Why two generations</a:t>
            </a:r>
            <a:endParaRPr lang="en-US" sz="1500" dirty="0"/>
          </a:p>
        </p:txBody>
      </p:sp>
      <p:sp>
        <p:nvSpPr>
          <p:cNvPr id="32" name="Text 29"/>
          <p:cNvSpPr txBox="1"/>
          <p:nvPr/>
        </p:nvSpPr>
        <p:spPr>
          <a:xfrm>
            <a:off x="640080" y="3044952"/>
            <a:ext cx="4572000" cy="12801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“Valid iff all children valid” forbids every superposition or none. “Valid iff some child valid” forbids nothing. ∃ then ∀ is the least structure that lets a superposition survive exactly when some refinement of it is safe — selected by elimination within the class of refinement-based, weight-independent rules.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Collapse is checkmate</a:t>
            </a:r>
            <a:endParaRPr lang="en-US" sz="2800" dirty="0"/>
          </a:p>
        </p:txBody>
      </p:sp>
      <p:sp>
        <p:nvSpPr>
          <p:cNvPr id="5" name="Text 2"/>
          <p:cNvSpPr txBox="1"/>
          <p:nvPr/>
        </p:nvSpPr>
        <p:spPr>
          <a:xfrm>
            <a:off x="457200" y="1325880"/>
            <a:ext cx="8229600" cy="82296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A superposition that any future record could contradict is invalid now.</a:t>
            </a:r>
            <a:endParaRPr lang="en-US" sz="2400" dirty="0"/>
          </a:p>
        </p:txBody>
      </p:sp>
      <p:sp>
        <p:nvSpPr>
          <p:cNvPr id="6" name="Shape 3"/>
          <p:cNvSpPr/>
          <p:nvPr/>
        </p:nvSpPr>
        <p:spPr>
          <a:xfrm>
            <a:off x="457200" y="2331720"/>
            <a:ext cx="2651760" cy="2103120"/>
          </a:xfrm>
          <a:prstGeom prst="roundRect">
            <a:avLst>
              <a:gd name="adj" fmla="val 3478"/>
            </a:avLst>
          </a:prstGeom>
          <a:solidFill>
            <a:srgbClr val="F4F7FB"/>
          </a:solidFill>
          <a:ln w="12700">
            <a:solidFill>
              <a:srgbClr val="F4F7FB"/>
            </a:solidFill>
            <a:prstDash val="solid"/>
          </a:ln>
        </p:spPr>
      </p:sp>
      <p:sp>
        <p:nvSpPr>
          <p:cNvPr id="7" name="Text 4"/>
          <p:cNvSpPr txBox="1"/>
          <p:nvPr/>
        </p:nvSpPr>
        <p:spPr>
          <a:xfrm>
            <a:off x="640080" y="246888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Not captured</a:t>
            </a:r>
            <a:endParaRPr lang="en-US" sz="1500" dirty="0"/>
          </a:p>
        </p:txBody>
      </p:sp>
      <p:sp>
        <p:nvSpPr>
          <p:cNvPr id="8" name="Text 5"/>
          <p:cNvSpPr txBox="1"/>
          <p:nvPr/>
        </p:nvSpPr>
        <p:spPr>
          <a:xfrm>
            <a:off x="640080" y="2862072"/>
            <a:ext cx="2286000" cy="14630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superposition is not destroyed by the act of measurement. Nothing in the block reaches out and collapses it.</a:t>
            </a:r>
            <a:endParaRPr lang="en-US" sz="1200" dirty="0"/>
          </a:p>
        </p:txBody>
      </p:sp>
      <p:sp>
        <p:nvSpPr>
          <p:cNvPr id="9" name="Shape 6"/>
          <p:cNvSpPr/>
          <p:nvPr/>
        </p:nvSpPr>
        <p:spPr>
          <a:xfrm>
            <a:off x="3246120" y="2331720"/>
            <a:ext cx="2651760" cy="2103120"/>
          </a:xfrm>
          <a:prstGeom prst="roundRect">
            <a:avLst>
              <a:gd name="adj" fmla="val 3478"/>
            </a:avLst>
          </a:prstGeom>
          <a:solidFill>
            <a:srgbClr val="E9F3E4"/>
          </a:solidFill>
          <a:ln w="12700">
            <a:solidFill>
              <a:srgbClr val="E9F3E4"/>
            </a:solidFill>
            <a:prstDash val="solid"/>
          </a:ln>
        </p:spPr>
      </p:sp>
      <p:sp>
        <p:nvSpPr>
          <p:cNvPr id="10" name="Text 7"/>
          <p:cNvSpPr txBox="1"/>
          <p:nvPr/>
        </p:nvSpPr>
        <p:spPr>
          <a:xfrm>
            <a:off x="3429000" y="246888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Checkmated</a:t>
            </a:r>
            <a:endParaRPr lang="en-US" sz="1500" dirty="0"/>
          </a:p>
        </p:txBody>
      </p:sp>
      <p:sp>
        <p:nvSpPr>
          <p:cNvPr id="11" name="Text 8"/>
          <p:cNvSpPr txBox="1"/>
          <p:nvPr/>
        </p:nvSpPr>
        <p:spPr>
          <a:xfrm>
            <a:off x="3429000" y="2862072"/>
            <a:ext cx="2286000" cy="14630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Every refinement leads to a contradiction with the record. There is no safe line, so the state fails ∃∀ — relative to every Aethus that can read the record.</a:t>
            </a:r>
            <a:endParaRPr lang="en-US" sz="1200" dirty="0"/>
          </a:p>
        </p:txBody>
      </p:sp>
      <p:sp>
        <p:nvSpPr>
          <p:cNvPr id="12" name="Shape 9"/>
          <p:cNvSpPr/>
          <p:nvPr/>
        </p:nvSpPr>
        <p:spPr>
          <a:xfrm>
            <a:off x="6035040" y="2331720"/>
            <a:ext cx="2651760" cy="2103120"/>
          </a:xfrm>
          <a:prstGeom prst="roundRect">
            <a:avLst>
              <a:gd name="adj" fmla="val 3478"/>
            </a:avLst>
          </a:prstGeom>
          <a:solidFill>
            <a:srgbClr val="FCF3E0"/>
          </a:solidFill>
          <a:ln w="12700">
            <a:solidFill>
              <a:srgbClr val="FCF3E0"/>
            </a:solidFill>
            <a:prstDash val="solid"/>
          </a:ln>
        </p:spPr>
      </p:sp>
      <p:sp>
        <p:nvSpPr>
          <p:cNvPr id="13" name="Text 10"/>
          <p:cNvSpPr txBox="1"/>
          <p:nvPr/>
        </p:nvSpPr>
        <p:spPr>
          <a:xfrm>
            <a:off x="6217920" y="246888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projection postulate</a:t>
            </a:r>
            <a:endParaRPr lang="en-US" sz="1500" dirty="0"/>
          </a:p>
        </p:txBody>
      </p:sp>
      <p:sp>
        <p:nvSpPr>
          <p:cNvPr id="14" name="Text 11"/>
          <p:cNvSpPr txBox="1"/>
          <p:nvPr/>
        </p:nvSpPr>
        <p:spPr>
          <a:xfrm>
            <a:off x="6217920" y="2862072"/>
            <a:ext cx="2286000" cy="14630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…is this rule at work on a record, followed by renormalization. It is a theorem of the set, not an axiom beside it.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Powerset Invalidation Theorem: three bins</a:t>
            </a:r>
            <a:endParaRPr lang="en-US" sz="2800" dirty="0"/>
          </a:p>
        </p:txBody>
      </p:sp>
      <p:sp>
        <p:nvSpPr>
          <p:cNvPr id="5" name="Shape 2"/>
          <p:cNvSpPr/>
          <p:nvPr/>
        </p:nvSpPr>
        <p:spPr>
          <a:xfrm>
            <a:off x="457200" y="1280160"/>
            <a:ext cx="2621280" cy="1828800"/>
          </a:xfrm>
          <a:prstGeom prst="roundRect">
            <a:avLst>
              <a:gd name="adj" fmla="val 4000"/>
            </a:avLst>
          </a:prstGeom>
          <a:solidFill>
            <a:srgbClr val="E9F3E4"/>
          </a:solidFill>
          <a:ln w="12700">
            <a:solidFill>
              <a:srgbClr val="E9F3E4"/>
            </a:solidFill>
            <a:prstDash val="solid"/>
          </a:ln>
        </p:spPr>
      </p:sp>
      <p:sp>
        <p:nvSpPr>
          <p:cNvPr id="6" name="Text 3"/>
          <p:cNvSpPr txBox="1"/>
          <p:nvPr/>
        </p:nvSpPr>
        <p:spPr>
          <a:xfrm>
            <a:off x="594360" y="1417320"/>
            <a:ext cx="2346960" cy="320040"/>
          </a:xfrm>
          <a:prstGeom prst="rect">
            <a:avLst/>
          </a:prstGeom>
          <a:noFill/>
          <a:ln/>
        </p:spPr>
        <p:txBody>
          <a:bodyPr wrap="square" lIns="0" tIns="0" rIns="0" bIns="0" rtlCol="0" anchor="ctr"/>
          <a:lstStyle/>
          <a:p>
            <a:pPr indent="0" marL="0">
              <a:buNone/>
            </a:pPr>
            <a:r>
              <a:rPr lang="en-US" sz="1100" b="1" spc="200" kern="0" dirty="0">
                <a:solidFill>
                  <a:srgbClr val="5C8A4A"/>
                </a:solidFill>
                <a:latin typeface="Calibri" pitchFamily="34" charset="0"/>
                <a:ea typeface="Calibri" pitchFamily="34" charset="-122"/>
                <a:cs typeface="Calibri" pitchFamily="34" charset="-120"/>
              </a:rPr>
              <a:t>VALID</a:t>
            </a:r>
            <a:endParaRPr lang="en-US" sz="1100" dirty="0"/>
          </a:p>
        </p:txBody>
      </p:sp>
      <p:sp>
        <p:nvSpPr>
          <p:cNvPr id="7" name="Text 4"/>
          <p:cNvSpPr txBox="1"/>
          <p:nvPr/>
        </p:nvSpPr>
        <p:spPr>
          <a:xfrm>
            <a:off x="594360" y="1783080"/>
            <a:ext cx="2346960" cy="11887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a whole class of the record partition</a:t>
            </a:r>
            <a:endParaRPr lang="en-US" sz="1200" dirty="0"/>
          </a:p>
        </p:txBody>
      </p:sp>
      <p:sp>
        <p:nvSpPr>
          <p:cNvPr id="8" name="Shape 5"/>
          <p:cNvSpPr/>
          <p:nvPr/>
        </p:nvSpPr>
        <p:spPr>
          <a:xfrm>
            <a:off x="3261360" y="1280160"/>
            <a:ext cx="2621280" cy="1828800"/>
          </a:xfrm>
          <a:prstGeom prst="roundRect">
            <a:avLst>
              <a:gd name="adj" fmla="val 4000"/>
            </a:avLst>
          </a:prstGeom>
          <a:solidFill>
            <a:srgbClr val="F4F7FB"/>
          </a:solidFill>
          <a:ln w="12700">
            <a:solidFill>
              <a:srgbClr val="F4F7FB"/>
            </a:solidFill>
            <a:prstDash val="solid"/>
          </a:ln>
        </p:spPr>
      </p:sp>
      <p:sp>
        <p:nvSpPr>
          <p:cNvPr id="9" name="Text 6"/>
          <p:cNvSpPr txBox="1"/>
          <p:nvPr/>
        </p:nvSpPr>
        <p:spPr>
          <a:xfrm>
            <a:off x="3398520" y="1417320"/>
            <a:ext cx="2346960" cy="320040"/>
          </a:xfrm>
          <a:prstGeom prst="rect">
            <a:avLst/>
          </a:prstGeom>
          <a:noFill/>
          <a:ln/>
        </p:spPr>
        <p:txBody>
          <a:bodyPr wrap="square" lIns="0" tIns="0" rIns="0" bIns="0" rtlCol="0" anchor="ctr"/>
          <a:lstStyle/>
          <a:p>
            <a:pPr indent="0" marL="0">
              <a:buNone/>
            </a:pPr>
            <a:r>
              <a:rPr lang="en-US" sz="1100" b="1" spc="200" kern="0" dirty="0">
                <a:solidFill>
                  <a:srgbClr val="6B7A90"/>
                </a:solidFill>
                <a:latin typeface="Calibri" pitchFamily="34" charset="0"/>
                <a:ea typeface="Calibri" pitchFamily="34" charset="-122"/>
                <a:cs typeface="Calibri" pitchFamily="34" charset="-120"/>
              </a:rPr>
              <a:t>OVER-SPECIFIED</a:t>
            </a:r>
            <a:endParaRPr lang="en-US" sz="1100" dirty="0"/>
          </a:p>
        </p:txBody>
      </p:sp>
      <p:sp>
        <p:nvSpPr>
          <p:cNvPr id="10" name="Text 7"/>
          <p:cNvSpPr txBox="1"/>
          <p:nvPr/>
        </p:nvSpPr>
        <p:spPr>
          <a:xfrm>
            <a:off x="3398520" y="1783080"/>
            <a:ext cx="2346960" cy="11887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a proper part of a class: asserts a resolution no record made</a:t>
            </a:r>
            <a:endParaRPr lang="en-US" sz="1200" dirty="0"/>
          </a:p>
        </p:txBody>
      </p:sp>
      <p:sp>
        <p:nvSpPr>
          <p:cNvPr id="11" name="Shape 8"/>
          <p:cNvSpPr/>
          <p:nvPr/>
        </p:nvSpPr>
        <p:spPr>
          <a:xfrm>
            <a:off x="6065520" y="1280160"/>
            <a:ext cx="2621280" cy="1828800"/>
          </a:xfrm>
          <a:prstGeom prst="roundRect">
            <a:avLst>
              <a:gd name="adj" fmla="val 4000"/>
            </a:avLst>
          </a:prstGeom>
          <a:solidFill>
            <a:srgbClr val="FBE9E7"/>
          </a:solidFill>
          <a:ln w="12700">
            <a:solidFill>
              <a:srgbClr val="FBE9E7"/>
            </a:solidFill>
            <a:prstDash val="solid"/>
          </a:ln>
        </p:spPr>
      </p:sp>
      <p:sp>
        <p:nvSpPr>
          <p:cNvPr id="12" name="Text 9"/>
          <p:cNvSpPr txBox="1"/>
          <p:nvPr/>
        </p:nvSpPr>
        <p:spPr>
          <a:xfrm>
            <a:off x="6202680" y="1417320"/>
            <a:ext cx="2346960" cy="320040"/>
          </a:xfrm>
          <a:prstGeom prst="rect">
            <a:avLst/>
          </a:prstGeom>
          <a:noFill/>
          <a:ln/>
        </p:spPr>
        <p:txBody>
          <a:bodyPr wrap="square" lIns="0" tIns="0" rIns="0" bIns="0" rtlCol="0" anchor="ctr"/>
          <a:lstStyle/>
          <a:p>
            <a:pPr indent="0" marL="0">
              <a:buNone/>
            </a:pPr>
            <a:r>
              <a:rPr lang="en-US" sz="1100" b="1" spc="200" kern="0" dirty="0">
                <a:solidFill>
                  <a:srgbClr val="C8553D"/>
                </a:solidFill>
                <a:latin typeface="Calibri" pitchFamily="34" charset="0"/>
                <a:ea typeface="Calibri" pitchFamily="34" charset="-122"/>
                <a:cs typeface="Calibri" pitchFamily="34" charset="-120"/>
              </a:rPr>
              <a:t>CHECKMATED</a:t>
            </a:r>
            <a:endParaRPr lang="en-US" sz="1100" dirty="0"/>
          </a:p>
        </p:txBody>
      </p:sp>
      <p:sp>
        <p:nvSpPr>
          <p:cNvPr id="13" name="Text 10"/>
          <p:cNvSpPr txBox="1"/>
          <p:nvPr/>
        </p:nvSpPr>
        <p:spPr>
          <a:xfrm>
            <a:off x="6202680" y="1783080"/>
            <a:ext cx="2346960" cy="11887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spans two classes: some record contradicts it in every refinement</a:t>
            </a:r>
            <a:endParaRPr lang="en-US" sz="1200" dirty="0"/>
          </a:p>
        </p:txBody>
      </p:sp>
      <p:sp>
        <p:nvSpPr>
          <p:cNvPr id="14" name="Shape 11"/>
          <p:cNvSpPr/>
          <p:nvPr/>
        </p:nvSpPr>
        <p:spPr>
          <a:xfrm>
            <a:off x="457200" y="3291840"/>
            <a:ext cx="8229600" cy="1143000"/>
          </a:xfrm>
          <a:prstGeom prst="roundRect">
            <a:avLst>
              <a:gd name="adj" fmla="val 6400"/>
            </a:avLst>
          </a:prstGeom>
          <a:solidFill>
            <a:srgbClr val="FCF3E0"/>
          </a:solidFill>
          <a:ln w="12700">
            <a:solidFill>
              <a:srgbClr val="FCF3E0"/>
            </a:solidFill>
            <a:prstDash val="solid"/>
          </a:ln>
        </p:spPr>
      </p:sp>
      <p:sp>
        <p:nvSpPr>
          <p:cNvPr id="15" name="Text 12"/>
          <p:cNvSpPr txBox="1"/>
          <p:nvPr/>
        </p:nvSpPr>
        <p:spPr>
          <a:xfrm>
            <a:off x="640080" y="342900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the theorem relocates</a:t>
            </a:r>
            <a:endParaRPr lang="en-US" sz="1500" dirty="0"/>
          </a:p>
        </p:txBody>
      </p:sp>
      <p:sp>
        <p:nvSpPr>
          <p:cNvPr id="16" name="Text 13"/>
          <p:cNvSpPr txBox="1"/>
          <p:nvPr/>
        </p:nvSpPr>
        <p:spPr>
          <a:xfrm>
            <a:off x="640080" y="3822192"/>
            <a:ext cx="7863840" cy="5029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quantum–classical boundary is not a scale. It is a record partition: an alternative is quantum where no record separates it from its neighbours and classical where one does. Size enters only through how many records a big thing leaves.</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Measurement and observation are two operations</a:t>
            </a:r>
            <a:endParaRPr lang="en-US" sz="2800" dirty="0"/>
          </a:p>
        </p:txBody>
      </p:sp>
      <p:sp>
        <p:nvSpPr>
          <p:cNvPr id="5" name="Shape 2"/>
          <p:cNvSpPr/>
          <p:nvPr/>
        </p:nvSpPr>
        <p:spPr>
          <a:xfrm>
            <a:off x="457200" y="1280160"/>
            <a:ext cx="3931920" cy="3154680"/>
          </a:xfrm>
          <a:prstGeom prst="roundRect">
            <a:avLst>
              <a:gd name="adj" fmla="val 2319"/>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Measurement</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transition from agreeing to disagreeing.</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Trigger: a record separating the alternatives exists somewhere in the block.</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Output: pockets, each with a weight — enumerated, not selected. Governed by the block's records, not by any apparatus's intent.</a:t>
            </a:r>
            <a:endParaRPr lang="en-US" sz="1250" dirty="0"/>
          </a:p>
        </p:txBody>
      </p:sp>
      <p:sp>
        <p:nvSpPr>
          <p:cNvPr id="8" name="Shape 5"/>
          <p:cNvSpPr/>
          <p:nvPr/>
        </p:nvSpPr>
        <p:spPr>
          <a:xfrm>
            <a:off x="4754880" y="1280160"/>
            <a:ext cx="3931920" cy="3154680"/>
          </a:xfrm>
          <a:prstGeom prst="roundRect">
            <a:avLst>
              <a:gd name="adj" fmla="val 2319"/>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Observation</a:t>
            </a:r>
            <a:endParaRPr lang="en-US" sz="1500" dirty="0"/>
          </a:p>
        </p:txBody>
      </p:sp>
      <p:sp>
        <p:nvSpPr>
          <p:cNvPr id="10" name="Text 7"/>
          <p:cNvSpPr txBox="1"/>
          <p:nvPr/>
        </p:nvSpPr>
        <p:spPr>
          <a:xfrm>
            <a:off x="493776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selection of a pocket.</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Trigger: the record arrives in the observer's own Aethus.</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Output: the transit to the Aethus in which that pocket was always the case. The only place randomness enters — randomness over Aethae.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One kernel, and the formalism recovered</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Quantum Nexus and the Dual Path Principle; the recovery theorem, axiom by axiom; the interferometer with numbers.</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Quantum Nexus, and the Dual Path Principle</a:t>
            </a:r>
            <a:endParaRPr lang="en-US" sz="2800" dirty="0"/>
          </a:p>
        </p:txBody>
      </p:sp>
      <p:sp>
        <p:nvSpPr>
          <p:cNvPr id="5" name="Shape 2"/>
          <p:cNvSpPr/>
          <p:nvPr/>
        </p:nvSpPr>
        <p:spPr>
          <a:xfrm>
            <a:off x="457200" y="1280160"/>
            <a:ext cx="8229600" cy="1051560"/>
          </a:xfrm>
          <a:prstGeom prst="roundRect">
            <a:avLst>
              <a:gd name="adj" fmla="val 5217"/>
            </a:avLst>
          </a:prstGeom>
          <a:solidFill>
            <a:srgbClr val="FCF3E0"/>
          </a:solidFill>
          <a:ln w="12700">
            <a:solidFill>
              <a:srgbClr val="FCF3E0"/>
            </a:solidFill>
            <a:prstDash val="solid"/>
          </a:ln>
        </p:spPr>
      </p:sp>
      <p:sp>
        <p:nvSpPr>
          <p:cNvPr id="6" name="Text 3"/>
          <p:cNvSpPr txBox="1"/>
          <p:nvPr/>
        </p:nvSpPr>
        <p:spPr>
          <a:xfrm>
            <a:off x="640080" y="1371600"/>
            <a:ext cx="786384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Cambria" pitchFamily="34" charset="0"/>
                <a:ea typeface="Cambria" pitchFamily="34" charset="-122"/>
                <a:cs typeface="Cambria" pitchFamily="34" charset="-120"/>
              </a:rPr>
              <a:t>W(T)  =  ∬ cos( (S[q₁] − S[q₂]) / ħ )  𝒟[q₁] 𝒟[q₂]   over T × T</a:t>
            </a:r>
            <a:endParaRPr lang="en-US" sz="2000" dirty="0"/>
          </a:p>
        </p:txBody>
      </p:sp>
      <p:sp>
        <p:nvSpPr>
          <p:cNvPr id="7" name="Text 4"/>
          <p:cNvSpPr txBox="1"/>
          <p:nvPr/>
        </p:nvSpPr>
        <p:spPr>
          <a:xfrm>
            <a:off x="640080" y="1874520"/>
            <a:ext cx="7863840" cy="365760"/>
          </a:xfrm>
          <a:prstGeom prst="rect">
            <a:avLst/>
          </a:prstGeom>
          <a:noFill/>
          <a:ln/>
        </p:spPr>
        <p:txBody>
          <a:bodyPr wrap="square" lIns="0" tIns="0" rIns="0" bIns="0" rtlCol="0" anchor="ctr"/>
          <a:lstStyle/>
          <a:p>
            <a:pPr algn="ctr" indent="0" marL="0">
              <a:buNone/>
            </a:pPr>
            <a:r>
              <a:rPr lang="en-US" sz="1200" i="1" dirty="0">
                <a:solidFill>
                  <a:srgbClr val="6B7A90"/>
                </a:solidFill>
                <a:latin typeface="Calibri" pitchFamily="34" charset="0"/>
                <a:ea typeface="Calibri" pitchFamily="34" charset="-122"/>
                <a:cs typeface="Calibri" pitchFamily="34" charset="-120"/>
              </a:rPr>
              <a:t>the weight of a cluster T of augmented paths, summed over ordered pairs</a:t>
            </a:r>
            <a:endParaRPr lang="en-US" sz="1200" dirty="0"/>
          </a:p>
        </p:txBody>
      </p:sp>
      <p:sp>
        <p:nvSpPr>
          <p:cNvPr id="8" name="Shape 5"/>
          <p:cNvSpPr/>
          <p:nvPr/>
        </p:nvSpPr>
        <p:spPr>
          <a:xfrm>
            <a:off x="457200" y="2514600"/>
            <a:ext cx="3931920" cy="1920240"/>
          </a:xfrm>
          <a:prstGeom prst="roundRect">
            <a:avLst>
              <a:gd name="adj" fmla="val 3810"/>
            </a:avLst>
          </a:prstGeom>
          <a:solidFill>
            <a:srgbClr val="F4F7FB"/>
          </a:solidFill>
          <a:ln w="12700">
            <a:solidFill>
              <a:srgbClr val="F4F7FB"/>
            </a:solidFill>
            <a:prstDash val="solid"/>
          </a:ln>
        </p:spPr>
      </p:sp>
      <p:sp>
        <p:nvSpPr>
          <p:cNvPr id="9" name="Text 6"/>
          <p:cNvSpPr txBox="1"/>
          <p:nvPr/>
        </p:nvSpPr>
        <p:spPr>
          <a:xfrm>
            <a:off x="640080" y="265176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Dual Path Principle</a:t>
            </a:r>
            <a:endParaRPr lang="en-US" sz="1500" dirty="0"/>
          </a:p>
        </p:txBody>
      </p:sp>
      <p:sp>
        <p:nvSpPr>
          <p:cNvPr id="10" name="Text 7"/>
          <p:cNvSpPr txBox="1"/>
          <p:nvPr/>
        </p:nvSpPr>
        <p:spPr>
          <a:xfrm>
            <a:off x="640080" y="3044952"/>
            <a:ext cx="3566160" cy="12801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Nexus's object is a pair of paths, never a single path. The Born rule's square is not an exponent on one amplitude but the pairing of two. A single path, taken alone, has no weight at all.</a:t>
            </a:r>
            <a:endParaRPr lang="en-US" sz="1250" dirty="0"/>
          </a:p>
        </p:txBody>
      </p:sp>
      <p:sp>
        <p:nvSpPr>
          <p:cNvPr id="11" name="Shape 8"/>
          <p:cNvSpPr/>
          <p:nvPr/>
        </p:nvSpPr>
        <p:spPr>
          <a:xfrm>
            <a:off x="4754880" y="2514600"/>
            <a:ext cx="3931920" cy="1920240"/>
          </a:xfrm>
          <a:prstGeom prst="roundRect">
            <a:avLst>
              <a:gd name="adj" fmla="val 3810"/>
            </a:avLst>
          </a:prstGeom>
          <a:solidFill>
            <a:srgbClr val="F4F7FB"/>
          </a:solidFill>
          <a:ln w="12700">
            <a:solidFill>
              <a:srgbClr val="F4F7FB"/>
            </a:solidFill>
            <a:prstDash val="solid"/>
          </a:ln>
        </p:spPr>
      </p:sp>
      <p:sp>
        <p:nvSpPr>
          <p:cNvPr id="12" name="Text 9"/>
          <p:cNvSpPr txBox="1"/>
          <p:nvPr/>
        </p:nvSpPr>
        <p:spPr>
          <a:xfrm>
            <a:off x="4937760" y="265176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Why it is a posit</a:t>
            </a:r>
            <a:endParaRPr lang="en-US" sz="1500" dirty="0"/>
          </a:p>
        </p:txBody>
      </p:sp>
      <p:sp>
        <p:nvSpPr>
          <p:cNvPr id="13" name="Text 10"/>
          <p:cNvSpPr txBox="1"/>
          <p:nvPr/>
        </p:nvSpPr>
        <p:spPr>
          <a:xfrm>
            <a:off x="4937760" y="3044952"/>
            <a:ext cx="3566160" cy="12801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postulates are logical; the kernel is kinematic. No pruning of a binary structure produces continuous phase. So the kernel is unveiled by the arena, not derived from the logic — and the paper says so.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recovery theorem, axiom by axiom</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603504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Dirac–von Neumann</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 the Aethic set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States are rays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cluster vector, up to phase and conjugation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Superposition</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union of clusters in the agreeing regime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Observables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partitions that records induce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Born rule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C8553D"/>
                          </a:solidFill>
                          <a:latin typeface="Calibri" pitchFamily="34" charset="0"/>
                          <a:ea typeface="Calibri" pitchFamily="34" charset="-122"/>
                          <a:cs typeface="Calibri" pitchFamily="34" charset="-120"/>
                        </a:rPr>
                        <a:t>the weight of a record-restricted cluster — absorbed into the one weight law</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Projection postulate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consistency-pruning followed by renormalization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Composite systems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products of path spaces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Unitary evolution</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kernel's composition law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No-signalling</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an algebraic identity of clause (viii)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6" name="Text 2"/>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50" b="1" i="1" dirty="0">
                <a:solidFill>
                  <a:srgbClr val="E9A23B"/>
                </a:solidFill>
                <a:latin typeface="Cambria" pitchFamily="34" charset="0"/>
                <a:ea typeface="Cambria" pitchFamily="34" charset="-122"/>
                <a:cs typeface="Cambria" pitchFamily="34" charset="-120"/>
              </a:rPr>
              <a:t>Six of seven as theorems; the Born rule absorbed. No measurement, projection, or observables axiom remains.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Mach–Zehnder interferometer, with numbers</a:t>
            </a:r>
            <a:endParaRPr lang="en-US" sz="2800" dirty="0"/>
          </a:p>
        </p:txBody>
      </p:sp>
      <p:sp>
        <p:nvSpPr>
          <p:cNvPr id="5" name="Shape 2"/>
          <p:cNvSpPr/>
          <p:nvPr/>
        </p:nvSpPr>
        <p:spPr>
          <a:xfrm>
            <a:off x="640080" y="3886200"/>
            <a:ext cx="640080" cy="914"/>
          </a:xfrm>
          <a:prstGeom prst="line">
            <a:avLst/>
          </a:prstGeom>
          <a:noFill/>
          <a:ln w="25400">
            <a:solidFill>
              <a:srgbClr val="E9A23B"/>
            </a:solidFill>
            <a:prstDash val="solid"/>
          </a:ln>
        </p:spPr>
      </p:sp>
      <p:sp>
        <p:nvSpPr>
          <p:cNvPr id="6" name="Shape 3"/>
          <p:cNvSpPr/>
          <p:nvPr/>
        </p:nvSpPr>
        <p:spPr>
          <a:xfrm>
            <a:off x="1280160" y="2011680"/>
            <a:ext cx="914" cy="1874520"/>
          </a:xfrm>
          <a:prstGeom prst="line">
            <a:avLst/>
          </a:prstGeom>
          <a:noFill/>
          <a:ln w="25400">
            <a:solidFill>
              <a:srgbClr val="2A9D8F"/>
            </a:solidFill>
            <a:prstDash val="solid"/>
          </a:ln>
        </p:spPr>
      </p:sp>
      <p:sp>
        <p:nvSpPr>
          <p:cNvPr id="7" name="Shape 4"/>
          <p:cNvSpPr/>
          <p:nvPr/>
        </p:nvSpPr>
        <p:spPr>
          <a:xfrm>
            <a:off x="1280160" y="2011680"/>
            <a:ext cx="1645920" cy="914"/>
          </a:xfrm>
          <a:prstGeom prst="line">
            <a:avLst/>
          </a:prstGeom>
          <a:noFill/>
          <a:ln w="25400">
            <a:solidFill>
              <a:srgbClr val="2A9D8F"/>
            </a:solidFill>
            <a:prstDash val="solid"/>
          </a:ln>
        </p:spPr>
      </p:sp>
      <p:sp>
        <p:nvSpPr>
          <p:cNvPr id="8" name="Shape 5"/>
          <p:cNvSpPr/>
          <p:nvPr/>
        </p:nvSpPr>
        <p:spPr>
          <a:xfrm>
            <a:off x="1280160" y="3886200"/>
            <a:ext cx="1645920" cy="914"/>
          </a:xfrm>
          <a:prstGeom prst="line">
            <a:avLst/>
          </a:prstGeom>
          <a:noFill/>
          <a:ln w="25400">
            <a:solidFill>
              <a:srgbClr val="0F1B2D"/>
            </a:solidFill>
            <a:prstDash val="solid"/>
          </a:ln>
        </p:spPr>
      </p:sp>
      <p:sp>
        <p:nvSpPr>
          <p:cNvPr id="9" name="Shape 6"/>
          <p:cNvSpPr/>
          <p:nvPr/>
        </p:nvSpPr>
        <p:spPr>
          <a:xfrm>
            <a:off x="2926080" y="2011680"/>
            <a:ext cx="914" cy="1874520"/>
          </a:xfrm>
          <a:prstGeom prst="line">
            <a:avLst/>
          </a:prstGeom>
          <a:noFill/>
          <a:ln w="25400">
            <a:solidFill>
              <a:srgbClr val="0F1B2D"/>
            </a:solidFill>
            <a:prstDash val="solid"/>
          </a:ln>
        </p:spPr>
      </p:sp>
      <p:sp>
        <p:nvSpPr>
          <p:cNvPr id="10" name="Shape 7"/>
          <p:cNvSpPr/>
          <p:nvPr/>
        </p:nvSpPr>
        <p:spPr>
          <a:xfrm>
            <a:off x="2926080" y="2011680"/>
            <a:ext cx="731520" cy="914"/>
          </a:xfrm>
          <a:prstGeom prst="line">
            <a:avLst/>
          </a:prstGeom>
          <a:noFill/>
          <a:ln w="25400">
            <a:solidFill>
              <a:srgbClr val="6B7A90"/>
            </a:solidFill>
            <a:prstDash val="solid"/>
          </a:ln>
        </p:spPr>
      </p:sp>
      <p:sp>
        <p:nvSpPr>
          <p:cNvPr id="11" name="Shape 8"/>
          <p:cNvSpPr/>
          <p:nvPr/>
        </p:nvSpPr>
        <p:spPr>
          <a:xfrm>
            <a:off x="2926080" y="1600200"/>
            <a:ext cx="914" cy="411480"/>
          </a:xfrm>
          <a:prstGeom prst="line">
            <a:avLst/>
          </a:prstGeom>
          <a:noFill/>
          <a:ln w="25400">
            <a:solidFill>
              <a:srgbClr val="6B7A90"/>
            </a:solidFill>
            <a:prstDash val="solid"/>
          </a:ln>
        </p:spPr>
      </p:sp>
      <p:sp>
        <p:nvSpPr>
          <p:cNvPr id="12" name="Shape 9"/>
          <p:cNvSpPr/>
          <p:nvPr/>
        </p:nvSpPr>
        <p:spPr>
          <a:xfrm rot="2700000">
            <a:off x="1197864" y="3803904"/>
            <a:ext cx="164592" cy="164592"/>
          </a:xfrm>
          <a:prstGeom prst="rect">
            <a:avLst/>
          </a:prstGeom>
          <a:solidFill>
            <a:srgbClr val="FFFFFF"/>
          </a:solidFill>
          <a:ln w="19050">
            <a:solidFill>
              <a:srgbClr val="0F1B2D"/>
            </a:solidFill>
            <a:prstDash val="solid"/>
          </a:ln>
        </p:spPr>
      </p:sp>
      <p:sp>
        <p:nvSpPr>
          <p:cNvPr id="13" name="Shape 10"/>
          <p:cNvSpPr/>
          <p:nvPr/>
        </p:nvSpPr>
        <p:spPr>
          <a:xfrm rot="2700000">
            <a:off x="2843784" y="1929384"/>
            <a:ext cx="164592" cy="164592"/>
          </a:xfrm>
          <a:prstGeom prst="rect">
            <a:avLst/>
          </a:prstGeom>
          <a:solidFill>
            <a:srgbClr val="FFFFFF"/>
          </a:solidFill>
          <a:ln w="19050">
            <a:solidFill>
              <a:srgbClr val="0F1B2D"/>
            </a:solidFill>
            <a:prstDash val="solid"/>
          </a:ln>
        </p:spPr>
      </p:sp>
      <p:sp>
        <p:nvSpPr>
          <p:cNvPr id="14" name="Shape 11"/>
          <p:cNvSpPr/>
          <p:nvPr/>
        </p:nvSpPr>
        <p:spPr>
          <a:xfrm rot="2700000">
            <a:off x="1179576" y="1984248"/>
            <a:ext cx="201168" cy="54864"/>
          </a:xfrm>
          <a:prstGeom prst="rect">
            <a:avLst/>
          </a:prstGeom>
          <a:solidFill>
            <a:srgbClr val="0F1B2D"/>
          </a:solidFill>
          <a:ln w="12700">
            <a:solidFill>
              <a:srgbClr val="0F1B2D"/>
            </a:solidFill>
            <a:prstDash val="solid"/>
          </a:ln>
        </p:spPr>
      </p:sp>
      <p:sp>
        <p:nvSpPr>
          <p:cNvPr id="15" name="Shape 12"/>
          <p:cNvSpPr/>
          <p:nvPr/>
        </p:nvSpPr>
        <p:spPr>
          <a:xfrm rot="2700000">
            <a:off x="2825496" y="3858768"/>
            <a:ext cx="201168" cy="54864"/>
          </a:xfrm>
          <a:prstGeom prst="rect">
            <a:avLst/>
          </a:prstGeom>
          <a:solidFill>
            <a:srgbClr val="0F1B2D"/>
          </a:solidFill>
          <a:ln w="12700">
            <a:solidFill>
              <a:srgbClr val="0F1B2D"/>
            </a:solidFill>
            <a:prstDash val="solid"/>
          </a:ln>
        </p:spPr>
      </p:sp>
      <p:sp>
        <p:nvSpPr>
          <p:cNvPr id="16" name="Shape 13"/>
          <p:cNvSpPr/>
          <p:nvPr/>
        </p:nvSpPr>
        <p:spPr>
          <a:xfrm>
            <a:off x="502920" y="3803904"/>
            <a:ext cx="164592" cy="164592"/>
          </a:xfrm>
          <a:prstGeom prst="ellipse">
            <a:avLst/>
          </a:prstGeom>
          <a:solidFill>
            <a:srgbClr val="E9A23B"/>
          </a:solidFill>
          <a:ln w="12700">
            <a:solidFill>
              <a:srgbClr val="E9A23B"/>
            </a:solidFill>
            <a:prstDash val="solid"/>
          </a:ln>
        </p:spPr>
      </p:sp>
      <p:sp>
        <p:nvSpPr>
          <p:cNvPr id="17" name="Shape 14"/>
          <p:cNvSpPr/>
          <p:nvPr/>
        </p:nvSpPr>
        <p:spPr>
          <a:xfrm>
            <a:off x="3657600" y="1883664"/>
            <a:ext cx="256032" cy="256032"/>
          </a:xfrm>
          <a:prstGeom prst="rect">
            <a:avLst/>
          </a:prstGeom>
          <a:solidFill>
            <a:srgbClr val="C8553D"/>
          </a:solidFill>
          <a:ln w="12700">
            <a:solidFill>
              <a:srgbClr val="C8553D"/>
            </a:solidFill>
            <a:prstDash val="solid"/>
          </a:ln>
        </p:spPr>
      </p:sp>
      <p:sp>
        <p:nvSpPr>
          <p:cNvPr id="18" name="Shape 15"/>
          <p:cNvSpPr/>
          <p:nvPr/>
        </p:nvSpPr>
        <p:spPr>
          <a:xfrm>
            <a:off x="2798064" y="1344168"/>
            <a:ext cx="256032" cy="256032"/>
          </a:xfrm>
          <a:prstGeom prst="rect">
            <a:avLst/>
          </a:prstGeom>
          <a:solidFill>
            <a:srgbClr val="C8553D"/>
          </a:solidFill>
          <a:ln w="12700">
            <a:solidFill>
              <a:srgbClr val="C8553D"/>
            </a:solidFill>
            <a:prstDash val="solid"/>
          </a:ln>
        </p:spPr>
      </p:sp>
      <p:sp>
        <p:nvSpPr>
          <p:cNvPr id="19" name="Text 16"/>
          <p:cNvSpPr txBox="1"/>
          <p:nvPr/>
        </p:nvSpPr>
        <p:spPr>
          <a:xfrm>
            <a:off x="1408176" y="3959352"/>
            <a:ext cx="822960" cy="22860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BS₁</a:t>
            </a:r>
            <a:endParaRPr lang="en-US" sz="1000" dirty="0"/>
          </a:p>
        </p:txBody>
      </p:sp>
      <p:sp>
        <p:nvSpPr>
          <p:cNvPr id="20" name="Text 17"/>
          <p:cNvSpPr txBox="1"/>
          <p:nvPr/>
        </p:nvSpPr>
        <p:spPr>
          <a:xfrm>
            <a:off x="2423160" y="1719072"/>
            <a:ext cx="822960" cy="22860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BS₂</a:t>
            </a:r>
            <a:endParaRPr lang="en-US" sz="1000" dirty="0"/>
          </a:p>
        </p:txBody>
      </p:sp>
      <p:sp>
        <p:nvSpPr>
          <p:cNvPr id="21" name="Text 18"/>
          <p:cNvSpPr txBox="1"/>
          <p:nvPr/>
        </p:nvSpPr>
        <p:spPr>
          <a:xfrm>
            <a:off x="1554480" y="1719072"/>
            <a:ext cx="1645920" cy="228600"/>
          </a:xfrm>
          <a:prstGeom prst="rect">
            <a:avLst/>
          </a:prstGeom>
          <a:noFill/>
          <a:ln/>
        </p:spPr>
        <p:txBody>
          <a:bodyPr wrap="square" lIns="0" tIns="0" rIns="0" bIns="0" rtlCol="0" anchor="ctr"/>
          <a:lstStyle/>
          <a:p>
            <a:pPr indent="0" marL="0">
              <a:buNone/>
            </a:pPr>
            <a:r>
              <a:rPr lang="en-US" sz="1000" dirty="0">
                <a:solidFill>
                  <a:srgbClr val="2A9D8F"/>
                </a:solidFill>
                <a:latin typeface="Calibri" pitchFamily="34" charset="0"/>
                <a:ea typeface="Calibri" pitchFamily="34" charset="-122"/>
                <a:cs typeface="Calibri" pitchFamily="34" charset="-120"/>
              </a:rPr>
              <a:t>arm a  (phase φ)</a:t>
            </a:r>
            <a:endParaRPr lang="en-US" sz="1000" dirty="0"/>
          </a:p>
        </p:txBody>
      </p:sp>
      <p:sp>
        <p:nvSpPr>
          <p:cNvPr id="22" name="Text 19"/>
          <p:cNvSpPr txBox="1"/>
          <p:nvPr/>
        </p:nvSpPr>
        <p:spPr>
          <a:xfrm>
            <a:off x="2194560" y="3959352"/>
            <a:ext cx="822960" cy="22860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arm b</a:t>
            </a:r>
            <a:endParaRPr lang="en-US" sz="1000" dirty="0"/>
          </a:p>
        </p:txBody>
      </p:sp>
      <p:sp>
        <p:nvSpPr>
          <p:cNvPr id="23" name="Text 20"/>
          <p:cNvSpPr txBox="1"/>
          <p:nvPr/>
        </p:nvSpPr>
        <p:spPr>
          <a:xfrm>
            <a:off x="3950208" y="1920240"/>
            <a:ext cx="822960" cy="228600"/>
          </a:xfrm>
          <a:prstGeom prst="rect">
            <a:avLst/>
          </a:prstGeom>
          <a:noFill/>
          <a:ln/>
        </p:spPr>
        <p:txBody>
          <a:bodyPr wrap="square" lIns="0" tIns="0" rIns="0" bIns="0" rtlCol="0" anchor="ctr"/>
          <a:lstStyle/>
          <a:p>
            <a:pPr indent="0" marL="0">
              <a:buNone/>
            </a:pPr>
            <a:r>
              <a:rPr lang="en-US" sz="1000" dirty="0">
                <a:solidFill>
                  <a:srgbClr val="C8553D"/>
                </a:solidFill>
                <a:latin typeface="Calibri" pitchFamily="34" charset="0"/>
                <a:ea typeface="Calibri" pitchFamily="34" charset="-122"/>
                <a:cs typeface="Calibri" pitchFamily="34" charset="-120"/>
              </a:rPr>
              <a:t>D₁</a:t>
            </a:r>
            <a:endParaRPr lang="en-US" sz="1000" dirty="0"/>
          </a:p>
        </p:txBody>
      </p:sp>
      <p:sp>
        <p:nvSpPr>
          <p:cNvPr id="24" name="Text 21"/>
          <p:cNvSpPr txBox="1"/>
          <p:nvPr/>
        </p:nvSpPr>
        <p:spPr>
          <a:xfrm>
            <a:off x="3108960" y="1280160"/>
            <a:ext cx="822960" cy="228600"/>
          </a:xfrm>
          <a:prstGeom prst="rect">
            <a:avLst/>
          </a:prstGeom>
          <a:noFill/>
          <a:ln/>
        </p:spPr>
        <p:txBody>
          <a:bodyPr wrap="square" lIns="0" tIns="0" rIns="0" bIns="0" rtlCol="0" anchor="ctr"/>
          <a:lstStyle/>
          <a:p>
            <a:pPr indent="0" marL="0">
              <a:buNone/>
            </a:pPr>
            <a:r>
              <a:rPr lang="en-US" sz="1000" dirty="0">
                <a:solidFill>
                  <a:srgbClr val="C8553D"/>
                </a:solidFill>
                <a:latin typeface="Calibri" pitchFamily="34" charset="0"/>
                <a:ea typeface="Calibri" pitchFamily="34" charset="-122"/>
                <a:cs typeface="Calibri" pitchFamily="34" charset="-120"/>
              </a:rPr>
              <a:t>D₀</a:t>
            </a:r>
            <a:endParaRPr lang="en-US" sz="1000" dirty="0"/>
          </a:p>
        </p:txBody>
      </p:sp>
      <p:sp>
        <p:nvSpPr>
          <p:cNvPr id="25" name="Shape 22"/>
          <p:cNvSpPr/>
          <p:nvPr/>
        </p:nvSpPr>
        <p:spPr>
          <a:xfrm>
            <a:off x="4572000" y="1280160"/>
            <a:ext cx="4114800" cy="1005840"/>
          </a:xfrm>
          <a:prstGeom prst="roundRect">
            <a:avLst>
              <a:gd name="adj" fmla="val 7273"/>
            </a:avLst>
          </a:prstGeom>
          <a:solidFill>
            <a:srgbClr val="E8F0FA"/>
          </a:solidFill>
          <a:ln w="12700">
            <a:solidFill>
              <a:srgbClr val="E8F0FA"/>
            </a:solidFill>
            <a:prstDash val="solid"/>
          </a:ln>
        </p:spPr>
      </p:sp>
      <p:sp>
        <p:nvSpPr>
          <p:cNvPr id="26" name="Text 23"/>
          <p:cNvSpPr txBox="1"/>
          <p:nvPr/>
        </p:nvSpPr>
        <p:spPr>
          <a:xfrm>
            <a:off x="4754880" y="1417320"/>
            <a:ext cx="37490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 marker — agreeing</a:t>
            </a:r>
            <a:endParaRPr lang="en-US" sz="1500" dirty="0"/>
          </a:p>
        </p:txBody>
      </p:sp>
      <p:sp>
        <p:nvSpPr>
          <p:cNvPr id="27" name="Text 24"/>
          <p:cNvSpPr txBox="1"/>
          <p:nvPr/>
        </p:nvSpPr>
        <p:spPr>
          <a:xfrm>
            <a:off x="4754880" y="1810512"/>
            <a:ext cx="3749040" cy="3657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W(D₀) = |e^(iφ)/2 − 1/2|² = sin²(φ/2)</a:t>
            </a: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W(D₁) = cos²(φ/2)</a:t>
            </a:r>
            <a:endParaRPr lang="en-US" sz="1200" dirty="0"/>
          </a:p>
        </p:txBody>
      </p:sp>
      <p:sp>
        <p:nvSpPr>
          <p:cNvPr id="28" name="Shape 25"/>
          <p:cNvSpPr/>
          <p:nvPr/>
        </p:nvSpPr>
        <p:spPr>
          <a:xfrm>
            <a:off x="4572000" y="2377440"/>
            <a:ext cx="4114800" cy="1005840"/>
          </a:xfrm>
          <a:prstGeom prst="roundRect">
            <a:avLst>
              <a:gd name="adj" fmla="val 7273"/>
            </a:avLst>
          </a:prstGeom>
          <a:solidFill>
            <a:srgbClr val="F4F7FB"/>
          </a:solidFill>
          <a:ln w="12700">
            <a:solidFill>
              <a:srgbClr val="F4F7FB"/>
            </a:solidFill>
            <a:prstDash val="solid"/>
          </a:ln>
        </p:spPr>
      </p:sp>
      <p:sp>
        <p:nvSpPr>
          <p:cNvPr id="29" name="Text 26"/>
          <p:cNvSpPr txBox="1"/>
          <p:nvPr/>
        </p:nvSpPr>
        <p:spPr>
          <a:xfrm>
            <a:off x="4754880" y="2514600"/>
            <a:ext cx="37490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Marker — disagreeing</a:t>
            </a:r>
            <a:endParaRPr lang="en-US" sz="1500" dirty="0"/>
          </a:p>
        </p:txBody>
      </p:sp>
      <p:sp>
        <p:nvSpPr>
          <p:cNvPr id="30" name="Text 27"/>
          <p:cNvSpPr txBox="1"/>
          <p:nvPr/>
        </p:nvSpPr>
        <p:spPr>
          <a:xfrm>
            <a:off x="4754880" y="2907792"/>
            <a:ext cx="3749040" cy="3657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W(D₀) = |e^(iφ)/2|² + |−1/2|² = ½   for every φ</a:t>
            </a: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Same kernel. Different composition law.</a:t>
            </a:r>
            <a:endParaRPr lang="en-US" sz="1200" dirty="0"/>
          </a:p>
        </p:txBody>
      </p:sp>
      <p:sp>
        <p:nvSpPr>
          <p:cNvPr id="31" name="Shape 28"/>
          <p:cNvSpPr/>
          <p:nvPr/>
        </p:nvSpPr>
        <p:spPr>
          <a:xfrm>
            <a:off x="4572000" y="3474720"/>
            <a:ext cx="4114800" cy="1005840"/>
          </a:xfrm>
          <a:prstGeom prst="roundRect">
            <a:avLst>
              <a:gd name="adj" fmla="val 7273"/>
            </a:avLst>
          </a:prstGeom>
          <a:solidFill>
            <a:srgbClr val="E9F3E4"/>
          </a:solidFill>
          <a:ln w="12700">
            <a:solidFill>
              <a:srgbClr val="E9F3E4"/>
            </a:solidFill>
            <a:prstDash val="solid"/>
          </a:ln>
        </p:spPr>
      </p:sp>
      <p:sp>
        <p:nvSpPr>
          <p:cNvPr id="32" name="Text 29"/>
          <p:cNvSpPr txBox="1"/>
          <p:nvPr/>
        </p:nvSpPr>
        <p:spPr>
          <a:xfrm>
            <a:off x="4754880" y="3611880"/>
            <a:ext cx="37490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Partial marker, overlap γ</a:t>
            </a:r>
            <a:endParaRPr lang="en-US" sz="1500" dirty="0"/>
          </a:p>
        </p:txBody>
      </p:sp>
      <p:sp>
        <p:nvSpPr>
          <p:cNvPr id="33" name="Text 30"/>
          <p:cNvSpPr txBox="1"/>
          <p:nvPr/>
        </p:nvSpPr>
        <p:spPr>
          <a:xfrm>
            <a:off x="4754880" y="4005072"/>
            <a:ext cx="3749040" cy="3657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V = |γ|,   D = √(1 − |γ|²),   V² + D² = 1</a:t>
            </a: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Englert's relation as a theorem about records.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Cases: the cat, Wigner, the bomb</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One classification, fixed in advance, applied with nothing added per case.</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Schrödinger's cat is a filing problem</a:t>
            </a:r>
            <a:endParaRPr lang="en-US" sz="2800" dirty="0"/>
          </a:p>
        </p:txBody>
      </p:sp>
      <p:sp>
        <p:nvSpPr>
          <p:cNvPr id="5" name="Shape 2"/>
          <p:cNvSpPr/>
          <p:nvPr/>
        </p:nvSpPr>
        <p:spPr>
          <a:xfrm>
            <a:off x="457200" y="1280160"/>
            <a:ext cx="3931920" cy="1737360"/>
          </a:xfrm>
          <a:prstGeom prst="roundRect">
            <a:avLst>
              <a:gd name="adj" fmla="val 4211"/>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records</a:t>
            </a:r>
            <a:endParaRPr lang="en-US" sz="1500" dirty="0"/>
          </a:p>
        </p:txBody>
      </p:sp>
      <p:sp>
        <p:nvSpPr>
          <p:cNvPr id="7" name="Text 4"/>
          <p:cNvSpPr txBox="1"/>
          <p:nvPr/>
        </p:nvSpPr>
        <p:spPr>
          <a:xfrm>
            <a:off x="64008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Counter · vial · the cat's chemistry · the heat in the air and walls. Each is correlated with the decay and readable in some refinement.</a:t>
            </a:r>
            <a:endParaRPr lang="en-US" sz="1250" dirty="0"/>
          </a:p>
        </p:txBody>
      </p:sp>
      <p:sp>
        <p:nvSpPr>
          <p:cNvPr id="8" name="Shape 5"/>
          <p:cNvSpPr/>
          <p:nvPr/>
        </p:nvSpPr>
        <p:spPr>
          <a:xfrm>
            <a:off x="4754880" y="1280160"/>
            <a:ext cx="3931920" cy="1737360"/>
          </a:xfrm>
          <a:prstGeom prst="roundRect">
            <a:avLst>
              <a:gd name="adj" fmla="val 4211"/>
            </a:avLst>
          </a:prstGeom>
          <a:solidFill>
            <a:srgbClr val="E9F3E4"/>
          </a:solidFill>
          <a:ln w="12700">
            <a:solidFill>
              <a:srgbClr val="E9F3E4"/>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verdict</a:t>
            </a:r>
            <a:endParaRPr lang="en-US" sz="1500" dirty="0"/>
          </a:p>
        </p:txBody>
      </p:sp>
      <p:sp>
        <p:nvSpPr>
          <p:cNvPr id="10" name="Text 7"/>
          <p:cNvSpPr txBox="1"/>
          <p:nvPr/>
        </p:nvSpPr>
        <p:spPr>
          <a:xfrm>
            <a:off x="493776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Alive and dead are record-separated from the start; the superposition between them is checkmated before the box opens. Never in the electron's regime — because of its records, not its size.</a:t>
            </a:r>
            <a:endParaRPr lang="en-US" sz="1250" dirty="0"/>
          </a:p>
        </p:txBody>
      </p:sp>
      <p:sp>
        <p:nvSpPr>
          <p:cNvPr id="11" name="Shape 8"/>
          <p:cNvSpPr/>
          <p:nvPr/>
        </p:nvSpPr>
        <p:spPr>
          <a:xfrm>
            <a:off x="457200" y="3200400"/>
            <a:ext cx="8229600" cy="1234440"/>
          </a:xfrm>
          <a:prstGeom prst="roundRect">
            <a:avLst>
              <a:gd name="adj" fmla="val 5926"/>
            </a:avLst>
          </a:prstGeom>
          <a:solidFill>
            <a:srgbClr val="FCF3E0"/>
          </a:solidFill>
          <a:ln w="12700">
            <a:solidFill>
              <a:srgbClr val="FCF3E0"/>
            </a:solidFill>
            <a:prstDash val="solid"/>
          </a:ln>
        </p:spPr>
      </p:sp>
      <p:sp>
        <p:nvSpPr>
          <p:cNvPr id="12" name="Text 9"/>
          <p:cNvSpPr txBox="1"/>
          <p:nvPr/>
        </p:nvSpPr>
        <p:spPr>
          <a:xfrm>
            <a:off x="640080" y="33375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decoherence lacked</a:t>
            </a:r>
            <a:endParaRPr lang="en-US" sz="1500" dirty="0"/>
          </a:p>
        </p:txBody>
      </p:sp>
      <p:sp>
        <p:nvSpPr>
          <p:cNvPr id="13" name="Text 10"/>
          <p:cNvSpPr txBox="1"/>
          <p:nvPr/>
        </p:nvSpPr>
        <p:spPr>
          <a:xfrm>
            <a:off x="640080" y="3730752"/>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It described the walls going up and could only call the cross-terms “small,” because it had one grade — weight. The framework has two: weight and validity. The cross-term is not small. It is invalid.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Wigner's friend, and Frauchiger–Renner</a:t>
            </a:r>
            <a:endParaRPr lang="en-US" sz="2800" dirty="0"/>
          </a:p>
        </p:txBody>
      </p:sp>
      <p:sp>
        <p:nvSpPr>
          <p:cNvPr id="5" name="Shape 2"/>
          <p:cNvSpPr/>
          <p:nvPr/>
        </p:nvSpPr>
        <p:spPr>
          <a:xfrm>
            <a:off x="457200" y="1280160"/>
            <a:ext cx="3931920" cy="3154680"/>
          </a:xfrm>
          <a:prstGeom prst="roundRect">
            <a:avLst>
              <a:gd name="adj" fmla="val 2319"/>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Wigner's friend</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Two Aethae. The friend's states the outcome. Wigner's has it blank — but disagreeing, because the friend's records exist in the block.</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No contradiction. Cross-observer objectivity is a theorem: no observer can meet another who contradicts them, because meeting is a shared record.</a:t>
            </a:r>
            <a:endParaRPr lang="en-US" sz="1250" dirty="0"/>
          </a:p>
        </p:txBody>
      </p:sp>
      <p:sp>
        <p:nvSpPr>
          <p:cNvPr id="8" name="Shape 5"/>
          <p:cNvSpPr/>
          <p:nvPr/>
        </p:nvSpPr>
        <p:spPr>
          <a:xfrm>
            <a:off x="4754880" y="1280160"/>
            <a:ext cx="3931920" cy="3154680"/>
          </a:xfrm>
          <a:prstGeom prst="roundRect">
            <a:avLst>
              <a:gd name="adj" fmla="val 2319"/>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Frauchiger–Renner</a:t>
            </a:r>
            <a:endParaRPr lang="en-US" sz="1500" dirty="0"/>
          </a:p>
        </p:txBody>
      </p:sp>
      <p:sp>
        <p:nvSpPr>
          <p:cNvPr id="10" name="Text 7"/>
          <p:cNvSpPr txBox="1"/>
          <p:nvPr/>
        </p:nvSpPr>
        <p:spPr>
          <a:xfrm>
            <a:off x="493776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Nested agents reason about one another's measurements and reach a contradiction.</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framework locates the step: an agent reasons about another's Aethus as if it were their own — determinacy imported across indices, a first-postulate violation.</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Marked as the contested case. The dissolution is graded, not declared.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bomb tester: an absence is a record</a:t>
            </a:r>
            <a:endParaRPr lang="en-US" sz="2800" dirty="0"/>
          </a:p>
        </p:txBody>
      </p:sp>
      <p:sp>
        <p:nvSpPr>
          <p:cNvPr id="5" name="Text 2"/>
          <p:cNvSpPr txBox="1"/>
          <p:nvPr/>
        </p:nvSpPr>
        <p:spPr>
          <a:xfrm>
            <a:off x="457200" y="1325880"/>
            <a:ext cx="2651760" cy="822960"/>
          </a:xfrm>
          <a:prstGeom prst="rect">
            <a:avLst/>
          </a:prstGeom>
          <a:noFill/>
          <a:ln/>
        </p:spPr>
        <p:txBody>
          <a:bodyPr wrap="square" lIns="0" tIns="0" rIns="0" bIns="0" rtlCol="0" anchor="ctr"/>
          <a:lstStyle/>
          <a:p>
            <a:pPr algn="ctr" indent="0" marL="0">
              <a:buNone/>
            </a:pPr>
            <a:r>
              <a:rPr lang="en-US" sz="4800" b="1" dirty="0">
                <a:solidFill>
                  <a:srgbClr val="0F1B2D"/>
                </a:solidFill>
                <a:latin typeface="Cambria" pitchFamily="34" charset="0"/>
                <a:ea typeface="Cambria" pitchFamily="34" charset="-122"/>
                <a:cs typeface="Cambria" pitchFamily="34" charset="-120"/>
              </a:rPr>
              <a:t>½</a:t>
            </a:r>
            <a:endParaRPr lang="en-US" sz="4800" dirty="0"/>
          </a:p>
        </p:txBody>
      </p:sp>
      <p:sp>
        <p:nvSpPr>
          <p:cNvPr id="6" name="Text 3"/>
          <p:cNvSpPr txBox="1"/>
          <p:nvPr/>
        </p:nvSpPr>
        <p:spPr>
          <a:xfrm>
            <a:off x="457200" y="214884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explosion — the photon took the bomb's arm</a:t>
            </a:r>
            <a:endParaRPr lang="en-US" sz="1200" dirty="0"/>
          </a:p>
        </p:txBody>
      </p:sp>
      <p:sp>
        <p:nvSpPr>
          <p:cNvPr id="7" name="Text 4"/>
          <p:cNvSpPr txBox="1"/>
          <p:nvPr/>
        </p:nvSpPr>
        <p:spPr>
          <a:xfrm>
            <a:off x="3246120" y="1325880"/>
            <a:ext cx="2651760" cy="822960"/>
          </a:xfrm>
          <a:prstGeom prst="rect">
            <a:avLst/>
          </a:prstGeom>
          <a:noFill/>
          <a:ln/>
        </p:spPr>
        <p:txBody>
          <a:bodyPr wrap="square" lIns="0" tIns="0" rIns="0" bIns="0" rtlCol="0" anchor="ctr"/>
          <a:lstStyle/>
          <a:p>
            <a:pPr algn="ctr" indent="0" marL="0">
              <a:buNone/>
            </a:pPr>
            <a:r>
              <a:rPr lang="en-US" sz="4800" b="1" dirty="0">
                <a:solidFill>
                  <a:srgbClr val="6B7A90"/>
                </a:solidFill>
                <a:latin typeface="Cambria" pitchFamily="34" charset="0"/>
                <a:ea typeface="Cambria" pitchFamily="34" charset="-122"/>
                <a:cs typeface="Cambria" pitchFamily="34" charset="-120"/>
              </a:rPr>
              <a:t>¼</a:t>
            </a:r>
            <a:endParaRPr lang="en-US" sz="4800" dirty="0"/>
          </a:p>
        </p:txBody>
      </p:sp>
      <p:sp>
        <p:nvSpPr>
          <p:cNvPr id="8" name="Text 5"/>
          <p:cNvSpPr txBox="1"/>
          <p:nvPr/>
        </p:nvSpPr>
        <p:spPr>
          <a:xfrm>
            <a:off x="3246120" y="214884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D₁ — inconclusive</a:t>
            </a:r>
            <a:endParaRPr lang="en-US" sz="1200" dirty="0"/>
          </a:p>
        </p:txBody>
      </p:sp>
      <p:sp>
        <p:nvSpPr>
          <p:cNvPr id="9" name="Text 6"/>
          <p:cNvSpPr txBox="1"/>
          <p:nvPr/>
        </p:nvSpPr>
        <p:spPr>
          <a:xfrm>
            <a:off x="6035040" y="1325880"/>
            <a:ext cx="2651760" cy="822960"/>
          </a:xfrm>
          <a:prstGeom prst="rect">
            <a:avLst/>
          </a:prstGeom>
          <a:noFill/>
          <a:ln/>
        </p:spPr>
        <p:txBody>
          <a:bodyPr wrap="square" lIns="0" tIns="0" rIns="0" bIns="0" rtlCol="0" anchor="ctr"/>
          <a:lstStyle/>
          <a:p>
            <a:pPr algn="ctr" indent="0" marL="0">
              <a:buNone/>
            </a:pPr>
            <a:r>
              <a:rPr lang="en-US" sz="4800" b="1" dirty="0">
                <a:solidFill>
                  <a:srgbClr val="C8553D"/>
                </a:solidFill>
                <a:latin typeface="Cambria" pitchFamily="34" charset="0"/>
                <a:ea typeface="Cambria" pitchFamily="34" charset="-122"/>
                <a:cs typeface="Cambria" pitchFamily="34" charset="-120"/>
              </a:rPr>
              <a:t>¼</a:t>
            </a:r>
            <a:endParaRPr lang="en-US" sz="4800" dirty="0"/>
          </a:p>
        </p:txBody>
      </p:sp>
      <p:sp>
        <p:nvSpPr>
          <p:cNvPr id="10" name="Text 7"/>
          <p:cNvSpPr txBox="1"/>
          <p:nvPr/>
        </p:nvSpPr>
        <p:spPr>
          <a:xfrm>
            <a:off x="6035040" y="214884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D₀ — a live bomb certified, untouched</a:t>
            </a:r>
            <a:endParaRPr lang="en-US" sz="1200" dirty="0"/>
          </a:p>
        </p:txBody>
      </p:sp>
      <p:sp>
        <p:nvSpPr>
          <p:cNvPr id="11" name="Shape 8"/>
          <p:cNvSpPr/>
          <p:nvPr/>
        </p:nvSpPr>
        <p:spPr>
          <a:xfrm>
            <a:off x="457200" y="2971800"/>
            <a:ext cx="8229600" cy="1463040"/>
          </a:xfrm>
          <a:prstGeom prst="roundRect">
            <a:avLst>
              <a:gd name="adj" fmla="val 5000"/>
            </a:avLst>
          </a:prstGeom>
          <a:solidFill>
            <a:srgbClr val="FCF3E0"/>
          </a:solidFill>
          <a:ln w="12700">
            <a:solidFill>
              <a:srgbClr val="FCF3E0"/>
            </a:solidFill>
            <a:prstDash val="solid"/>
          </a:ln>
        </p:spPr>
      </p:sp>
      <p:sp>
        <p:nvSpPr>
          <p:cNvPr id="12" name="Text 9"/>
          <p:cNvSpPr txBox="1"/>
          <p:nvPr/>
        </p:nvSpPr>
        <p:spPr>
          <a:xfrm>
            <a:off x="640080" y="31089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An absence is a record whenever a presence would have been one</a:t>
            </a:r>
            <a:endParaRPr lang="en-US" sz="1500" dirty="0"/>
          </a:p>
        </p:txBody>
      </p:sp>
      <p:sp>
        <p:nvSpPr>
          <p:cNvPr id="13" name="Text 10"/>
          <p:cNvSpPr txBox="1"/>
          <p:nvPr/>
        </p:nvSpPr>
        <p:spPr>
          <a:xfrm>
            <a:off x="640080" y="3502152"/>
            <a:ext cx="7863840" cy="8229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intact bomb states, in every Aethus that can read it, that the photon did not take its arm. The arms are record-separated, the coherence claim checkmated, and D₀ opens. Nothing was interaction-free; it was absorption-free. Every number is standard — the framework makes no new prediction here, and says so.</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VIII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Reach: the same operation outside physics</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Counterfactuals without an ordering; causation without an arrow; knowledge without a fourth condition; Earth without luck.</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Counterfactuals: delete the ordering</a:t>
            </a:r>
            <a:endParaRPr lang="en-US" sz="2800" dirty="0"/>
          </a:p>
        </p:txBody>
      </p:sp>
      <p:sp>
        <p:nvSpPr>
          <p:cNvPr id="5" name="Shape 2"/>
          <p:cNvSpPr/>
          <p:nvPr/>
        </p:nvSpPr>
        <p:spPr>
          <a:xfrm>
            <a:off x="457200" y="1325880"/>
            <a:ext cx="384048" cy="384048"/>
          </a:xfrm>
          <a:prstGeom prst="ellipse">
            <a:avLst/>
          </a:prstGeom>
          <a:solidFill>
            <a:srgbClr val="0F1B2D"/>
          </a:solidFill>
          <a:ln w="12700">
            <a:solidFill>
              <a:srgbClr val="0F1B2D"/>
            </a:solidFill>
            <a:prstDash val="solid"/>
          </a:ln>
        </p:spPr>
      </p:sp>
      <p:sp>
        <p:nvSpPr>
          <p:cNvPr id="6" name="Text 3"/>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1005840" y="1280160"/>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Reopen the antecedent's entry at a declared scope</a:t>
            </a:r>
            <a:endParaRPr lang="en-US" sz="1350" dirty="0"/>
          </a:p>
        </p:txBody>
      </p:sp>
      <p:sp>
        <p:nvSpPr>
          <p:cNvPr id="8" name="Shape 5"/>
          <p:cNvSpPr/>
          <p:nvPr/>
        </p:nvSpPr>
        <p:spPr>
          <a:xfrm>
            <a:off x="457200" y="1892808"/>
            <a:ext cx="384048" cy="384048"/>
          </a:xfrm>
          <a:prstGeom prst="ellipse">
            <a:avLst/>
          </a:prstGeom>
          <a:solidFill>
            <a:srgbClr val="0F1B2D"/>
          </a:solidFill>
          <a:ln w="12700">
            <a:solidFill>
              <a:srgbClr val="0F1B2D"/>
            </a:solidFill>
            <a:prstDash val="solid"/>
          </a:ln>
        </p:spPr>
      </p:sp>
      <p:sp>
        <p:nvSpPr>
          <p:cNvPr id="9" name="Text 6"/>
          <p:cNvSpPr txBox="1"/>
          <p:nvPr/>
        </p:nvSpPr>
        <p:spPr>
          <a:xfrm>
            <a:off x="457200" y="18928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1005840" y="1847088"/>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Restate it to the antecedent's value</a:t>
            </a:r>
            <a:endParaRPr lang="en-US" sz="1350" dirty="0"/>
          </a:p>
        </p:txBody>
      </p:sp>
      <p:sp>
        <p:nvSpPr>
          <p:cNvPr id="11" name="Shape 8"/>
          <p:cNvSpPr/>
          <p:nvPr/>
        </p:nvSpPr>
        <p:spPr>
          <a:xfrm>
            <a:off x="457200" y="2459736"/>
            <a:ext cx="384048" cy="384048"/>
          </a:xfrm>
          <a:prstGeom prst="ellipse">
            <a:avLst/>
          </a:prstGeom>
          <a:solidFill>
            <a:srgbClr val="0F1B2D"/>
          </a:solidFill>
          <a:ln w="12700">
            <a:solidFill>
              <a:srgbClr val="0F1B2D"/>
            </a:solidFill>
            <a:prstDash val="solid"/>
          </a:ln>
        </p:spPr>
      </p:sp>
      <p:sp>
        <p:nvSpPr>
          <p:cNvPr id="12" name="Text 9"/>
          <p:cNvSpPr txBox="1"/>
          <p:nvPr/>
        </p:nvSpPr>
        <p:spPr>
          <a:xfrm>
            <a:off x="457200" y="2459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0"/>
          <p:cNvSpPr txBox="1"/>
          <p:nvPr/>
        </p:nvSpPr>
        <p:spPr>
          <a:xfrm>
            <a:off x="1005840" y="2414016"/>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Re-prune: the third postulate removes what the restatement made invalid</a:t>
            </a:r>
            <a:endParaRPr lang="en-US" sz="1350" dirty="0"/>
          </a:p>
        </p:txBody>
      </p:sp>
      <p:sp>
        <p:nvSpPr>
          <p:cNvPr id="14" name="Shape 11"/>
          <p:cNvSpPr/>
          <p:nvPr/>
        </p:nvSpPr>
        <p:spPr>
          <a:xfrm>
            <a:off x="457200" y="3026664"/>
            <a:ext cx="384048" cy="384048"/>
          </a:xfrm>
          <a:prstGeom prst="ellipse">
            <a:avLst/>
          </a:prstGeom>
          <a:solidFill>
            <a:srgbClr val="0F1B2D"/>
          </a:solidFill>
          <a:ln w="12700">
            <a:solidFill>
              <a:srgbClr val="0F1B2D"/>
            </a:solidFill>
            <a:prstDash val="solid"/>
          </a:ln>
        </p:spPr>
      </p:sp>
      <p:sp>
        <p:nvSpPr>
          <p:cNvPr id="15" name="Text 12"/>
          <p:cNvSpPr txBox="1"/>
          <p:nvPr/>
        </p:nvSpPr>
        <p:spPr>
          <a:xfrm>
            <a:off x="457200" y="30266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1005840" y="2980944"/>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Read the verdict off the surviving residue — would / might / probability, one operator, three grains</a:t>
            </a:r>
            <a:endParaRPr lang="en-US" sz="1350" dirty="0"/>
          </a:p>
        </p:txBody>
      </p:sp>
      <p:sp>
        <p:nvSpPr>
          <p:cNvPr id="17" name="Shape 14"/>
          <p:cNvSpPr/>
          <p:nvPr/>
        </p:nvSpPr>
        <p:spPr>
          <a:xfrm>
            <a:off x="457200" y="3611880"/>
            <a:ext cx="8229600" cy="868680"/>
          </a:xfrm>
          <a:prstGeom prst="roundRect">
            <a:avLst>
              <a:gd name="adj" fmla="val 8421"/>
            </a:avLst>
          </a:prstGeom>
          <a:solidFill>
            <a:srgbClr val="FCF3E0"/>
          </a:solidFill>
          <a:ln w="12700">
            <a:solidFill>
              <a:srgbClr val="FCF3E0"/>
            </a:solidFill>
            <a:prstDash val="solid"/>
          </a:ln>
        </p:spPr>
      </p:sp>
      <p:sp>
        <p:nvSpPr>
          <p:cNvPr id="18" name="Text 15"/>
          <p:cNvSpPr txBox="1"/>
          <p:nvPr/>
        </p:nvSpPr>
        <p:spPr>
          <a:xfrm>
            <a:off x="640080" y="3749040"/>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similarity ordering appears nowhere. Its work is split among dependency structure, binary validity, and graded weight — and the would-clause violates Cautious Monotony, so no ordering can represent it. Deleted, not refined.</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Causation: joint invalidity in place of an arrow</a:t>
            </a:r>
            <a:endParaRPr lang="en-US" sz="2800" dirty="0"/>
          </a:p>
        </p:txBody>
      </p:sp>
      <p:sp>
        <p:nvSpPr>
          <p:cNvPr id="5" name="Shape 2"/>
          <p:cNvSpPr/>
          <p:nvPr/>
        </p:nvSpPr>
        <p:spPr>
          <a:xfrm>
            <a:off x="457200" y="1280160"/>
            <a:ext cx="3931920" cy="1463040"/>
          </a:xfrm>
          <a:prstGeom prst="roundRect">
            <a:avLst>
              <a:gd name="adj" fmla="val 5000"/>
            </a:avLst>
          </a:prstGeom>
          <a:solidFill>
            <a:srgbClr val="FCF3E0"/>
          </a:solidFill>
          <a:ln w="12700">
            <a:solidFill>
              <a:srgbClr val="FCF3E0"/>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principle</a:t>
            </a:r>
            <a:endParaRPr lang="en-US" sz="1500" dirty="0"/>
          </a:p>
        </p:txBody>
      </p:sp>
      <p:sp>
        <p:nvSpPr>
          <p:cNvPr id="7" name="Text 4"/>
          <p:cNvSpPr txBox="1"/>
          <p:nvPr/>
        </p:nvSpPr>
        <p:spPr>
          <a:xfrm>
            <a:off x="64008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Correlation is accounted for by the joint invalidity of the combinations it excludes. “A causes B” re-read: {A, ¬B} is jointly invalid. No direction. No mechanism.</a:t>
            </a:r>
            <a:endParaRPr lang="en-US" sz="1200" dirty="0"/>
          </a:p>
        </p:txBody>
      </p:sp>
      <p:sp>
        <p:nvSpPr>
          <p:cNvPr id="8" name="Shape 5"/>
          <p:cNvSpPr/>
          <p:nvPr/>
        </p:nvSpPr>
        <p:spPr>
          <a:xfrm>
            <a:off x="4754880" y="1280160"/>
            <a:ext cx="3931920" cy="1463040"/>
          </a:xfrm>
          <a:prstGeom prst="roundRect">
            <a:avLst>
              <a:gd name="adj" fmla="val 5000"/>
            </a:avLst>
          </a:prstGeom>
          <a:solidFill>
            <a:srgbClr val="F4F7FB"/>
          </a:solidFill>
          <a:ln w="12700">
            <a:solidFill>
              <a:srgbClr val="F4F7FB"/>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Reichenbach, as a theorem</a:t>
            </a:r>
            <a:endParaRPr lang="en-US" sz="1500" dirty="0"/>
          </a:p>
        </p:txBody>
      </p:sp>
      <p:sp>
        <p:nvSpPr>
          <p:cNvPr id="10" name="Text 7"/>
          <p:cNvSpPr txBox="1"/>
          <p:nvPr/>
        </p:nvSpPr>
        <p:spPr>
          <a:xfrm>
            <a:off x="493776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In the disagreeing regime the common-cause principle is derived, and the classical triad is the narration inventory of two horns.</a:t>
            </a:r>
            <a:endParaRPr lang="en-US" sz="1200" dirty="0"/>
          </a:p>
        </p:txBody>
      </p:sp>
      <p:sp>
        <p:nvSpPr>
          <p:cNvPr id="11" name="Shape 8"/>
          <p:cNvSpPr/>
          <p:nvPr/>
        </p:nvSpPr>
        <p:spPr>
          <a:xfrm>
            <a:off x="457200" y="2926080"/>
            <a:ext cx="8229600" cy="1508760"/>
          </a:xfrm>
          <a:prstGeom prst="roundRect">
            <a:avLst>
              <a:gd name="adj" fmla="val 4848"/>
            </a:avLst>
          </a:prstGeom>
          <a:solidFill>
            <a:srgbClr val="E8F0FA"/>
          </a:solidFill>
          <a:ln w="12700">
            <a:solidFill>
              <a:srgbClr val="E8F0FA"/>
            </a:solidFill>
            <a:prstDash val="solid"/>
          </a:ln>
        </p:spPr>
      </p:sp>
      <p:sp>
        <p:nvSpPr>
          <p:cNvPr id="12" name="Text 9"/>
          <p:cNvSpPr txBox="1"/>
          <p:nvPr/>
        </p:nvSpPr>
        <p:spPr>
          <a:xfrm>
            <a:off x="640080" y="306324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Bell, as a regime boundary</a:t>
            </a:r>
            <a:endParaRPr lang="en-US" sz="1500" dirty="0"/>
          </a:p>
        </p:txBody>
      </p:sp>
      <p:sp>
        <p:nvSpPr>
          <p:cNvPr id="13" name="Text 10"/>
          <p:cNvSpPr txBox="1"/>
          <p:nvPr/>
        </p:nvSpPr>
        <p:spPr>
          <a:xfrm>
            <a:off x="640080" y="3456432"/>
            <a:ext cx="7863840" cy="86868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Where alternatives co-obtain rather than exclude, the screening certificate's quantification loses its subject and the correlations escape it structurally. No parameter is fine-tuned, because there is no parameter. Wood–Spekkens's demand — causal explanation privileging no member of the triad — met.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Knowledge: why no fourth condition exists</a:t>
            </a:r>
            <a:endParaRPr lang="en-US" sz="2800" dirty="0"/>
          </a:p>
        </p:txBody>
      </p:sp>
      <p:sp>
        <p:nvSpPr>
          <p:cNvPr id="5" name="Shape 2"/>
          <p:cNvSpPr/>
          <p:nvPr/>
        </p:nvSpPr>
        <p:spPr>
          <a:xfrm>
            <a:off x="457200" y="1280160"/>
            <a:ext cx="2651760" cy="1554480"/>
          </a:xfrm>
          <a:prstGeom prst="roundRect">
            <a:avLst>
              <a:gd name="adj" fmla="val 4706"/>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Index mismatch</a:t>
            </a:r>
            <a:endParaRPr lang="en-US" sz="1500" dirty="0"/>
          </a:p>
        </p:txBody>
      </p:sp>
      <p:sp>
        <p:nvSpPr>
          <p:cNvPr id="7" name="Text 4"/>
          <p:cNvSpPr txBox="1"/>
          <p:nvPr/>
        </p:nvSpPr>
        <p:spPr>
          <a:xfrm>
            <a:off x="640080" y="1810512"/>
            <a:ext cx="228600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Gettier verdict is evaluated at the narrator's Aethus and is not a property of the subject's.</a:t>
            </a:r>
            <a:endParaRPr lang="en-US" sz="1200" dirty="0"/>
          </a:p>
        </p:txBody>
      </p:sp>
      <p:sp>
        <p:nvSpPr>
          <p:cNvPr id="8" name="Shape 5"/>
          <p:cNvSpPr/>
          <p:nvPr/>
        </p:nvSpPr>
        <p:spPr>
          <a:xfrm>
            <a:off x="3246120" y="1280160"/>
            <a:ext cx="2651760" cy="1554480"/>
          </a:xfrm>
          <a:prstGeom prst="roundRect">
            <a:avLst>
              <a:gd name="adj" fmla="val 4706"/>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luck pocket</a:t>
            </a:r>
            <a:endParaRPr lang="en-US" sz="1500" dirty="0"/>
          </a:p>
        </p:txBody>
      </p:sp>
      <p:sp>
        <p:nvSpPr>
          <p:cNvPr id="10" name="Text 7"/>
          <p:cNvSpPr txBox="1"/>
          <p:nvPr/>
        </p:nvSpPr>
        <p:spPr>
          <a:xfrm>
            <a:off x="3429000" y="1810512"/>
            <a:ext cx="228600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Imported to the subject's Aethus, the verdict weighs exactly the coincidence the case is built on.</a:t>
            </a:r>
            <a:endParaRPr lang="en-US" sz="1200" dirty="0"/>
          </a:p>
        </p:txBody>
      </p:sp>
      <p:sp>
        <p:nvSpPr>
          <p:cNvPr id="11" name="Shape 8"/>
          <p:cNvSpPr/>
          <p:nvPr/>
        </p:nvSpPr>
        <p:spPr>
          <a:xfrm>
            <a:off x="6035040" y="1280160"/>
            <a:ext cx="2651760" cy="1554480"/>
          </a:xfrm>
          <a:prstGeom prst="roundRect">
            <a:avLst>
              <a:gd name="adj" fmla="val 4706"/>
            </a:avLst>
          </a:prstGeom>
          <a:solidFill>
            <a:srgbClr val="F4F7FB"/>
          </a:solidFill>
          <a:ln w="12700">
            <a:solidFill>
              <a:srgbClr val="F4F7FB"/>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 fourth condition</a:t>
            </a:r>
            <a:endParaRPr lang="en-US" sz="1500" dirty="0"/>
          </a:p>
        </p:txBody>
      </p:sp>
      <p:sp>
        <p:nvSpPr>
          <p:cNvPr id="13" name="Text 10"/>
          <p:cNvSpPr txBox="1"/>
          <p:nvPr/>
        </p:nvSpPr>
        <p:spPr>
          <a:xfrm>
            <a:off x="6217920" y="1810512"/>
            <a:ext cx="228600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No predicate on the subject's Aethus separates a Gettier case from its normal counterpart. Zagzebski's result, with its cause.</a:t>
            </a:r>
            <a:endParaRPr lang="en-US" sz="1200" dirty="0"/>
          </a:p>
        </p:txBody>
      </p:sp>
      <p:sp>
        <p:nvSpPr>
          <p:cNvPr id="14" name="Shape 11"/>
          <p:cNvSpPr/>
          <p:nvPr/>
        </p:nvSpPr>
        <p:spPr>
          <a:xfrm>
            <a:off x="457200" y="3017520"/>
            <a:ext cx="8229600" cy="1417320"/>
          </a:xfrm>
          <a:prstGeom prst="roundRect">
            <a:avLst>
              <a:gd name="adj" fmla="val 5161"/>
            </a:avLst>
          </a:prstGeom>
          <a:solidFill>
            <a:srgbClr val="FCF3E0"/>
          </a:solidFill>
          <a:ln w="12700">
            <a:solidFill>
              <a:srgbClr val="FCF3E0"/>
            </a:solidFill>
            <a:prstDash val="solid"/>
          </a:ln>
        </p:spPr>
      </p:sp>
      <p:sp>
        <p:nvSpPr>
          <p:cNvPr id="15" name="Text 12"/>
          <p:cNvSpPr txBox="1"/>
          <p:nvPr/>
        </p:nvSpPr>
        <p:spPr>
          <a:xfrm>
            <a:off x="640080" y="315468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Right value, wrong pocket — and safety without the ordering</a:t>
            </a:r>
            <a:endParaRPr lang="en-US" sz="1500" dirty="0"/>
          </a:p>
        </p:txBody>
      </p:sp>
      <p:sp>
        <p:nvSpPr>
          <p:cNvPr id="16" name="Text 13"/>
          <p:cNvSpPr txBox="1"/>
          <p:nvPr/>
        </p:nvSpPr>
        <p:spPr>
          <a:xfrm>
            <a:off x="640080" y="3547872"/>
            <a:ext cx="7863840" cy="7772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Every Gettier case: the justification supports one pocket of φ, the truth at the narrating index comes through another. Safety is reconstructed as a threshold on the reopened residue of the luck attribute, run against the lottery, the barns, the garbage chute, the grandmother, and bootstrapping: five verdicts matched, the lottery sharpened.</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Earth: coupled prerequisites, not lucky breaks</a:t>
            </a:r>
            <a:endParaRPr lang="en-US" sz="2800" dirty="0"/>
          </a:p>
        </p:txBody>
      </p:sp>
      <p:sp>
        <p:nvSpPr>
          <p:cNvPr id="5" name="Shape 2"/>
          <p:cNvSpPr/>
          <p:nvPr/>
        </p:nvSpPr>
        <p:spPr>
          <a:xfrm>
            <a:off x="457200" y="1280160"/>
            <a:ext cx="3931920" cy="1737360"/>
          </a:xfrm>
          <a:prstGeom prst="roundRect">
            <a:avLst>
              <a:gd name="adj" fmla="val 4211"/>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method</a:t>
            </a:r>
            <a:endParaRPr lang="en-US" sz="1500" dirty="0"/>
          </a:p>
        </p:txBody>
      </p:sp>
      <p:sp>
        <p:nvSpPr>
          <p:cNvPr id="7" name="Text 4"/>
          <p:cNvSpPr txBox="1"/>
          <p:nvPr/>
        </p:nvSpPr>
        <p:spPr>
          <a:xfrm>
            <a:off x="64008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Take the existence of observers as evidence about the history that produced them. A feature whose alternatives would have cost observers by orders of magnitude is a prerequisite, not luck.</a:t>
            </a:r>
            <a:endParaRPr lang="en-US" sz="1250" dirty="0"/>
          </a:p>
        </p:txBody>
      </p:sp>
      <p:sp>
        <p:nvSpPr>
          <p:cNvPr id="8" name="Shape 5"/>
          <p:cNvSpPr/>
          <p:nvPr/>
        </p:nvSpPr>
        <p:spPr>
          <a:xfrm>
            <a:off x="4754880" y="1280160"/>
            <a:ext cx="3931920" cy="1737360"/>
          </a:xfrm>
          <a:prstGeom prst="roundRect">
            <a:avLst>
              <a:gd name="adj" fmla="val 4211"/>
            </a:avLst>
          </a:prstGeom>
          <a:solidFill>
            <a:srgbClr val="E9F3E4"/>
          </a:solidFill>
          <a:ln w="12700">
            <a:solidFill>
              <a:srgbClr val="E9F3E4"/>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coupling</a:t>
            </a:r>
            <a:endParaRPr lang="en-US" sz="1500" dirty="0"/>
          </a:p>
        </p:txBody>
      </p:sp>
      <p:sp>
        <p:nvSpPr>
          <p:cNvPr id="10" name="Text 7"/>
          <p:cNvSpPr txBox="1"/>
          <p:nvPr/>
        </p:nvSpPr>
        <p:spPr>
          <a:xfrm>
            <a:off x="493776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Prerequisites arrive together: committing to one forces others. The dinosaurs' rise and their clearing are one object, not two accidents.</a:t>
            </a:r>
            <a:endParaRPr lang="en-US" sz="1250" dirty="0"/>
          </a:p>
        </p:txBody>
      </p:sp>
      <p:sp>
        <p:nvSpPr>
          <p:cNvPr id="11" name="Shape 8"/>
          <p:cNvSpPr/>
          <p:nvPr/>
        </p:nvSpPr>
        <p:spPr>
          <a:xfrm>
            <a:off x="457200" y="3200400"/>
            <a:ext cx="8229600" cy="1234440"/>
          </a:xfrm>
          <a:prstGeom prst="roundRect">
            <a:avLst>
              <a:gd name="adj" fmla="val 5926"/>
            </a:avLst>
          </a:prstGeom>
          <a:solidFill>
            <a:srgbClr val="FCF3E0"/>
          </a:solidFill>
          <a:ln w="12700">
            <a:solidFill>
              <a:srgbClr val="FCF3E0"/>
            </a:solidFill>
            <a:prstDash val="solid"/>
          </a:ln>
        </p:spPr>
      </p:sp>
      <p:sp>
        <p:nvSpPr>
          <p:cNvPr id="12" name="Text 9"/>
          <p:cNvSpPr txBox="1"/>
          <p:nvPr/>
        </p:nvSpPr>
        <p:spPr>
          <a:xfrm>
            <a:off x="640080" y="33375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Prerequisite, therefore signature, therefore a place to dig</a:t>
            </a:r>
            <a:endParaRPr lang="en-US" sz="1500" dirty="0"/>
          </a:p>
        </p:txBody>
      </p:sp>
      <p:sp>
        <p:nvSpPr>
          <p:cNvPr id="13" name="Text 10"/>
          <p:cNvSpPr txBox="1"/>
          <p:nvPr/>
        </p:nvSpPr>
        <p:spPr>
          <a:xfrm>
            <a:off x="640080" y="3730752"/>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method issues predictions the record must show; a pattern of absences refutes it. The control: run it on a feature whose alternatives cost nothing and it returns nothing — that silence is the difference between a test and survivorship bias.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IX</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price, the prediction, the open constructions</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Eight posits and nothing else. One falsifiable commitment. Three named targets.</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ledger: eight posits, nothing else load-bearing</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2651760"/>
                <a:gridCol w="338328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Posit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buys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index</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two-place determinacy; the paradox set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constructive blank</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open past; counterfactuals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Jointness of “or”</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 inductive ground</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two regimes; the second grade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 quantifier</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derived in form, posited in class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collapse as checkmate; the boundary</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Composition primitive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 of the algebra</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tree, the reduced form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Zerosumfree semiring</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design choice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validity separated from weight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kernel</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one quantitative posit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recovery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Realization bridge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principle, not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labels to outcomes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6" name="Text 2"/>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50" b="1" i="1" dirty="0">
                <a:solidFill>
                  <a:srgbClr val="E9A23B"/>
                </a:solidFill>
                <a:latin typeface="Cambria" pitchFamily="34" charset="0"/>
                <a:ea typeface="Cambria" pitchFamily="34" charset="-122"/>
                <a:cs typeface="Cambria" pitchFamily="34" charset="-120"/>
              </a:rPr>
              <a:t>Collapse, the Born rule, the quantum–classical boundary, no-signalling: derived. Aim at one of the eight.</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two sectors, and what is not claimed</a:t>
            </a:r>
            <a:endParaRPr lang="en-US" sz="2800" dirty="0"/>
          </a:p>
        </p:txBody>
      </p:sp>
      <p:sp>
        <p:nvSpPr>
          <p:cNvPr id="5" name="Shape 2"/>
          <p:cNvSpPr/>
          <p:nvPr/>
        </p:nvSpPr>
        <p:spPr>
          <a:xfrm>
            <a:off x="457200" y="1280160"/>
            <a:ext cx="8229600" cy="621792"/>
          </a:xfrm>
          <a:prstGeom prst="roundRect">
            <a:avLst>
              <a:gd name="adj" fmla="val 8824"/>
            </a:avLst>
          </a:prstGeom>
          <a:solidFill>
            <a:srgbClr val="F4F7FB"/>
          </a:solidFill>
          <a:ln w="12700">
            <a:solidFill>
              <a:srgbClr val="F4F7FB"/>
            </a:solidFill>
            <a:prstDash val="solid"/>
          </a:ln>
        </p:spPr>
      </p:sp>
      <p:sp>
        <p:nvSpPr>
          <p:cNvPr id="6" name="Text 3"/>
          <p:cNvSpPr txBox="1"/>
          <p:nvPr/>
        </p:nvSpPr>
        <p:spPr>
          <a:xfrm>
            <a:off x="594360" y="128016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1097280" y="135331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Ontology and logical primitives</a:t>
            </a:r>
            <a:endParaRPr lang="en-US" sz="1300" dirty="0"/>
          </a:p>
        </p:txBody>
      </p:sp>
      <p:sp>
        <p:nvSpPr>
          <p:cNvPr id="8" name="Text 5"/>
          <p:cNvSpPr txBox="1"/>
          <p:nvPr/>
        </p:nvSpPr>
        <p:spPr>
          <a:xfrm>
            <a:off x="3840480" y="135331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the postulates, the union principle, individuation — posited</a:t>
            </a:r>
            <a:endParaRPr lang="en-US" sz="1150" dirty="0"/>
          </a:p>
        </p:txBody>
      </p:sp>
      <p:sp>
        <p:nvSpPr>
          <p:cNvPr id="9" name="Shape 6"/>
          <p:cNvSpPr/>
          <p:nvPr/>
        </p:nvSpPr>
        <p:spPr>
          <a:xfrm>
            <a:off x="457200" y="2011680"/>
            <a:ext cx="8229600" cy="621792"/>
          </a:xfrm>
          <a:prstGeom prst="roundRect">
            <a:avLst>
              <a:gd name="adj" fmla="val 8824"/>
            </a:avLst>
          </a:prstGeom>
          <a:solidFill>
            <a:srgbClr val="F4F7FB"/>
          </a:solidFill>
          <a:ln w="12700">
            <a:solidFill>
              <a:srgbClr val="F4F7FB"/>
            </a:solidFill>
            <a:prstDash val="solid"/>
          </a:ln>
        </p:spPr>
      </p:sp>
      <p:sp>
        <p:nvSpPr>
          <p:cNvPr id="10" name="Text 7"/>
          <p:cNvSpPr txBox="1"/>
          <p:nvPr/>
        </p:nvSpPr>
        <p:spPr>
          <a:xfrm>
            <a:off x="594360" y="201168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2</a:t>
            </a:r>
            <a:endParaRPr lang="en-US" sz="2000" dirty="0"/>
          </a:p>
        </p:txBody>
      </p:sp>
      <p:sp>
        <p:nvSpPr>
          <p:cNvPr id="11" name="Text 8"/>
          <p:cNvSpPr txBox="1"/>
          <p:nvPr/>
        </p:nvSpPr>
        <p:spPr>
          <a:xfrm>
            <a:off x="1097280" y="208483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Consistency consequences</a:t>
            </a:r>
            <a:endParaRPr lang="en-US" sz="1300" dirty="0"/>
          </a:p>
        </p:txBody>
      </p:sp>
      <p:sp>
        <p:nvSpPr>
          <p:cNvPr id="12" name="Text 9"/>
          <p:cNvSpPr txBox="1"/>
          <p:nvPr/>
        </p:nvSpPr>
        <p:spPr>
          <a:xfrm>
            <a:off x="3840480" y="208483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the third postulate's form, reduced forms, record partitions, the boundary — derived</a:t>
            </a:r>
            <a:endParaRPr lang="en-US" sz="1150" dirty="0"/>
          </a:p>
        </p:txBody>
      </p:sp>
      <p:sp>
        <p:nvSpPr>
          <p:cNvPr id="13" name="Shape 10"/>
          <p:cNvSpPr/>
          <p:nvPr/>
        </p:nvSpPr>
        <p:spPr>
          <a:xfrm>
            <a:off x="457200" y="2743200"/>
            <a:ext cx="8229600" cy="621792"/>
          </a:xfrm>
          <a:prstGeom prst="roundRect">
            <a:avLst>
              <a:gd name="adj" fmla="val 8824"/>
            </a:avLst>
          </a:prstGeom>
          <a:solidFill>
            <a:srgbClr val="F4F7FB"/>
          </a:solidFill>
          <a:ln w="12700">
            <a:solidFill>
              <a:srgbClr val="F4F7FB"/>
            </a:solidFill>
            <a:prstDash val="solid"/>
          </a:ln>
        </p:spPr>
      </p:sp>
      <p:sp>
        <p:nvSpPr>
          <p:cNvPr id="14" name="Text 11"/>
          <p:cNvSpPr txBox="1"/>
          <p:nvPr/>
        </p:nvSpPr>
        <p:spPr>
          <a:xfrm>
            <a:off x="594360" y="274320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3</a:t>
            </a:r>
            <a:endParaRPr lang="en-US" sz="2000" dirty="0"/>
          </a:p>
        </p:txBody>
      </p:sp>
      <p:sp>
        <p:nvSpPr>
          <p:cNvPr id="15" name="Text 12"/>
          <p:cNvSpPr txBox="1"/>
          <p:nvPr/>
        </p:nvSpPr>
        <p:spPr>
          <a:xfrm>
            <a:off x="1097280" y="281635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Quantitative physics</a:t>
            </a:r>
            <a:endParaRPr lang="en-US" sz="1300" dirty="0"/>
          </a:p>
        </p:txBody>
      </p:sp>
      <p:sp>
        <p:nvSpPr>
          <p:cNvPr id="16" name="Text 13"/>
          <p:cNvSpPr txBox="1"/>
          <p:nvPr/>
        </p:nvSpPr>
        <p:spPr>
          <a:xfrm>
            <a:off x="3840480" y="281635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the kernel posited; weights, phases, the Hilbert representation, the Born statistics — derived from it</a:t>
            </a:r>
            <a:endParaRPr lang="en-US" sz="1150" dirty="0"/>
          </a:p>
        </p:txBody>
      </p:sp>
      <p:sp>
        <p:nvSpPr>
          <p:cNvPr id="17" name="Shape 14"/>
          <p:cNvSpPr/>
          <p:nvPr/>
        </p:nvSpPr>
        <p:spPr>
          <a:xfrm>
            <a:off x="457200" y="3474720"/>
            <a:ext cx="8229600" cy="621792"/>
          </a:xfrm>
          <a:prstGeom prst="roundRect">
            <a:avLst>
              <a:gd name="adj" fmla="val 8824"/>
            </a:avLst>
          </a:prstGeom>
          <a:solidFill>
            <a:srgbClr val="FCF3E0"/>
          </a:solidFill>
          <a:ln w="12700">
            <a:solidFill>
              <a:srgbClr val="FCF3E0"/>
            </a:solidFill>
            <a:prstDash val="solid"/>
          </a:ln>
        </p:spPr>
      </p:sp>
      <p:sp>
        <p:nvSpPr>
          <p:cNvPr id="18" name="Text 15"/>
          <p:cNvSpPr txBox="1"/>
          <p:nvPr/>
        </p:nvSpPr>
        <p:spPr>
          <a:xfrm>
            <a:off x="594360" y="347472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4</a:t>
            </a:r>
            <a:endParaRPr lang="en-US" sz="2000" dirty="0"/>
          </a:p>
        </p:txBody>
      </p:sp>
      <p:sp>
        <p:nvSpPr>
          <p:cNvPr id="19" name="Text 16"/>
          <p:cNvSpPr txBox="1"/>
          <p:nvPr/>
        </p:nvSpPr>
        <p:spPr>
          <a:xfrm>
            <a:off x="1097280" y="354787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The arena</a:t>
            </a:r>
            <a:endParaRPr lang="en-US" sz="1300" dirty="0"/>
          </a:p>
        </p:txBody>
      </p:sp>
      <p:sp>
        <p:nvSpPr>
          <p:cNvPr id="20" name="Text 17"/>
          <p:cNvSpPr txBox="1"/>
          <p:nvPr/>
        </p:nvSpPr>
        <p:spPr>
          <a:xfrm>
            <a:off x="3840480" y="354787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what the kernel lives on; active space; gravity — open, and the subject of a separate program</a:t>
            </a:r>
            <a:endParaRPr lang="en-US" sz="1150" dirty="0"/>
          </a:p>
        </p:txBody>
      </p:sp>
      <p:sp>
        <p:nvSpPr>
          <p:cNvPr id="21" name="Text 18"/>
          <p:cNvSpPr txBox="1"/>
          <p:nvPr/>
        </p:nvSpPr>
        <p:spPr>
          <a:xfrm>
            <a:off x="457200" y="4251960"/>
            <a:ext cx="8229600" cy="548640"/>
          </a:xfrm>
          <a:prstGeom prst="rect">
            <a:avLst/>
          </a:prstGeom>
          <a:noFill/>
          <a:ln/>
        </p:spPr>
        <p:txBody>
          <a:bodyPr wrap="square" lIns="0" tIns="0" rIns="0" bIns="0" rtlCol="0" anchor="t"/>
          <a:lstStyle/>
          <a:p>
            <a:pPr algn="l" indent="0" marL="0">
              <a:lnSpc>
                <a:spcPct val="115000"/>
              </a:lnSpc>
              <a:buNone/>
            </a:pPr>
            <a:r>
              <a:rPr lang="en-US" sz="1200" i="1" dirty="0">
                <a:solidFill>
                  <a:srgbClr val="6B7A90"/>
                </a:solidFill>
                <a:latin typeface="Calibri" pitchFamily="34" charset="0"/>
                <a:ea typeface="Calibri" pitchFamily="34" charset="-122"/>
                <a:cs typeface="Calibri" pitchFamily="34" charset="-120"/>
              </a:rPr>
              <a:t>A re-axiomatization, not an operational reconstruction: the kernel's content — continuity, local tomography, the quadratic form — is what the reconstruction programs seek from operational axioms, and its derivation is assigned to the arena.</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Gravity: a principle, a program, and a prediction</a:t>
            </a:r>
            <a:endParaRPr lang="en-US" sz="2800" dirty="0"/>
          </a:p>
        </p:txBody>
      </p:sp>
      <p:sp>
        <p:nvSpPr>
          <p:cNvPr id="5" name="Shape 2"/>
          <p:cNvSpPr/>
          <p:nvPr/>
        </p:nvSpPr>
        <p:spPr>
          <a:xfrm>
            <a:off x="457200" y="1280160"/>
            <a:ext cx="2651760" cy="3154680"/>
          </a:xfrm>
          <a:prstGeom prst="roundRect">
            <a:avLst>
              <a:gd name="adj" fmla="val 2759"/>
            </a:avLst>
          </a:prstGeom>
          <a:solidFill>
            <a:srgbClr val="E9F3E4"/>
          </a:solidFill>
          <a:ln w="12700">
            <a:solidFill>
              <a:srgbClr val="E9F3E4"/>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Robust: the principle</a:t>
            </a:r>
            <a:endParaRPr lang="en-US" sz="1500" dirty="0"/>
          </a:p>
        </p:txBody>
      </p:sp>
      <p:sp>
        <p:nvSpPr>
          <p:cNvPr id="7" name="Text 4"/>
          <p:cNvSpPr txBox="1"/>
          <p:nvPr/>
        </p:nvSpPr>
        <p:spPr>
          <a:xfrm>
            <a:off x="64008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Disagreeing Metric Principle: one spacetime per valid agreeing cluster; enumeration across the disagreeing superposition; no cross-pocket average, ever. The third postulate applied to geometry. Eppley–Hannah dissolved.</a:t>
            </a:r>
            <a:endParaRPr lang="en-US" sz="1200" dirty="0"/>
          </a:p>
        </p:txBody>
      </p:sp>
      <p:sp>
        <p:nvSpPr>
          <p:cNvPr id="8" name="Shape 5"/>
          <p:cNvSpPr/>
          <p:nvPr/>
        </p:nvSpPr>
        <p:spPr>
          <a:xfrm>
            <a:off x="3246120" y="1280160"/>
            <a:ext cx="2651760" cy="3154680"/>
          </a:xfrm>
          <a:prstGeom prst="roundRect">
            <a:avLst>
              <a:gd name="adj" fmla="val 2759"/>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Speculative: the program</a:t>
            </a:r>
            <a:endParaRPr lang="en-US" sz="1500" dirty="0"/>
          </a:p>
        </p:txBody>
      </p:sp>
      <p:sp>
        <p:nvSpPr>
          <p:cNvPr id="10" name="Text 7"/>
          <p:cNvSpPr txBox="1"/>
          <p:nvPr/>
        </p:nvSpPr>
        <p:spPr>
          <a:xfrm>
            <a:off x="342900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Aethic semiclassical gravity: the semiclassical equation confined to a cluster, sourced by the cluster's own expectation with transported operators — real and conserved. A program, tiered at every site.</a:t>
            </a:r>
            <a:endParaRPr lang="en-US" sz="1200" dirty="0"/>
          </a:p>
        </p:txBody>
      </p:sp>
      <p:sp>
        <p:nvSpPr>
          <p:cNvPr id="11" name="Shape 8"/>
          <p:cNvSpPr/>
          <p:nvPr/>
        </p:nvSpPr>
        <p:spPr>
          <a:xfrm>
            <a:off x="6035040" y="1280160"/>
            <a:ext cx="2651760" cy="3154680"/>
          </a:xfrm>
          <a:prstGeom prst="roundRect">
            <a:avLst>
              <a:gd name="adj" fmla="val 2759"/>
            </a:avLst>
          </a:prstGeom>
          <a:solidFill>
            <a:srgbClr val="FBE9E7"/>
          </a:solidFill>
          <a:ln w="12700">
            <a:solidFill>
              <a:srgbClr val="FBE9E7"/>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prediction</a:t>
            </a:r>
            <a:endParaRPr lang="en-US" sz="1500" dirty="0"/>
          </a:p>
        </p:txBody>
      </p:sp>
      <p:sp>
        <p:nvSpPr>
          <p:cNvPr id="13" name="Text 10"/>
          <p:cNvSpPr txBox="1"/>
          <p:nvPr/>
        </p:nvSpPr>
        <p:spPr>
          <a:xfrm>
            <a:off x="621792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Gravity does not mediate entanglement. Bose–Marletto–Vedral tests exactly this. A positive result refutes the program. The framework would rather be checkable than safe.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open constructions</a:t>
            </a:r>
            <a:endParaRPr lang="en-US" sz="2800" dirty="0"/>
          </a:p>
        </p:txBody>
      </p:sp>
      <p:sp>
        <p:nvSpPr>
          <p:cNvPr id="5" name="Shape 2"/>
          <p:cNvSpPr/>
          <p:nvPr/>
        </p:nvSpPr>
        <p:spPr>
          <a:xfrm>
            <a:off x="457200" y="1280160"/>
            <a:ext cx="2651760" cy="3154680"/>
          </a:xfrm>
          <a:prstGeom prst="roundRect">
            <a:avLst>
              <a:gd name="adj" fmla="val 2759"/>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irretrievability trigger</a:t>
            </a:r>
            <a:endParaRPr lang="en-US" sz="1500" dirty="0"/>
          </a:p>
        </p:txBody>
      </p:sp>
      <p:sp>
        <p:nvSpPr>
          <p:cNvPr id="7" name="Text 4"/>
          <p:cNvSpPr txBox="1"/>
          <p:nvPr/>
        </p:nvSpPr>
        <p:spPr>
          <a:xfrm>
            <a:off x="64008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Can an observer's records ever be kept from escaping? If yes, the framework diverges from universal unitarity exactly there. If no, it never does.</a:t>
            </a:r>
            <a:endParaRPr lang="en-US" sz="1200" dirty="0"/>
          </a:p>
        </p:txBody>
      </p:sp>
      <p:sp>
        <p:nvSpPr>
          <p:cNvPr id="8" name="Shape 5"/>
          <p:cNvSpPr/>
          <p:nvPr/>
        </p:nvSpPr>
        <p:spPr>
          <a:xfrm>
            <a:off x="3246120" y="1280160"/>
            <a:ext cx="2651760" cy="3154680"/>
          </a:xfrm>
          <a:prstGeom prst="roundRect">
            <a:avLst>
              <a:gd name="adj" fmla="val 2759"/>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kernel's derivation</a:t>
            </a:r>
            <a:endParaRPr lang="en-US" sz="1500" dirty="0"/>
          </a:p>
        </p:txBody>
      </p:sp>
      <p:sp>
        <p:nvSpPr>
          <p:cNvPr id="10" name="Text 7"/>
          <p:cNvSpPr txBox="1"/>
          <p:nvPr/>
        </p:nvSpPr>
        <p:spPr>
          <a:xfrm>
            <a:off x="342900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Unveiled by the arena's geometry, not derived from the logic. The Maximal Principle is the instrument: define kinematics in the maximal agreeing regime, let the muffling return the empiricism.</a:t>
            </a:r>
            <a:endParaRPr lang="en-US" sz="1200" dirty="0"/>
          </a:p>
        </p:txBody>
      </p:sp>
      <p:sp>
        <p:nvSpPr>
          <p:cNvPr id="11" name="Shape 8"/>
          <p:cNvSpPr/>
          <p:nvPr/>
        </p:nvSpPr>
        <p:spPr>
          <a:xfrm>
            <a:off x="6035040" y="1280160"/>
            <a:ext cx="2651760" cy="3154680"/>
          </a:xfrm>
          <a:prstGeom prst="roundRect">
            <a:avLst>
              <a:gd name="adj" fmla="val 2759"/>
            </a:avLst>
          </a:prstGeom>
          <a:solidFill>
            <a:srgbClr val="FCF3E0"/>
          </a:solidFill>
          <a:ln w="12700">
            <a:solidFill>
              <a:srgbClr val="FCF3E0"/>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common source</a:t>
            </a:r>
            <a:endParaRPr lang="en-US" sz="1500" dirty="0"/>
          </a:p>
        </p:txBody>
      </p:sp>
      <p:sp>
        <p:nvSpPr>
          <p:cNvPr id="13" name="Text 10"/>
          <p:cNvSpPr txBox="1"/>
          <p:nvPr/>
        </p:nvSpPr>
        <p:spPr>
          <a:xfrm>
            <a:off x="621792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Whether spacetime and the kernel are two projections of one deeper space — with three-dimensionality as the dimension along which records can be laid down.</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640080" y="960120"/>
            <a:ext cx="128016" cy="128016"/>
          </a:xfrm>
          <a:prstGeom prst="rect">
            <a:avLst/>
          </a:prstGeom>
          <a:solidFill>
            <a:srgbClr val="E9A23B"/>
          </a:solidFill>
          <a:ln w="12700">
            <a:solidFill>
              <a:srgbClr val="E9A23B"/>
            </a:solidFill>
            <a:prstDash val="solid"/>
          </a:ln>
        </p:spPr>
      </p:sp>
      <p:sp>
        <p:nvSpPr>
          <p:cNvPr id="3" name="Text 1"/>
          <p:cNvSpPr txBox="1"/>
          <p:nvPr/>
        </p:nvSpPr>
        <p:spPr>
          <a:xfrm>
            <a:off x="640080" y="1188720"/>
            <a:ext cx="7863840" cy="731520"/>
          </a:xfrm>
          <a:prstGeom prst="rect">
            <a:avLst/>
          </a:prstGeom>
          <a:noFill/>
          <a:ln/>
        </p:spPr>
        <p:txBody>
          <a:bodyPr wrap="square" lIns="0" tIns="0" rIns="0" bIns="0" rtlCol="0" anchor="ctr"/>
          <a:lstStyle/>
          <a:p>
            <a:pPr indent="0" marL="0">
              <a:buNone/>
            </a:pPr>
            <a:r>
              <a:rPr lang="en-US" sz="3200" b="1" dirty="0">
                <a:solidFill>
                  <a:srgbClr val="DCE8F5"/>
                </a:solidFill>
                <a:latin typeface="Cambria" pitchFamily="34" charset="0"/>
                <a:ea typeface="Cambria" pitchFamily="34" charset="-122"/>
                <a:cs typeface="Cambria" pitchFamily="34" charset="-120"/>
              </a:rPr>
              <a:t>Three postulates. One kernel.</a:t>
            </a:r>
            <a:endParaRPr lang="en-US" sz="3200" dirty="0"/>
          </a:p>
        </p:txBody>
      </p:sp>
      <p:sp>
        <p:nvSpPr>
          <p:cNvPr id="4" name="Text 2"/>
          <p:cNvSpPr txBox="1"/>
          <p:nvPr/>
        </p:nvSpPr>
        <p:spPr>
          <a:xfrm>
            <a:off x="640080" y="192024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No measurement axiom.</a:t>
            </a:r>
            <a:endParaRPr lang="en-US" sz="4000" dirty="0"/>
          </a:p>
        </p:txBody>
      </p:sp>
      <p:sp>
        <p:nvSpPr>
          <p:cNvPr id="5" name="Text 3"/>
          <p:cNvSpPr txBox="1"/>
          <p:nvPr/>
        </p:nvSpPr>
        <p:spPr>
          <a:xfrm>
            <a:off x="640080" y="2926080"/>
            <a:ext cx="7863840" cy="1005840"/>
          </a:xfrm>
          <a:prstGeom prst="rect">
            <a:avLst/>
          </a:prstGeom>
          <a:noFill/>
          <a:ln/>
        </p:spPr>
        <p:txBody>
          <a:bodyPr wrap="square" lIns="0" tIns="0" rIns="0" bIns="0" rtlCol="0" anchor="ctr"/>
          <a:lstStyle/>
          <a:p>
            <a:pPr indent="0" marL="0">
              <a:lnSpc>
                <a:spcPct val="120000"/>
              </a:lnSpc>
              <a:buNone/>
            </a:pPr>
            <a:r>
              <a:rPr lang="en-US" sz="1400" dirty="0">
                <a:solidFill>
                  <a:srgbClr val="DCE8F5"/>
                </a:solidFill>
                <a:latin typeface="Calibri" pitchFamily="34" charset="0"/>
                <a:ea typeface="Calibri" pitchFamily="34" charset="-122"/>
                <a:cs typeface="Calibri" pitchFamily="34" charset="-120"/>
              </a:rPr>
              <a:t>Determinacy is a two-place relation. Blanks are open. Exclusion is written by records. A superposition any record could contradict is invalid now. Add Feynman's phase in pairs, and the formalism comes back with six axioms as theorems and the seventh absorbed.</a:t>
            </a:r>
            <a:endParaRPr lang="en-US" sz="1400" dirty="0"/>
          </a:p>
        </p:txBody>
      </p:sp>
      <p:sp>
        <p:nvSpPr>
          <p:cNvPr id="6" name="Text 4"/>
          <p:cNvSpPr txBox="1"/>
          <p:nvPr/>
        </p:nvSpPr>
        <p:spPr>
          <a:xfrm>
            <a:off x="640080" y="4160520"/>
            <a:ext cx="7863840" cy="36576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Quantum Mechanics from Records (the axiomatization)  ·  Aethic Reasoning in Brief  ·  the full record, dated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Aethic Reasoning: Quantum Mechanics from Records</dc:title>
  <dc:subject>An hour-long colloquium deck</dc:subject>
  <dc:creator>Ajax Coriander Weeks</dc:creator>
  <cp:lastModifiedBy>Ajax Coriander Weeks</cp:lastModifiedBy>
  <cp:revision>1</cp:revision>
  <dcterms:created xsi:type="dcterms:W3CDTF">2026-09-11T15:32:02Z</dcterms:created>
  <dcterms:modified xsi:type="dcterms:W3CDTF">2026-09-11T15:32:02Z</dcterms:modified>
</cp:coreProperties>
</file>