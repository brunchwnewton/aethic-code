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version: Lewis and Stalnaker evaluate "if X had happened, Y would have" by travelling to the closest X-worlds, and the closeness ordering is imposed rather than derived. This talk replaces the travel with an operation on the evaluator's own information state, reopen, restate, re-prune, and proves that the resulting consequence relation is not preferential: no similarity ordering, Lewis's or Stalnaker's or any smooth one, represents it. Ten minutes: the object, the operator, the witness, the theorem, what the neighbors say on the same witness, the three grains, the classic cases, and what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 the tradition itself registers: six decades of adjusting the similarity ordering's weights, laws over particular facts, perfect match over approximate, without saying why similarity, or which similarity, tracks counterfactual truth. Lewis's official clause on the left; the ordering is centered on w and consumed by the clause. On the right, the evaluation point changes type, from a world to an information state, and the search across worlds becomes an operation on the evaluation point's own structure: reopen the antecedent's attribute, restate it, re-prune, and quantify over the surviving pockets. Three claims of different grade: D1, no world-similarity relation occurs in the clauses, by inspection; D2, no smooth preferential relation agrees with the would-clause's consequence relation on every evaluable pair, a theorem via an explicit countermodel; D3, whether some representation outside that class reproduces the graded, indexed verdict function, open until the class is named. Fine's "Counterfactuals without possible worlds" is the nearest kin; the differences are indexation to evaluators, the weight grain, and the scope dial.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objects. An attribute is a question with an answer space; an information state, an Aethus in the framework's vocabulary, is a deductively closed partial assignment: stated where it carries an entry, blank where it carries none. Blank means unresolved, no value stated, which does not require every value to be compatible with the state; the finer grade, full superposition across the answer space, is the framework's, and the main theorem's witness satisfies both. Closure means the state contains its own consequences under the constraint layer, whose declarations are laws, not entries, and are never retracted. The declared support relation Dep is separate from entailment: an entry that entails a value of the target without being its declared ground is protected under reopening, and that independence is what gives infeasibility its meaning. The example on the right is the witness's state: s stated, y forced in by the law with s as its sole ground, x and z blank. Nothing is doxastic: the state is what the evaluator's situation settles, and the index is any record-bearing structure. Blankness is tense-free, which the sinkhole case later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read left to right. Reopening returns the antecedent's attributes to blank: the scope fixes what must be blank and what is protected, the closure of the stated entries outside the blank set and outside the target's declared grounds; the intermediate is a maximal closed restriction meeting the protected content and blank on the targets, selected by an antecedent-independent priority policy where several are inclusion-maximal; it is set-valued, and empty, infeasible, when protected content and a law together force a target value, the streetlight at evidential-minimal scope being the standard case. Restatement asserts the antecedent's value and closes. Re-pruning is consistency under the standing laws: R of B is the set of inclusion-maximal consistent refinements of the restated intermediate satisfying X, and the residue is the union over intermediates. Would and might quantify over the visible pockets; the grade is a proportion of weight, needing a kernel that respects visibility. The scope dial has three settings ordered by what they blank, and the main theorem is invariant across them because its witness clears the same entries under each. Everything consumed is structure of the state or the model, none a parameter of a particular counterfactual: that is how "you merely moved the ordering" is answered by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four-attribute witness, in its sprinkler clothing. Your books state that the sprinklers ran; a run leaves the lawn wet is a law with the run as the wetness's sole declared ground; rain is blank; rain on top of a run overflows the gutters is a joint invalidity. "Had it rained": x is already blank, nothing is cleared, the one pocket carries the run, the wet lawn and, by the joint constraint, the overflow. Both conclusions hold. "Had it rained and the lawn been wet": the dual-peg reading reopens both attributes; blanking the wetness has to clear the run, since closure would otherwise regenerate it; the intermediate is empty, the laws retained; restating rain and wetness leaves the run and the overflow open, the constraint excluding only run-without-overflow; three pockets, one in which the sprinklers never ran and nothing overflows. The gutter conclusion fails. Cautious Monotony is the rule that adding a conclusion you already hold to the antecedent preserves the other conclusions; here adding "and the lawn was wet" puts the wetness's ground in play, an explaining-away pattern. Under the Boolean reading, the coarsened two-valued attribute "is x and y true?" is already blank, nothing is cleared and the rule holds: the theorem is about the dual-peg reading, a stated interpretive commitment, and whether bare English "if X and Y" defaults to it is an empirical question the two-switches paradigm could test. Scope-invariant: the witness clears the same entries at all three settings, and no priority is consulted because every reopening has a unique maximal restriction.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on finite fully supported models, where every pocket carries positive weight and is visible. Reflexivity, Right Weakening and And hold outright; Left Logical Equivalence by normalization, reopening targets depending only on the antecedent's normalized form; Or holds under the union reading, each pocket of the disjunction being a pocket of a disjunct. Cut holds wherever the intermediates nest branchwise, every intermediate of X containing in content some intermediate of X and Y, and the Cut lemma also yields pocket monotonicity: conjoining a held consequence only ever adds pockets. Cut can fail where the priorities select among incomparable maximal restrictions, a joint support and a priority between its members sufficing. Cautious Monotony fails by the witness, Rational Monotony on the same instance, and strong centering fails as a commitment, since the global reopening treats a stated antecedent as it treats an open one. The proposition "where Cautious Monotony fails" characterizes it: with nested singleton reopenings, exactly when the enlarged residue has a pocket omitting cleared content and failing Z. The chain: preferential relations satisfy Cautious Monotony; ranked relations, those similarity orderings represent, are preferential; Stalnaker's selection function is smooth by construction and Lewis's sphere clause validates the rule with or without the limit assumption; the preferential-extension lemma handles partiality, since the witness is a fully evaluable instance. So the would-clause's relation is not the restriction of anything either semantics induces. The random-model numbers are corroboration of the characterization, from the submission supplement.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clause-level comparison, run on the countermodel itself by the accompanying script under the encodings its README specifies; the rows are claims about those encodings. The maximal-consistent-facts comparator, Lewis's premise semantics, and AGM revision both keep s, the antecedent being consistent with it, so the joint constraint forces the overflow under x and y and the rule holds. Pearl's procedure, for the natural structural model, intervenes on Y by cutting the arrow from S, which keeps its abduced value, so again z follows. Winslett's update moves each completion separately, which already lets s vary under x alone, so it rejects the second premise and the instance does not arise. Veltman's basis retraction works world by world and affirms none of the three, separating from the operator on x box-arrow y itself; his definition is meant for antecedents believed false, so the row is a formal application to an unsettled case, and the known-false variant on A-prime returns the same pattern. The dual-peg operator is the only row that affirms both premises and rejects the conclusion, and it does so because it clears the support of a reopened conjunct. The last card separates the framework's two conditionals: the causality companion's settling, like an intervention, replaces an attribute's own entry and keeps its causes, validating Cautious Monotony, which for structural models is Galles and Pearl's composition property; reopening answers a different question, what the evaluator's information would support once the antecedent's attribute is returned to blank.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grades. Would, might and the probability that are one operator read at three grains: universal, existential and weighted-proportional over the visible pockets of the residue. The illustration: four pockets, one denying Y at weight fifteen hundredths; would fails, might holds, the grade is eighty-five hundredths. Conventions: on an empty residue would is vacuously true, might false and the grade undefined; the weight kernel is a conditional layer that enters the grade alone and must respect visibility. The indicative is a different operation sharing the pruning and the weighting: selection over the standing residue, the pockets in which the antecedent already holds. The Oswald pair shows the split: the subjunctive reopens the shooter and clears the death as recorded posterity, nothing regenerates it, so would is false and might true at small weight; the indicative drops the contrary pocket, the death stands, true at grade one, and that grade is the conditional probability, which is why Adams's thesis is statable here as an identity. Against the probabilistic tradition's own repair: Lewis's imaging moves each world's mass to its closest antecedent-world and so consumes the ordering as its transport plan; the grade here routes transport through the blank intermediate, following dependency and validity. And the triviality results are blocked at the type level, since a conditional verdict is evaluated at states and never stored in them as an entry, which also leaves embedded conditionals without an account, open problem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battery, quickly. Nixon: Fine's critique showed naive similarity prefers the tidy world where the wiring fails; here the button-to-launch regularity is a law of the constraint layer, so it stands while the particulars reopen, entrenchment by the layer a law occupies rather than by a tuned weight, and realizing the antecedent is contraction, never a miracle. Backtracking: a conventionality of a declared boundary, the third scope setting. Morgenbesser: the outcome is nowhere in the bet's recorded posterity, so it stays untouched; an anti-Morgenbesser reading needs the coin brought into the cleared region by the state's own recorded structure, which the bidirectional setting permits but does not supply. The streetlight is the pair of scopes in one case: evidence-lines and cause-lines are different lines through the same state. The sinkhole is the tense-free point: the resolution of a blank is dated by the learning, not by the event, so one counterfactual carries different verdicts at two stations of one evaluator's history, each a fact about its station's state. Bizet and Verdi: the residue splits and the semantics reports the graded fact. And the three patterns the variably strict apparatus was built to defeat are simply not secured here, because a strengthened or chained antecedent is a different perturbation with a different residue; the witness fails antecedent strengthening and contraposition outright, and the script exhibits a transitivity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at the grades the paper itself states. Proved: D1 by inspection; D2, Theorem one, on finite fully supported models under the dual-peg reading, with the preferential-extension lemma handling partiality; the Cut lemma with its nesting hypothesis and the counterexample without it; Or; and the characterization of where Cautious Monotony fails. Committed: the dual-peg reading, a stated interpretive choice whose natural-language default is an empirical question; declared dependencies, the scope family and an antecedent-independent priority policy, which is what blocks "you merely moved the ordering"; the weight kernel, entering the grades only; learning as transit, so prior states stand as indices; and the failure of strong centering, offered as the reading of the subjunctive. Open: naming D3's class, so that the graded indexed question is well posed; the kernel's derivation and measure invariance; a completeness result; deriving the priorities from closure; embeddings and the Kratzer-side flavors. The result does not depend on the grade of blankness at the intermediate, the witness satisfying the framework's stronger requirement too, nor on the kernel. The falsifier of the reading: Ciardelli, Zhang and Champollion's two-switches paradigm, run on the gutter sentence; a split verdict would sit with the operator's own multi-valued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E2A2F"/>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E2A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1E2A2F"/>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1E2A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8A2B"/>
                </a:solidFill>
                <a:latin typeface="IBM Plex Sans" pitchFamily="34" charset="0"/>
                <a:ea typeface="IBM Plex Sans" pitchFamily="34" charset="-122"/>
                <a:cs typeface="IBM Plex Sans" pitchFamily="34" charset="-120"/>
              </a:rPr>
              <a:t>A TEN-MINUTE TALK · THE COUNTERFACTUAL SEMANTICS</a:t>
            </a:r>
            <a:endParaRPr lang="en-US" sz="1200" dirty="0"/>
          </a:p>
        </p:txBody>
      </p:sp>
      <p:sp>
        <p:nvSpPr>
          <p:cNvPr id="3" name="Text 1"/>
          <p:cNvSpPr/>
          <p:nvPr>
            <p:ph type="title"/>
          </p:nvPr>
        </p:nvSpPr>
        <p:spPr>
          <a:xfrm>
            <a:off x="812800" y="219080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2EA"/>
                </a:solidFill>
                <a:latin typeface="EB Garamond" pitchFamily="18" charset="0"/>
                <a:ea typeface="EB Garamond" pitchFamily="18" charset="-122"/>
                <a:cs typeface="EB Garamond" pitchFamily="18" charset="-120"/>
              </a:rPr>
              <a:t>Counterfactuals Without the Ordering</a:t>
            </a:r>
            <a:endParaRPr lang="en-US" sz="5600" dirty="0"/>
          </a:p>
        </p:txBody>
      </p:sp>
      <p:sp>
        <p:nvSpPr>
          <p:cNvPr id="4" name="Text 2"/>
          <p:cNvSpPr/>
          <p:nvPr/>
        </p:nvSpPr>
        <p:spPr>
          <a:xfrm>
            <a:off x="812800" y="3887440"/>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6D3"/>
                </a:solidFill>
                <a:latin typeface="EB Garamond" pitchFamily="18" charset="0"/>
                <a:ea typeface="EB Garamond" pitchFamily="18" charset="-122"/>
                <a:cs typeface="EB Garamond" pitchFamily="18" charset="-120"/>
              </a:rPr>
              <a:t>Reopen, restate, re-prune: a semantics that never leaves the evaluator's own information state, and why its logic lies outside the preferential family.</a:t>
            </a:r>
            <a:endParaRPr lang="en-US" sz="2200" dirty="0"/>
          </a:p>
        </p:txBody>
      </p:sp>
      <p:sp>
        <p:nvSpPr>
          <p:cNvPr id="5" name="Text 3"/>
          <p:cNvSpPr/>
          <p:nvPr/>
        </p:nvSpPr>
        <p:spPr>
          <a:xfrm>
            <a:off x="812800" y="5778500"/>
            <a:ext cx="28694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6D3"/>
                </a:solidFill>
                <a:latin typeface="IBM Plex Sans" pitchFamily="34" charset="0"/>
                <a:ea typeface="IBM Plex Sans" pitchFamily="34" charset="-122"/>
                <a:cs typeface="IBM Plex Sans" pitchFamily="34" charset="-120"/>
              </a:rPr>
              <a:t>Ajax Benander  ·  aethus.org</a:t>
            </a:r>
            <a:endParaRPr lang="en-US" sz="1500" dirty="0"/>
          </a:p>
        </p:txBody>
      </p:sp>
      <p:sp>
        <p:nvSpPr>
          <p:cNvPr id="6" name="Text 4"/>
          <p:cNvSpPr/>
          <p:nvPr/>
        </p:nvSpPr>
        <p:spPr>
          <a:xfrm>
            <a:off x="5638899" y="5831880"/>
            <a:ext cx="574030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Paper: </a:t>
            </a:r>
            <a:r>
              <a:rPr lang="en-US" sz="1200" i="1" dirty="0">
                <a:solidFill>
                  <a:srgbClr val="C9D6D3"/>
                </a:solidFill>
                <a:latin typeface="IBM Plex Sans" pitchFamily="34" charset="0"/>
                <a:ea typeface="IBM Plex Sans" pitchFamily="34" charset="-122"/>
                <a:cs typeface="IBM Plex Sans" pitchFamily="34" charset="-120"/>
              </a:rPr>
              <a:t>Counterfactual Evaluation by Perturbation of Information States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The ordering is imposed, not derived</a:t>
            </a:r>
            <a:endParaRPr lang="en-US" sz="3400" dirty="0"/>
          </a:p>
        </p:txBody>
      </p:sp>
      <p:sp>
        <p:nvSpPr>
          <p:cNvPr id="3" name="Text 1"/>
          <p:cNvSpPr/>
          <p:nvPr/>
        </p:nvSpPr>
        <p:spPr>
          <a:xfrm>
            <a:off x="812800" y="14909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3B2F"/>
                </a:solidFill>
                <a:latin typeface="IBM Plex Sans" pitchFamily="34" charset="0"/>
                <a:ea typeface="IBM Plex Sans" pitchFamily="34" charset="-122"/>
                <a:cs typeface="IBM Plex Sans" pitchFamily="34" charset="-120"/>
              </a:rPr>
              <a:t>LEWIS, STALNAKER: TRAVEL TO THE CLOSEST WORLDS</a:t>
            </a:r>
            <a:endParaRPr lang="en-US" sz="1200" dirty="0"/>
          </a:p>
        </p:txBody>
      </p:sp>
      <p:sp>
        <p:nvSpPr>
          <p:cNvPr id="4" name="Shape 2"/>
          <p:cNvSpPr/>
          <p:nvPr/>
        </p:nvSpPr>
        <p:spPr>
          <a:xfrm>
            <a:off x="1965325" y="1802705"/>
            <a:ext cx="2520950" cy="2520950"/>
          </a:xfrm>
          <a:prstGeom prst="roundRect">
            <a:avLst>
              <a:gd name="adj" fmla="val 50000"/>
            </a:avLst>
          </a:prstGeom>
          <a:noFill/>
          <a:ln w="19050">
            <a:solidFill>
              <a:srgbClr val="B7C2C0"/>
            </a:solidFill>
            <a:prstDash val="solid"/>
          </a:ln>
        </p:spPr>
      </p:sp>
      <p:sp>
        <p:nvSpPr>
          <p:cNvPr id="5" name="Shape 3"/>
          <p:cNvSpPr/>
          <p:nvPr/>
        </p:nvSpPr>
        <p:spPr>
          <a:xfrm>
            <a:off x="2409825" y="2247205"/>
            <a:ext cx="1631950" cy="1631950"/>
          </a:xfrm>
          <a:prstGeom prst="roundRect">
            <a:avLst>
              <a:gd name="adj" fmla="val 50000"/>
            </a:avLst>
          </a:prstGeom>
          <a:noFill/>
          <a:ln w="19050">
            <a:solidFill>
              <a:srgbClr val="8FA09D"/>
            </a:solidFill>
            <a:prstDash val="solid"/>
          </a:ln>
        </p:spPr>
      </p:sp>
      <p:sp>
        <p:nvSpPr>
          <p:cNvPr id="6" name="Shape 4"/>
          <p:cNvSpPr/>
          <p:nvPr/>
        </p:nvSpPr>
        <p:spPr>
          <a:xfrm>
            <a:off x="2854325" y="2691705"/>
            <a:ext cx="742950" cy="742950"/>
          </a:xfrm>
          <a:prstGeom prst="roundRect">
            <a:avLst>
              <a:gd name="adj" fmla="val 50000"/>
            </a:avLst>
          </a:prstGeom>
          <a:noFill/>
          <a:ln w="19050">
            <a:solidFill>
              <a:srgbClr val="5F7471"/>
            </a:solidFill>
            <a:prstDash val="solid"/>
          </a:ln>
        </p:spPr>
      </p:sp>
      <p:sp>
        <p:nvSpPr>
          <p:cNvPr id="7" name="Shape 5"/>
          <p:cNvSpPr/>
          <p:nvPr/>
        </p:nvSpPr>
        <p:spPr>
          <a:xfrm>
            <a:off x="3168650" y="3006030"/>
            <a:ext cx="114300" cy="114300"/>
          </a:xfrm>
          <a:prstGeom prst="roundRect">
            <a:avLst>
              <a:gd name="adj" fmla="val 50000"/>
            </a:avLst>
          </a:prstGeom>
          <a:solidFill>
            <a:srgbClr val="1E2A2F"/>
          </a:solidFill>
          <a:ln/>
        </p:spPr>
      </p:sp>
      <p:sp>
        <p:nvSpPr>
          <p:cNvPr id="8" name="Text 6"/>
          <p:cNvSpPr/>
          <p:nvPr/>
        </p:nvSpPr>
        <p:spPr>
          <a:xfrm>
            <a:off x="3314700" y="2923480"/>
            <a:ext cx="304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w</a:t>
            </a:r>
            <a:endParaRPr lang="en-US" sz="1400" dirty="0"/>
          </a:p>
        </p:txBody>
      </p:sp>
      <p:sp>
        <p:nvSpPr>
          <p:cNvPr id="9" name="Shape 7"/>
          <p:cNvSpPr/>
          <p:nvPr/>
        </p:nvSpPr>
        <p:spPr>
          <a:xfrm>
            <a:off x="3784600" y="2605980"/>
            <a:ext cx="114300" cy="114300"/>
          </a:xfrm>
          <a:prstGeom prst="roundRect">
            <a:avLst>
              <a:gd name="adj" fmla="val 50000"/>
            </a:avLst>
          </a:prstGeom>
          <a:solidFill>
            <a:srgbClr val="1F7A78"/>
          </a:solidFill>
          <a:ln/>
        </p:spPr>
      </p:sp>
      <p:sp>
        <p:nvSpPr>
          <p:cNvPr id="10" name="Text 8"/>
          <p:cNvSpPr/>
          <p:nvPr/>
        </p:nvSpPr>
        <p:spPr>
          <a:xfrm>
            <a:off x="3937000" y="2504380"/>
            <a:ext cx="106680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78"/>
                </a:solidFill>
                <a:latin typeface="IBM Plex Sans" pitchFamily="34" charset="0"/>
                <a:ea typeface="IBM Plex Sans" pitchFamily="34" charset="-122"/>
                <a:cs typeface="IBM Plex Sans" pitchFamily="34" charset="-120"/>
              </a:rPr>
              <a:t>an X ∧ Y world</a:t>
            </a:r>
            <a:endParaRPr lang="en-US" sz="1300" dirty="0"/>
          </a:p>
        </p:txBody>
      </p:sp>
      <p:sp>
        <p:nvSpPr>
          <p:cNvPr id="11" name="Shape 9"/>
          <p:cNvSpPr/>
          <p:nvPr/>
        </p:nvSpPr>
        <p:spPr>
          <a:xfrm>
            <a:off x="2247900" y="3647380"/>
            <a:ext cx="114300" cy="114300"/>
          </a:xfrm>
          <a:prstGeom prst="roundRect">
            <a:avLst>
              <a:gd name="adj" fmla="val 50000"/>
            </a:avLst>
          </a:prstGeom>
          <a:solidFill>
            <a:srgbClr val="9E3B2F"/>
          </a:solidFill>
          <a:ln/>
        </p:spPr>
      </p:sp>
      <p:sp>
        <p:nvSpPr>
          <p:cNvPr id="12" name="Text 10"/>
          <p:cNvSpPr/>
          <p:nvPr/>
        </p:nvSpPr>
        <p:spPr>
          <a:xfrm>
            <a:off x="762000" y="3698180"/>
            <a:ext cx="1447800" cy="25653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9E3B2F"/>
                </a:solidFill>
                <a:latin typeface="IBM Plex Sans" pitchFamily="34" charset="0"/>
                <a:ea typeface="IBM Plex Sans" pitchFamily="34" charset="-122"/>
                <a:cs typeface="IBM Plex Sans" pitchFamily="34" charset="-120"/>
              </a:rPr>
              <a:t>an X ∧ ¬Y world</a:t>
            </a:r>
            <a:endParaRPr lang="en-US" sz="1300" dirty="0"/>
          </a:p>
        </p:txBody>
      </p:sp>
      <p:sp>
        <p:nvSpPr>
          <p:cNvPr id="13" name="Text 11"/>
          <p:cNvSpPr/>
          <p:nvPr/>
        </p:nvSpPr>
        <p:spPr>
          <a:xfrm>
            <a:off x="4622800" y="38886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spheres of ≤</a:t>
            </a:r>
            <a:r>
              <a:rPr lang="en-US" sz="1200" i="1" dirty="0">
                <a:solidFill>
                  <a:srgbClr val="4A5568"/>
                </a:solidFill>
                <a:latin typeface="IBM Plex Sans" pitchFamily="34" charset="0"/>
                <a:ea typeface="IBM Plex Sans" pitchFamily="34" charset="-122"/>
                <a:cs typeface="IBM Plex Sans" pitchFamily="34" charset="-120"/>
              </a:rPr>
              <a:t>w</a:t>
            </a:r>
            <a:endParaRPr lang="en-US" sz="1200" dirty="0"/>
          </a:p>
        </p:txBody>
      </p:sp>
      <p:sp>
        <p:nvSpPr>
          <p:cNvPr id="14" name="Text 12"/>
          <p:cNvSpPr/>
          <p:nvPr/>
        </p:nvSpPr>
        <p:spPr>
          <a:xfrm>
            <a:off x="812800" y="4422080"/>
            <a:ext cx="52324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X □→ Y at w iff some X∧Y-world is closer than any X∧¬Y-world, </a:t>
            </a:r>
            <a:r>
              <a:rPr lang="en-US" sz="1300" b="1" dirty="0">
                <a:solidFill>
                  <a:srgbClr val="1E2A2F"/>
                </a:solidFill>
                <a:latin typeface="IBM Plex Sans" pitchFamily="34" charset="0"/>
                <a:ea typeface="IBM Plex Sans" pitchFamily="34" charset="-122"/>
                <a:cs typeface="IBM Plex Sans" pitchFamily="34" charset="-120"/>
              </a:rPr>
              <a:t>by ≤</a:t>
            </a:r>
            <a:r>
              <a:rPr lang="en-US" sz="1300" b="1" i="1" dirty="0">
                <a:solidFill>
                  <a:srgbClr val="1E2A2F"/>
                </a:solidFill>
                <a:latin typeface="IBM Plex Sans" pitchFamily="34" charset="0"/>
                <a:ea typeface="IBM Plex Sans" pitchFamily="34" charset="-122"/>
                <a:cs typeface="IBM Plex Sans" pitchFamily="34" charset="-120"/>
              </a:rPr>
              <a:t>w</a:t>
            </a:r>
            <a:r>
              <a:rPr lang="en-US" sz="1300" dirty="0">
                <a:solidFill>
                  <a:srgbClr val="1E2A2F"/>
                </a:solidFill>
                <a:latin typeface="IBM Plex Sans" pitchFamily="34" charset="0"/>
                <a:ea typeface="IBM Plex Sans" pitchFamily="34" charset="-122"/>
                <a:cs typeface="IBM Plex Sans" pitchFamily="34" charset="-120"/>
              </a:rPr>
              <a:t>, a parameter nothing in the picture derives.</a:t>
            </a:r>
            <a:endParaRPr lang="en-US" sz="1300" dirty="0"/>
          </a:p>
        </p:txBody>
      </p:sp>
      <p:sp>
        <p:nvSpPr>
          <p:cNvPr id="15" name="Text 13"/>
          <p:cNvSpPr/>
          <p:nvPr/>
        </p:nvSpPr>
        <p:spPr>
          <a:xfrm>
            <a:off x="6299200" y="149096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8"/>
                </a:solidFill>
                <a:latin typeface="IBM Plex Sans" pitchFamily="34" charset="0"/>
                <a:ea typeface="IBM Plex Sans" pitchFamily="34" charset="-122"/>
                <a:cs typeface="IBM Plex Sans" pitchFamily="34" charset="-120"/>
              </a:rPr>
              <a:t>THIS PAPER: OPERATE ON THE EVALUATOR'S OWN STATE</a:t>
            </a:r>
            <a:endParaRPr lang="en-US" sz="1200" dirty="0"/>
          </a:p>
        </p:txBody>
      </p:sp>
      <p:sp>
        <p:nvSpPr>
          <p:cNvPr id="16" name="Text 14"/>
          <p:cNvSpPr/>
          <p:nvPr/>
        </p:nvSpPr>
        <p:spPr>
          <a:xfrm>
            <a:off x="7188200" y="1793180"/>
            <a:ext cx="3302000" cy="401290"/>
          </a:xfrm>
          <a:custGeom>
            <a:avLst/>
            <a:gdLst/>
            <a:ahLst/>
            <a:cxnLst/>
            <a:rect l="l" t="t" r="r" b="b"/>
            <a:pathLst>
              <a:path w="3302000" h="401290">
                <a:moveTo>
                  <a:pt x="63500" y="0"/>
                </a:moveTo>
                <a:lnTo>
                  <a:pt x="3238500" y="0"/>
                </a:lnTo>
                <a:arcTo hR="63500" wR="63500" stAng="16200000" swAng="5400000"/>
                <a:lnTo>
                  <a:pt x="3302000" y="337790"/>
                </a:lnTo>
                <a:arcTo hR="63500" wR="63500" stAng="0" swAng="5400000"/>
                <a:lnTo>
                  <a:pt x="63500" y="401290"/>
                </a:lnTo>
                <a:arcTo hR="63500" wR="63500" stAng="5400000" swAng="5400000"/>
                <a:lnTo>
                  <a:pt x="0" y="63500"/>
                </a:lnTo>
                <a:arcTo hR="63500" wR="63500" stAng="10800000" swAng="5400000"/>
                <a:close/>
              </a:path>
            </a:pathLst>
          </a:custGeom>
          <a:solidFill>
            <a:srgbClr val="1E2A2F"/>
          </a:solidFill>
          <a:ln/>
        </p:spPr>
        <p:txBody>
          <a:bodyPr wrap="square" lIns="0" tIns="76200" rIns="0" bIns="50800" rtlCol="0" anchor="t">
            <a:normAutofit/>
          </a:bodyPr>
          <a:lstStyle/>
          <a:p>
            <a:pPr algn="ctr"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information state A</a:t>
            </a:r>
            <a:endParaRPr lang="en-US" sz="1400" dirty="0"/>
          </a:p>
        </p:txBody>
      </p:sp>
      <p:sp>
        <p:nvSpPr>
          <p:cNvPr id="17" name="Text 15"/>
          <p:cNvSpPr/>
          <p:nvPr/>
        </p:nvSpPr>
        <p:spPr>
          <a:xfrm>
            <a:off x="6833240" y="2257971"/>
            <a:ext cx="401187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reopen qₓ: grounds cleared, the rest protected</a:t>
            </a:r>
            <a:endParaRPr lang="en-US" sz="1200" dirty="0"/>
          </a:p>
        </p:txBody>
      </p:sp>
      <p:sp>
        <p:nvSpPr>
          <p:cNvPr id="18" name="Text 16"/>
          <p:cNvSpPr/>
          <p:nvPr/>
        </p:nvSpPr>
        <p:spPr>
          <a:xfrm>
            <a:off x="7188200" y="2534791"/>
            <a:ext cx="3302000" cy="401290"/>
          </a:xfrm>
          <a:custGeom>
            <a:avLst/>
            <a:gdLst/>
            <a:ahLst/>
            <a:cxnLst/>
            <a:rect l="l" t="t" r="r" b="b"/>
            <a:pathLst>
              <a:path w="3302000" h="401290">
                <a:moveTo>
                  <a:pt x="63500" y="0"/>
                </a:moveTo>
                <a:lnTo>
                  <a:pt x="3238500" y="0"/>
                </a:lnTo>
                <a:arcTo hR="63500" wR="63500" stAng="16200000" swAng="5400000"/>
                <a:lnTo>
                  <a:pt x="3302000" y="337790"/>
                </a:lnTo>
                <a:arcTo hR="63500" wR="63500" stAng="0" swAng="5400000"/>
                <a:lnTo>
                  <a:pt x="63500" y="401290"/>
                </a:lnTo>
                <a:arcTo hR="63500" wR="63500" stAng="5400000" swAng="5400000"/>
                <a:lnTo>
                  <a:pt x="0" y="63500"/>
                </a:lnTo>
                <a:arcTo hR="63500" wR="63500" stAng="10800000" swAng="5400000"/>
                <a:close/>
              </a:path>
            </a:pathLst>
          </a:custGeom>
          <a:solidFill>
            <a:srgbClr val="E6E1D6"/>
          </a:solidFill>
          <a:ln/>
        </p:spPr>
        <p:txBody>
          <a:bodyPr wrap="square" lIns="0" tIns="76200" rIns="0" bIns="50800" rtlCol="0" anchor="t">
            <a:normAutofit/>
          </a:bodyPr>
          <a:lstStyle/>
          <a:p>
            <a:pPr algn="ctr"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blank intermediate</a:t>
            </a:r>
            <a:endParaRPr lang="en-US" sz="1400" dirty="0"/>
          </a:p>
        </p:txBody>
      </p:sp>
      <p:sp>
        <p:nvSpPr>
          <p:cNvPr id="19" name="Text 17"/>
          <p:cNvSpPr/>
          <p:nvPr/>
        </p:nvSpPr>
        <p:spPr>
          <a:xfrm>
            <a:off x="6938784" y="2999581"/>
            <a:ext cx="38008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restate qₓ = x, then re-prune under the laws</a:t>
            </a:r>
            <a:endParaRPr lang="en-US" sz="1200" dirty="0"/>
          </a:p>
        </p:txBody>
      </p:sp>
      <p:sp>
        <p:nvSpPr>
          <p:cNvPr id="20" name="Text 18"/>
          <p:cNvSpPr/>
          <p:nvPr/>
        </p:nvSpPr>
        <p:spPr>
          <a:xfrm>
            <a:off x="7564934" y="3276402"/>
            <a:ext cx="798711" cy="383530"/>
          </a:xfrm>
          <a:prstGeom prst="roundRect">
            <a:avLst>
              <a:gd name="adj" fmla="val 16557"/>
            </a:avLst>
          </a:prstGeom>
          <a:solidFill>
            <a:srgbClr val="1F7A78"/>
          </a:solidFill>
          <a:ln/>
        </p:spPr>
        <p:txBody>
          <a:bodyPr wrap="none" lIns="0" tIns="0" rIns="0" bIns="0" rtlCol="0" anchor="ctr">
            <a:normAutofit/>
          </a:bodyPr>
          <a:lstStyle/>
          <a:p>
            <a:pPr algn="ctr"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pocket</a:t>
            </a:r>
            <a:endParaRPr lang="en-US" sz="1300" dirty="0"/>
          </a:p>
        </p:txBody>
      </p:sp>
      <p:sp>
        <p:nvSpPr>
          <p:cNvPr id="21" name="Text 19"/>
          <p:cNvSpPr/>
          <p:nvPr/>
        </p:nvSpPr>
        <p:spPr>
          <a:xfrm>
            <a:off x="8439845" y="3276402"/>
            <a:ext cx="798711" cy="383530"/>
          </a:xfrm>
          <a:prstGeom prst="roundRect">
            <a:avLst>
              <a:gd name="adj" fmla="val 16557"/>
            </a:avLst>
          </a:prstGeom>
          <a:solidFill>
            <a:srgbClr val="1F7A78"/>
          </a:solidFill>
          <a:ln/>
        </p:spPr>
        <p:txBody>
          <a:bodyPr wrap="none" lIns="0" tIns="0" rIns="0" bIns="0" rtlCol="0" anchor="ctr">
            <a:normAutofit/>
          </a:bodyPr>
          <a:lstStyle/>
          <a:p>
            <a:pPr algn="ctr"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pocket</a:t>
            </a:r>
            <a:endParaRPr lang="en-US" sz="1300" dirty="0"/>
          </a:p>
        </p:txBody>
      </p:sp>
      <p:sp>
        <p:nvSpPr>
          <p:cNvPr id="22" name="Text 20"/>
          <p:cNvSpPr/>
          <p:nvPr/>
        </p:nvSpPr>
        <p:spPr>
          <a:xfrm>
            <a:off x="9314755" y="3276402"/>
            <a:ext cx="798711" cy="383530"/>
          </a:xfrm>
          <a:prstGeom prst="roundRect">
            <a:avLst>
              <a:gd name="adj" fmla="val 16557"/>
            </a:avLst>
          </a:prstGeom>
          <a:solidFill>
            <a:srgbClr val="1F7A78"/>
          </a:solidFill>
          <a:ln/>
        </p:spPr>
        <p:txBody>
          <a:bodyPr wrap="none" lIns="0" tIns="0" rIns="0" bIns="0" rtlCol="0" anchor="ctr">
            <a:normAutofit/>
          </a:bodyPr>
          <a:lstStyle/>
          <a:p>
            <a:pPr algn="ctr"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pocket</a:t>
            </a:r>
            <a:endParaRPr lang="en-US" sz="1300" dirty="0"/>
          </a:p>
        </p:txBody>
      </p:sp>
      <p:sp>
        <p:nvSpPr>
          <p:cNvPr id="23" name="Text 21"/>
          <p:cNvSpPr/>
          <p:nvPr/>
        </p:nvSpPr>
        <p:spPr>
          <a:xfrm>
            <a:off x="7724715" y="3723432"/>
            <a:ext cx="222896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residue πₓ(A), weighted</a:t>
            </a:r>
            <a:endParaRPr lang="en-US" sz="1200" dirty="0"/>
          </a:p>
        </p:txBody>
      </p:sp>
      <p:sp>
        <p:nvSpPr>
          <p:cNvPr id="24" name="Text 22"/>
          <p:cNvSpPr/>
          <p:nvPr/>
        </p:nvSpPr>
        <p:spPr>
          <a:xfrm>
            <a:off x="6299200" y="4025652"/>
            <a:ext cx="52324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X □→ Y at A iff </a:t>
            </a:r>
            <a:r>
              <a:rPr lang="en-US" sz="1300" b="1" dirty="0">
                <a:solidFill>
                  <a:srgbClr val="1E2A2F"/>
                </a:solidFill>
                <a:latin typeface="IBM Plex Sans" pitchFamily="34" charset="0"/>
                <a:ea typeface="IBM Plex Sans" pitchFamily="34" charset="-122"/>
                <a:cs typeface="IBM Plex Sans" pitchFamily="34" charset="-120"/>
              </a:rPr>
              <a:t>every visible pocket affirms Y</a:t>
            </a:r>
            <a:r>
              <a:rPr lang="en-US" sz="1300" dirty="0">
                <a:solidFill>
                  <a:srgbClr val="1E2A2F"/>
                </a:solidFill>
                <a:latin typeface="IBM Plex Sans" pitchFamily="34" charset="0"/>
                <a:ea typeface="IBM Plex Sans" pitchFamily="34" charset="-122"/>
                <a:cs typeface="IBM Plex Sans" pitchFamily="34" charset="-120"/>
              </a:rPr>
              <a:t>. No world-similarity relation occurs on the right-hand side.</a:t>
            </a:r>
            <a:endParaRPr lang="en-US" sz="1300" dirty="0"/>
          </a:p>
        </p:txBody>
      </p:sp>
      <p:sp>
        <p:nvSpPr>
          <p:cNvPr id="25" name="Shape 23"/>
          <p:cNvSpPr/>
          <p:nvPr/>
        </p:nvSpPr>
        <p:spPr>
          <a:xfrm>
            <a:off x="812800" y="5070971"/>
            <a:ext cx="3437434" cy="850801"/>
          </a:xfrm>
          <a:prstGeom prst="roundRect">
            <a:avLst>
              <a:gd name="adj" fmla="val 7464"/>
            </a:avLst>
          </a:prstGeom>
          <a:solidFill>
            <a:srgbClr val="E6E1D6"/>
          </a:solidFill>
          <a:ln/>
        </p:spPr>
      </p:sp>
      <p:sp>
        <p:nvSpPr>
          <p:cNvPr id="26" name="Text 24"/>
          <p:cNvSpPr/>
          <p:nvPr/>
        </p:nvSpPr>
        <p:spPr>
          <a:xfrm>
            <a:off x="952500" y="51725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2F"/>
                </a:solidFill>
                <a:latin typeface="IBM Plex Sans" pitchFamily="34" charset="0"/>
                <a:ea typeface="IBM Plex Sans" pitchFamily="34" charset="-122"/>
                <a:cs typeface="IBM Plex Sans" pitchFamily="34" charset="-120"/>
              </a:rPr>
              <a:t>D1  clause-level deletion</a:t>
            </a:r>
            <a:endParaRPr lang="en-US" sz="1200" dirty="0"/>
          </a:p>
        </p:txBody>
      </p:sp>
      <p:sp>
        <p:nvSpPr>
          <p:cNvPr id="27" name="Text 25"/>
          <p:cNvSpPr/>
          <p:nvPr/>
        </p:nvSpPr>
        <p:spPr>
          <a:xfrm>
            <a:off x="952500" y="5411291"/>
            <a:ext cx="3252775"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theorem, by inspection</a:t>
            </a:r>
            <a:endParaRPr lang="en-US" sz="1150" dirty="0"/>
          </a:p>
        </p:txBody>
      </p:sp>
      <p:sp>
        <p:nvSpPr>
          <p:cNvPr id="28" name="Shape 26"/>
          <p:cNvSpPr/>
          <p:nvPr/>
        </p:nvSpPr>
        <p:spPr>
          <a:xfrm>
            <a:off x="4377234" y="5070971"/>
            <a:ext cx="3437483" cy="850801"/>
          </a:xfrm>
          <a:prstGeom prst="roundRect">
            <a:avLst>
              <a:gd name="adj" fmla="val 7464"/>
            </a:avLst>
          </a:prstGeom>
          <a:solidFill>
            <a:srgbClr val="E6E1D6"/>
          </a:solidFill>
          <a:ln/>
        </p:spPr>
      </p:sp>
      <p:sp>
        <p:nvSpPr>
          <p:cNvPr id="29" name="Text 27"/>
          <p:cNvSpPr/>
          <p:nvPr/>
        </p:nvSpPr>
        <p:spPr>
          <a:xfrm>
            <a:off x="4516934" y="51725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2F"/>
                </a:solidFill>
                <a:latin typeface="IBM Plex Sans" pitchFamily="34" charset="0"/>
                <a:ea typeface="IBM Plex Sans" pitchFamily="34" charset="-122"/>
                <a:cs typeface="IBM Plex Sans" pitchFamily="34" charset="-120"/>
              </a:rPr>
              <a:t>D2  qualitative non-recoverability</a:t>
            </a:r>
            <a:endParaRPr lang="en-US" sz="1200" dirty="0"/>
          </a:p>
        </p:txBody>
      </p:sp>
      <p:sp>
        <p:nvSpPr>
          <p:cNvPr id="30" name="Text 28"/>
          <p:cNvSpPr/>
          <p:nvPr/>
        </p:nvSpPr>
        <p:spPr>
          <a:xfrm>
            <a:off x="4516934" y="5411291"/>
            <a:ext cx="3252826" cy="43428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theorem: no smooth preferential relation agrees with it</a:t>
            </a:r>
            <a:endParaRPr lang="en-US" sz="1150" dirty="0"/>
          </a:p>
        </p:txBody>
      </p:sp>
      <p:sp>
        <p:nvSpPr>
          <p:cNvPr id="31" name="Shape 29"/>
          <p:cNvSpPr/>
          <p:nvPr/>
        </p:nvSpPr>
        <p:spPr>
          <a:xfrm>
            <a:off x="7941717" y="5070971"/>
            <a:ext cx="3437483" cy="850801"/>
          </a:xfrm>
          <a:prstGeom prst="roundRect">
            <a:avLst>
              <a:gd name="adj" fmla="val 7464"/>
            </a:avLst>
          </a:prstGeom>
          <a:solidFill>
            <a:srgbClr val="E6E1D6"/>
          </a:solidFill>
          <a:ln/>
        </p:spPr>
      </p:sp>
      <p:sp>
        <p:nvSpPr>
          <p:cNvPr id="32" name="Text 30"/>
          <p:cNvSpPr/>
          <p:nvPr/>
        </p:nvSpPr>
        <p:spPr>
          <a:xfrm>
            <a:off x="8081417" y="51725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A2F"/>
                </a:solidFill>
                <a:latin typeface="IBM Plex Sans" pitchFamily="34" charset="0"/>
                <a:ea typeface="IBM Plex Sans" pitchFamily="34" charset="-122"/>
                <a:cs typeface="IBM Plex Sans" pitchFamily="34" charset="-120"/>
              </a:rPr>
              <a:t>D3  graded, indexed non-recoverability</a:t>
            </a:r>
            <a:endParaRPr lang="en-US" sz="1200" dirty="0"/>
          </a:p>
        </p:txBody>
      </p:sp>
      <p:sp>
        <p:nvSpPr>
          <p:cNvPr id="33" name="Text 31"/>
          <p:cNvSpPr/>
          <p:nvPr/>
        </p:nvSpPr>
        <p:spPr>
          <a:xfrm>
            <a:off x="8081417" y="5411291"/>
            <a:ext cx="3252826"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open; the class to be named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The evaluation point is an information state, not a world</a:t>
            </a:r>
            <a:endParaRPr lang="en-US" sz="3400" dirty="0"/>
          </a:p>
        </p:txBody>
      </p:sp>
      <p:sp>
        <p:nvSpPr>
          <p:cNvPr id="3" name="Shape 1"/>
          <p:cNvSpPr/>
          <p:nvPr/>
        </p:nvSpPr>
        <p:spPr>
          <a:xfrm>
            <a:off x="831850" y="1567160"/>
            <a:ext cx="0" cy="496540"/>
          </a:xfrm>
          <a:prstGeom prst="line">
            <a:avLst/>
          </a:prstGeom>
          <a:noFill/>
          <a:ln w="38100">
            <a:solidFill>
              <a:srgbClr val="1F7A78"/>
            </a:solidFill>
            <a:prstDash val="solid"/>
          </a:ln>
        </p:spPr>
      </p:sp>
      <p:sp>
        <p:nvSpPr>
          <p:cNvPr id="4" name="Text 2"/>
          <p:cNvSpPr/>
          <p:nvPr/>
        </p:nvSpPr>
        <p:spPr>
          <a:xfrm>
            <a:off x="977900" y="1567160"/>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stated</a:t>
            </a:r>
            <a:endParaRPr lang="en-US" sz="1400" dirty="0"/>
          </a:p>
        </p:txBody>
      </p:sp>
      <p:sp>
        <p:nvSpPr>
          <p:cNvPr id="5" name="Text 3"/>
          <p:cNvSpPr/>
          <p:nvPr/>
        </p:nvSpPr>
        <p:spPr>
          <a:xfrm>
            <a:off x="977900" y="1841450"/>
            <a:ext cx="349262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an entry q = v the state carries</a:t>
            </a:r>
            <a:endParaRPr lang="en-US" sz="1250" dirty="0"/>
          </a:p>
        </p:txBody>
      </p:sp>
      <p:sp>
        <p:nvSpPr>
          <p:cNvPr id="6" name="Shape 4"/>
          <p:cNvSpPr/>
          <p:nvPr/>
        </p:nvSpPr>
        <p:spPr>
          <a:xfrm>
            <a:off x="831850" y="2216100"/>
            <a:ext cx="0" cy="718790"/>
          </a:xfrm>
          <a:prstGeom prst="line">
            <a:avLst/>
          </a:prstGeom>
          <a:noFill/>
          <a:ln w="38100">
            <a:solidFill>
              <a:srgbClr val="C98A2B"/>
            </a:solidFill>
            <a:prstDash val="solid"/>
          </a:ln>
        </p:spPr>
      </p:sp>
      <p:sp>
        <p:nvSpPr>
          <p:cNvPr id="7" name="Text 5"/>
          <p:cNvSpPr/>
          <p:nvPr/>
        </p:nvSpPr>
        <p:spPr>
          <a:xfrm>
            <a:off x="977900" y="2216100"/>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blank</a:t>
            </a:r>
            <a:endParaRPr lang="en-US" sz="1400" dirty="0"/>
          </a:p>
        </p:txBody>
      </p:sp>
      <p:sp>
        <p:nvSpPr>
          <p:cNvPr id="8" name="Text 6"/>
          <p:cNvSpPr/>
          <p:nvPr/>
        </p:nvSpPr>
        <p:spPr>
          <a:xfrm>
            <a:off x="977900" y="2490391"/>
            <a:ext cx="349262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unresolved: no value stated, not necessarily every value open</a:t>
            </a:r>
            <a:endParaRPr lang="en-US" sz="1250" dirty="0"/>
          </a:p>
        </p:txBody>
      </p:sp>
      <p:sp>
        <p:nvSpPr>
          <p:cNvPr id="9" name="Shape 7"/>
          <p:cNvSpPr/>
          <p:nvPr/>
        </p:nvSpPr>
        <p:spPr>
          <a:xfrm>
            <a:off x="831850" y="3087291"/>
            <a:ext cx="0" cy="496540"/>
          </a:xfrm>
          <a:prstGeom prst="line">
            <a:avLst/>
          </a:prstGeom>
          <a:noFill/>
          <a:ln w="38100">
            <a:solidFill>
              <a:srgbClr val="1E2A2F"/>
            </a:solidFill>
            <a:prstDash val="solid"/>
          </a:ln>
        </p:spPr>
      </p:sp>
      <p:sp>
        <p:nvSpPr>
          <p:cNvPr id="10" name="Text 8"/>
          <p:cNvSpPr/>
          <p:nvPr/>
        </p:nvSpPr>
        <p:spPr>
          <a:xfrm>
            <a:off x="977900" y="3087291"/>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closed</a:t>
            </a:r>
            <a:endParaRPr lang="en-US" sz="1400" dirty="0"/>
          </a:p>
        </p:txBody>
      </p:sp>
      <p:sp>
        <p:nvSpPr>
          <p:cNvPr id="11" name="Text 9"/>
          <p:cNvSpPr/>
          <p:nvPr/>
        </p:nvSpPr>
        <p:spPr>
          <a:xfrm>
            <a:off x="977900" y="3361581"/>
            <a:ext cx="349262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contains its own consequences under the laws</a:t>
            </a:r>
            <a:endParaRPr lang="en-US" sz="1250" dirty="0"/>
          </a:p>
        </p:txBody>
      </p:sp>
      <p:sp>
        <p:nvSpPr>
          <p:cNvPr id="12" name="Shape 10"/>
          <p:cNvSpPr/>
          <p:nvPr/>
        </p:nvSpPr>
        <p:spPr>
          <a:xfrm>
            <a:off x="831850" y="3736231"/>
            <a:ext cx="0" cy="718790"/>
          </a:xfrm>
          <a:prstGeom prst="line">
            <a:avLst/>
          </a:prstGeom>
          <a:noFill/>
          <a:ln w="38100">
            <a:solidFill>
              <a:srgbClr val="1E2A2F"/>
            </a:solidFill>
            <a:prstDash val="solid"/>
          </a:ln>
        </p:spPr>
      </p:sp>
      <p:sp>
        <p:nvSpPr>
          <p:cNvPr id="13" name="Text 11"/>
          <p:cNvSpPr/>
          <p:nvPr/>
        </p:nvSpPr>
        <p:spPr>
          <a:xfrm>
            <a:off x="977900" y="3736231"/>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laws</a:t>
            </a:r>
            <a:endParaRPr lang="en-US" sz="1400" dirty="0"/>
          </a:p>
        </p:txBody>
      </p:sp>
      <p:sp>
        <p:nvSpPr>
          <p:cNvPr id="14" name="Text 12"/>
          <p:cNvSpPr/>
          <p:nvPr/>
        </p:nvSpPr>
        <p:spPr>
          <a:xfrm>
            <a:off x="977900" y="4010521"/>
            <a:ext cx="349262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constraint-layer declarations, never entries, never retracted</a:t>
            </a:r>
            <a:endParaRPr lang="en-US" sz="1250" dirty="0"/>
          </a:p>
        </p:txBody>
      </p:sp>
      <p:sp>
        <p:nvSpPr>
          <p:cNvPr id="15" name="Shape 13"/>
          <p:cNvSpPr/>
          <p:nvPr/>
        </p:nvSpPr>
        <p:spPr>
          <a:xfrm>
            <a:off x="831850" y="4607421"/>
            <a:ext cx="0" cy="718790"/>
          </a:xfrm>
          <a:prstGeom prst="line">
            <a:avLst/>
          </a:prstGeom>
          <a:noFill/>
          <a:ln w="38100">
            <a:solidFill>
              <a:srgbClr val="1E2A2F"/>
            </a:solidFill>
            <a:prstDash val="solid"/>
          </a:ln>
        </p:spPr>
      </p:sp>
      <p:sp>
        <p:nvSpPr>
          <p:cNvPr id="16" name="Text 14"/>
          <p:cNvSpPr/>
          <p:nvPr/>
        </p:nvSpPr>
        <p:spPr>
          <a:xfrm>
            <a:off x="977900" y="4607421"/>
            <a:ext cx="34926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declared support, Dep</a:t>
            </a:r>
            <a:endParaRPr lang="en-US" sz="1400" dirty="0"/>
          </a:p>
        </p:txBody>
      </p:sp>
      <p:sp>
        <p:nvSpPr>
          <p:cNvPr id="17" name="Text 15"/>
          <p:cNvSpPr/>
          <p:nvPr/>
        </p:nvSpPr>
        <p:spPr>
          <a:xfrm>
            <a:off x="977900" y="4881711"/>
            <a:ext cx="3492627"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grounds and dependents, declared; entailment is no part of it</a:t>
            </a:r>
            <a:endParaRPr lang="en-US" sz="1250" dirty="0"/>
          </a:p>
        </p:txBody>
      </p:sp>
      <p:sp>
        <p:nvSpPr>
          <p:cNvPr id="18" name="Shape 16"/>
          <p:cNvSpPr/>
          <p:nvPr/>
        </p:nvSpPr>
        <p:spPr>
          <a:xfrm>
            <a:off x="4775200" y="1516360"/>
            <a:ext cx="6604000" cy="533400"/>
          </a:xfrm>
          <a:prstGeom prst="roundRect">
            <a:avLst>
              <a:gd name="adj" fmla="val 14286"/>
            </a:avLst>
          </a:prstGeom>
          <a:solidFill>
            <a:srgbClr val="E6E1D6"/>
          </a:solidFill>
          <a:ln/>
        </p:spPr>
      </p:sp>
      <p:sp>
        <p:nvSpPr>
          <p:cNvPr id="19" name="Text 17"/>
          <p:cNvSpPr/>
          <p:nvPr/>
        </p:nvSpPr>
        <p:spPr>
          <a:xfrm>
            <a:off x="4953000" y="1605260"/>
            <a:ext cx="6409690"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2A2F"/>
                </a:solidFill>
                <a:latin typeface="IBM Plex Sans" pitchFamily="34" charset="0"/>
                <a:ea typeface="IBM Plex Sans" pitchFamily="34" charset="-122"/>
                <a:cs typeface="IBM Plex Sans" pitchFamily="34" charset="-120"/>
              </a:rPr>
              <a:t>constraint layer</a:t>
            </a:r>
            <a:r>
              <a:rPr lang="en-US" sz="1200" dirty="0">
                <a:solidFill>
                  <a:srgbClr val="1E2A2F"/>
                </a:solidFill>
                <a:latin typeface="IBM Plex Sans" pitchFamily="34" charset="0"/>
                <a:ea typeface="IBM Plex Sans" pitchFamily="34" charset="-122"/>
                <a:cs typeface="IBM Plex Sans" pitchFamily="34" charset="-120"/>
              </a:rPr>
              <a:t>   law s → y  ·  {x, s, ¬z} invalid  ·  retained through every evaluation</a:t>
            </a:r>
            <a:endParaRPr lang="en-US" sz="1200" dirty="0"/>
          </a:p>
        </p:txBody>
      </p:sp>
      <p:sp>
        <p:nvSpPr>
          <p:cNvPr id="20" name="Shape 18"/>
          <p:cNvSpPr/>
          <p:nvPr/>
        </p:nvSpPr>
        <p:spPr>
          <a:xfrm>
            <a:off x="4784725" y="2287885"/>
            <a:ext cx="4044950" cy="2774950"/>
          </a:xfrm>
          <a:prstGeom prst="roundRect">
            <a:avLst>
              <a:gd name="adj" fmla="val 3318"/>
            </a:avLst>
          </a:prstGeom>
          <a:solidFill>
            <a:srgbClr val="FBFAF6"/>
          </a:solidFill>
          <a:ln w="19050">
            <a:solidFill>
              <a:srgbClr val="1E2A2F"/>
            </a:solidFill>
            <a:prstDash val="solid"/>
          </a:ln>
        </p:spPr>
      </p:sp>
      <p:sp>
        <p:nvSpPr>
          <p:cNvPr id="21" name="Text 19"/>
          <p:cNvSpPr/>
          <p:nvPr/>
        </p:nvSpPr>
        <p:spPr>
          <a:xfrm>
            <a:off x="4953000" y="2392660"/>
            <a:ext cx="26162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4A5568"/>
                </a:solidFill>
                <a:latin typeface="IBM Plex Sans" pitchFamily="34" charset="0"/>
                <a:ea typeface="IBM Plex Sans" pitchFamily="34" charset="-122"/>
                <a:cs typeface="IBM Plex Sans" pitchFamily="34" charset="-120"/>
              </a:rPr>
              <a:t>INFORMATION STATE A</a:t>
            </a:r>
            <a:endParaRPr lang="en-US" sz="1100" dirty="0"/>
          </a:p>
        </p:txBody>
      </p:sp>
      <p:sp>
        <p:nvSpPr>
          <p:cNvPr id="22" name="Text 20"/>
          <p:cNvSpPr/>
          <p:nvPr/>
        </p:nvSpPr>
        <p:spPr>
          <a:xfrm>
            <a:off x="5029200" y="2760960"/>
            <a:ext cx="1524000" cy="406400"/>
          </a:xfrm>
          <a:prstGeom prst="roundRect">
            <a:avLst>
              <a:gd name="adj" fmla="val 15625"/>
            </a:avLst>
          </a:prstGeom>
          <a:solidFill>
            <a:srgbClr val="1F7A78"/>
          </a:solidFill>
          <a:ln/>
        </p:spPr>
        <p:txBody>
          <a:bodyPr wrap="square" lIns="0" tIns="0" rIns="0" bIns="0" rtlCol="0" anchor="ctr">
            <a:normAutofit/>
          </a:bodyPr>
          <a:lstStyle/>
          <a:p>
            <a:pPr algn="ctr"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s  stated</a:t>
            </a:r>
            <a:endParaRPr lang="en-US" sz="1400" dirty="0"/>
          </a:p>
        </p:txBody>
      </p:sp>
      <p:pic>
        <p:nvPicPr>
          <p:cNvPr id="23" name="Image 0" descr="connector">    </p:cNvPr>
          <p:cNvPicPr>
            <a:picLocks noChangeAspect="1"/>
          </p:cNvPicPr>
          <p:nvPr/>
        </p:nvPicPr>
        <p:blipFill>
          <a:blip r:embed="rId1"/>
          <a:srcRect l="0" r="0" t="0" b="0"/>
          <a:stretch/>
        </p:blipFill>
        <p:spPr>
          <a:xfrm>
            <a:off x="6502400" y="2913360"/>
            <a:ext cx="609600" cy="101600"/>
          </a:xfrm>
          <a:prstGeom prst="rect">
            <a:avLst/>
          </a:prstGeom>
        </p:spPr>
      </p:pic>
      <p:sp>
        <p:nvSpPr>
          <p:cNvPr id="24" name="Text 21"/>
          <p:cNvSpPr/>
          <p:nvPr/>
        </p:nvSpPr>
        <p:spPr>
          <a:xfrm>
            <a:off x="6502400" y="2595860"/>
            <a:ext cx="68580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ground</a:t>
            </a:r>
            <a:endParaRPr lang="en-US" sz="1100" dirty="0"/>
          </a:p>
        </p:txBody>
      </p:sp>
      <p:sp>
        <p:nvSpPr>
          <p:cNvPr id="25" name="Text 22"/>
          <p:cNvSpPr/>
          <p:nvPr/>
        </p:nvSpPr>
        <p:spPr>
          <a:xfrm>
            <a:off x="7061200" y="2760960"/>
            <a:ext cx="1524000" cy="406400"/>
          </a:xfrm>
          <a:prstGeom prst="roundRect">
            <a:avLst>
              <a:gd name="adj" fmla="val 15625"/>
            </a:avLst>
          </a:prstGeom>
          <a:solidFill>
            <a:srgbClr val="1F7A78"/>
          </a:solidFill>
          <a:ln/>
        </p:spPr>
        <p:txBody>
          <a:bodyPr wrap="square" lIns="0" tIns="0" rIns="0" bIns="0" rtlCol="0" anchor="ctr">
            <a:normAutofit/>
          </a:bodyPr>
          <a:lstStyle/>
          <a:p>
            <a:pPr algn="ctr" indent="0" marL="0">
              <a:lnSpc>
                <a:spcPts val="1960"/>
              </a:lnSpc>
              <a:buNone/>
            </a:pPr>
            <a:r>
              <a:rPr lang="en-US" sz="1400" b="1" dirty="0">
                <a:solidFill>
                  <a:srgbClr val="F5F2EA"/>
                </a:solidFill>
                <a:latin typeface="IBM Plex Sans" pitchFamily="34" charset="0"/>
                <a:ea typeface="IBM Plex Sans" pitchFamily="34" charset="-122"/>
                <a:cs typeface="IBM Plex Sans" pitchFamily="34" charset="-120"/>
              </a:rPr>
              <a:t>y  forced in</a:t>
            </a:r>
            <a:endParaRPr lang="en-US" sz="1400" dirty="0"/>
          </a:p>
        </p:txBody>
      </p:sp>
      <p:sp>
        <p:nvSpPr>
          <p:cNvPr id="26" name="Text 23"/>
          <p:cNvSpPr/>
          <p:nvPr/>
        </p:nvSpPr>
        <p:spPr>
          <a:xfrm>
            <a:off x="5038725" y="3430885"/>
            <a:ext cx="1504950" cy="387350"/>
          </a:xfrm>
          <a:prstGeom prst="roundRect">
            <a:avLst>
              <a:gd name="adj" fmla="val 13934"/>
            </a:avLst>
          </a:prstGeom>
          <a:solidFill>
            <a:srgbClr val="FBFAF6"/>
          </a:solidFill>
          <a:ln w="19050">
            <a:solidFill>
              <a:srgbClr val="C98A2B"/>
            </a:solidFill>
            <a:prstDash val="dash"/>
          </a:ln>
        </p:spPr>
        <p:txBody>
          <a:bodyPr wrap="square" lIns="0" tIns="0" rIns="0" bIns="0" rtlCol="0" anchor="ctr">
            <a:normAutofit/>
          </a:bodyPr>
          <a:lstStyle/>
          <a:p>
            <a:pPr algn="ctr" indent="0" marL="0">
              <a:lnSpc>
                <a:spcPts val="1960"/>
              </a:lnSpc>
              <a:buNone/>
            </a:pPr>
            <a:r>
              <a:rPr lang="en-US" sz="1400" b="1" dirty="0">
                <a:solidFill>
                  <a:srgbClr val="C98A2B"/>
                </a:solidFill>
                <a:latin typeface="IBM Plex Sans" pitchFamily="34" charset="0"/>
                <a:ea typeface="IBM Plex Sans" pitchFamily="34" charset="-122"/>
                <a:cs typeface="IBM Plex Sans" pitchFamily="34" charset="-120"/>
              </a:rPr>
              <a:t>x  blank</a:t>
            </a:r>
            <a:endParaRPr lang="en-US" sz="1400" dirty="0"/>
          </a:p>
        </p:txBody>
      </p:sp>
      <p:sp>
        <p:nvSpPr>
          <p:cNvPr id="27" name="Text 24"/>
          <p:cNvSpPr/>
          <p:nvPr/>
        </p:nvSpPr>
        <p:spPr>
          <a:xfrm>
            <a:off x="7070725" y="3430885"/>
            <a:ext cx="1504950" cy="387350"/>
          </a:xfrm>
          <a:prstGeom prst="roundRect">
            <a:avLst>
              <a:gd name="adj" fmla="val 13934"/>
            </a:avLst>
          </a:prstGeom>
          <a:solidFill>
            <a:srgbClr val="FBFAF6"/>
          </a:solidFill>
          <a:ln w="19050">
            <a:solidFill>
              <a:srgbClr val="C98A2B"/>
            </a:solidFill>
            <a:prstDash val="dash"/>
          </a:ln>
        </p:spPr>
        <p:txBody>
          <a:bodyPr wrap="square" lIns="0" tIns="0" rIns="0" bIns="0" rtlCol="0" anchor="ctr">
            <a:normAutofit/>
          </a:bodyPr>
          <a:lstStyle/>
          <a:p>
            <a:pPr algn="ctr" indent="0" marL="0">
              <a:lnSpc>
                <a:spcPts val="1960"/>
              </a:lnSpc>
              <a:buNone/>
            </a:pPr>
            <a:r>
              <a:rPr lang="en-US" sz="1400" b="1" dirty="0">
                <a:solidFill>
                  <a:srgbClr val="C98A2B"/>
                </a:solidFill>
                <a:latin typeface="IBM Plex Sans" pitchFamily="34" charset="0"/>
                <a:ea typeface="IBM Plex Sans" pitchFamily="34" charset="-122"/>
                <a:cs typeface="IBM Plex Sans" pitchFamily="34" charset="-120"/>
              </a:rPr>
              <a:t>z  blank</a:t>
            </a:r>
            <a:endParaRPr lang="en-US" sz="1400" dirty="0"/>
          </a:p>
        </p:txBody>
      </p:sp>
      <p:sp>
        <p:nvSpPr>
          <p:cNvPr id="28" name="Text 25"/>
          <p:cNvSpPr/>
          <p:nvPr/>
        </p:nvSpPr>
        <p:spPr>
          <a:xfrm>
            <a:off x="5029200" y="4056360"/>
            <a:ext cx="366268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y is in the closure because s is stated and s → y is a law; s is y's sole declared ground. Blanking y therefore has to clear s, or closure puts y straight back.</a:t>
            </a:r>
            <a:endParaRPr lang="en-US" sz="1200" dirty="0"/>
          </a:p>
        </p:txBody>
      </p:sp>
      <p:sp>
        <p:nvSpPr>
          <p:cNvPr id="29" name="Shape 26"/>
          <p:cNvSpPr/>
          <p:nvPr/>
        </p:nvSpPr>
        <p:spPr>
          <a:xfrm>
            <a:off x="9093200" y="2278360"/>
            <a:ext cx="2286000" cy="2794000"/>
          </a:xfrm>
          <a:prstGeom prst="roundRect">
            <a:avLst>
              <a:gd name="adj" fmla="val 4444"/>
            </a:avLst>
          </a:prstGeom>
          <a:solidFill>
            <a:srgbClr val="1E2A2F"/>
          </a:solidFill>
          <a:ln/>
        </p:spPr>
      </p:sp>
      <p:sp>
        <p:nvSpPr>
          <p:cNvPr id="30" name="Text 27"/>
          <p:cNvSpPr/>
          <p:nvPr/>
        </p:nvSpPr>
        <p:spPr>
          <a:xfrm>
            <a:off x="9271000" y="2443460"/>
            <a:ext cx="1988312"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8A2B"/>
                </a:solidFill>
                <a:latin typeface="IBM Plex Sans" pitchFamily="34" charset="0"/>
                <a:ea typeface="IBM Plex Sans" pitchFamily="34" charset="-122"/>
                <a:cs typeface="IBM Plex Sans" pitchFamily="34" charset="-120"/>
              </a:rPr>
              <a:t>INDEXED, NOT MENTAL</a:t>
            </a:r>
            <a:endParaRPr lang="en-US" sz="1100" dirty="0"/>
          </a:p>
        </p:txBody>
      </p:sp>
      <p:sp>
        <p:nvSpPr>
          <p:cNvPr id="31" name="Text 28"/>
          <p:cNvSpPr/>
          <p:nvPr/>
        </p:nvSpPr>
        <p:spPr>
          <a:xfrm>
            <a:off x="9271000" y="2760960"/>
            <a:ext cx="1988312" cy="1739900"/>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5F2EA"/>
                </a:solidFill>
                <a:latin typeface="IBM Plex Sans" pitchFamily="34" charset="0"/>
                <a:ea typeface="IBM Plex Sans" pitchFamily="34" charset="-122"/>
                <a:cs typeface="IBM Plex Sans" pitchFamily="34" charset="-120"/>
              </a:rPr>
              <a:t>The index is any record-bearing structure, an instrument as readily as a person. Verdicts are facts about states, so differently informed evaluators disagree without contradiction.</a:t>
            </a:r>
            <a:endParaRPr lang="en-US" sz="1250" dirty="0"/>
          </a:p>
        </p:txBody>
      </p:sp>
      <p:sp>
        <p:nvSpPr>
          <p:cNvPr id="32" name="Text 29"/>
          <p:cNvSpPr/>
          <p:nvPr/>
        </p:nvSpPr>
        <p:spPr>
          <a:xfrm>
            <a:off x="9271000" y="4056360"/>
            <a:ext cx="1988312" cy="882650"/>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C9D6D3"/>
                </a:solidFill>
                <a:latin typeface="IBM Plex Sans" pitchFamily="34" charset="0"/>
                <a:ea typeface="IBM Plex Sans" pitchFamily="34" charset="-122"/>
                <a:cs typeface="IBM Plex Sans" pitchFamily="34" charset="-120"/>
              </a:rPr>
              <a:t>Blankness is tense-free: an unlearned past is as open as an unsettled future.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1D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Reopen, restate, re-prune</a:t>
            </a:r>
            <a:endParaRPr lang="en-US" sz="3400" dirty="0"/>
          </a:p>
        </p:txBody>
      </p:sp>
      <p:sp>
        <p:nvSpPr>
          <p:cNvPr id="3" name="Shape 1"/>
          <p:cNvSpPr/>
          <p:nvPr/>
        </p:nvSpPr>
        <p:spPr>
          <a:xfrm>
            <a:off x="812800" y="1642219"/>
            <a:ext cx="1905000" cy="1270000"/>
          </a:xfrm>
          <a:prstGeom prst="roundRect">
            <a:avLst>
              <a:gd name="adj" fmla="val 7000"/>
            </a:avLst>
          </a:prstGeom>
          <a:solidFill>
            <a:srgbClr val="1E2A2F"/>
          </a:solidFill>
          <a:ln/>
        </p:spPr>
      </p:sp>
      <p:sp>
        <p:nvSpPr>
          <p:cNvPr id="4" name="Text 2"/>
          <p:cNvSpPr/>
          <p:nvPr/>
        </p:nvSpPr>
        <p:spPr>
          <a:xfrm>
            <a:off x="965200" y="1883569"/>
            <a:ext cx="16510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D6D3"/>
                </a:solidFill>
                <a:latin typeface="IBM Plex Sans" pitchFamily="34" charset="0"/>
                <a:ea typeface="IBM Plex Sans" pitchFamily="34" charset="-122"/>
                <a:cs typeface="IBM Plex Sans" pitchFamily="34" charset="-120"/>
              </a:rPr>
              <a:t>STATE</a:t>
            </a:r>
            <a:endParaRPr lang="en-US" sz="1100" dirty="0"/>
          </a:p>
        </p:txBody>
      </p:sp>
      <p:sp>
        <p:nvSpPr>
          <p:cNvPr id="5" name="Text 3"/>
          <p:cNvSpPr/>
          <p:nvPr/>
        </p:nvSpPr>
        <p:spPr>
          <a:xfrm>
            <a:off x="965200" y="2117229"/>
            <a:ext cx="16510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5F2EA"/>
                </a:solidFill>
                <a:latin typeface="IBM Plex Sans" pitchFamily="34" charset="0"/>
                <a:ea typeface="IBM Plex Sans" pitchFamily="34" charset="-122"/>
                <a:cs typeface="IBM Plex Sans" pitchFamily="34" charset="-120"/>
              </a:rPr>
              <a:t>A</a:t>
            </a:r>
            <a:endParaRPr lang="en-US" sz="1700" dirty="0"/>
          </a:p>
        </p:txBody>
      </p:sp>
      <p:sp>
        <p:nvSpPr>
          <p:cNvPr id="6" name="Text 4"/>
          <p:cNvSpPr/>
          <p:nvPr/>
        </p:nvSpPr>
        <p:spPr>
          <a:xfrm>
            <a:off x="965200" y="2457549"/>
            <a:ext cx="165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D3"/>
                </a:solidFill>
                <a:latin typeface="IBM Plex Sans" pitchFamily="34" charset="0"/>
                <a:ea typeface="IBM Plex Sans" pitchFamily="34" charset="-122"/>
                <a:cs typeface="IBM Plex Sans" pitchFamily="34" charset="-120"/>
              </a:rPr>
              <a:t>closed, partial</a:t>
            </a:r>
            <a:endParaRPr lang="en-US" sz="1200" dirty="0"/>
          </a:p>
        </p:txBody>
      </p:sp>
      <p:sp>
        <p:nvSpPr>
          <p:cNvPr id="7" name="Text 5"/>
          <p:cNvSpPr/>
          <p:nvPr/>
        </p:nvSpPr>
        <p:spPr>
          <a:xfrm>
            <a:off x="2933918" y="1541760"/>
            <a:ext cx="545663"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9E3B2F"/>
                </a:solidFill>
                <a:latin typeface="IBM Plex Sans" pitchFamily="34" charset="0"/>
                <a:ea typeface="IBM Plex Sans" pitchFamily="34" charset="-122"/>
                <a:cs typeface="IBM Plex Sans" pitchFamily="34" charset="-120"/>
              </a:rPr>
              <a:t>reopen</a:t>
            </a:r>
            <a:endParaRPr lang="en-US" sz="1100" dirty="0"/>
          </a:p>
        </p:txBody>
      </p:sp>
      <p:sp>
        <p:nvSpPr>
          <p:cNvPr id="8" name="Text 6"/>
          <p:cNvSpPr/>
          <p:nvPr/>
        </p:nvSpPr>
        <p:spPr>
          <a:xfrm>
            <a:off x="3039110" y="1762720"/>
            <a:ext cx="335280" cy="41652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9E3B2F"/>
                </a:solidFill>
                <a:latin typeface="IBM Plex Sans" pitchFamily="34" charset="0"/>
                <a:ea typeface="IBM Plex Sans" pitchFamily="34" charset="-122"/>
                <a:cs typeface="IBM Plex Sans" pitchFamily="34" charset="-120"/>
              </a:rPr>
              <a:t>→</a:t>
            </a:r>
            <a:endParaRPr lang="en-US" sz="2200" dirty="0"/>
          </a:p>
        </p:txBody>
      </p:sp>
      <p:sp>
        <p:nvSpPr>
          <p:cNvPr id="9" name="Text 7"/>
          <p:cNvSpPr/>
          <p:nvPr/>
        </p:nvSpPr>
        <p:spPr>
          <a:xfrm>
            <a:off x="2743200" y="2179241"/>
            <a:ext cx="927100" cy="858838"/>
          </a:xfrm>
          <a:prstGeom prst="rect">
            <a:avLst/>
          </a:prstGeom>
          <a:noFill/>
          <a:ln/>
        </p:spPr>
        <p:txBody>
          <a:bodyPr wrap="square" lIns="0" tIns="0" rIns="0" bIns="0" rtlCol="0" anchor="t">
            <a:normAutofit/>
          </a:bodyPr>
          <a:lstStyle/>
          <a:p>
            <a:pPr algn="ctr" indent="0" marL="0">
              <a:lnSpc>
                <a:spcPts val="1313"/>
              </a:lnSpc>
              <a:buNone/>
            </a:pPr>
            <a:r>
              <a:rPr lang="en-US" sz="1050" dirty="0">
                <a:solidFill>
                  <a:srgbClr val="4A5568"/>
                </a:solidFill>
                <a:latin typeface="IBM Plex Sans" pitchFamily="34" charset="0"/>
                <a:ea typeface="IBM Plex Sans" pitchFamily="34" charset="-122"/>
                <a:cs typeface="IBM Plex Sans" pitchFamily="34" charset="-120"/>
              </a:rPr>
              <a:t>clear the target's grounds; protect the rest</a:t>
            </a:r>
            <a:endParaRPr lang="en-US" sz="1050" dirty="0"/>
          </a:p>
        </p:txBody>
      </p:sp>
      <p:sp>
        <p:nvSpPr>
          <p:cNvPr id="10" name="Shape 8"/>
          <p:cNvSpPr/>
          <p:nvPr/>
        </p:nvSpPr>
        <p:spPr>
          <a:xfrm>
            <a:off x="3705225" y="1651744"/>
            <a:ext cx="1885950" cy="1250950"/>
          </a:xfrm>
          <a:prstGeom prst="roundRect">
            <a:avLst>
              <a:gd name="adj" fmla="val 6345"/>
            </a:avLst>
          </a:prstGeom>
          <a:solidFill>
            <a:srgbClr val="FBFAF6"/>
          </a:solidFill>
          <a:ln w="19050">
            <a:solidFill>
              <a:srgbClr val="C98A2B"/>
            </a:solidFill>
            <a:prstDash val="dash"/>
          </a:ln>
        </p:spPr>
      </p:sp>
      <p:sp>
        <p:nvSpPr>
          <p:cNvPr id="11" name="Text 9"/>
          <p:cNvSpPr/>
          <p:nvPr/>
        </p:nvSpPr>
        <p:spPr>
          <a:xfrm>
            <a:off x="3867150" y="1813669"/>
            <a:ext cx="1612900" cy="205383"/>
          </a:xfrm>
          <a:prstGeom prst="rect">
            <a:avLst/>
          </a:prstGeom>
          <a:noFill/>
          <a:ln/>
        </p:spPr>
        <p:txBody>
          <a:bodyPr wrap="square" lIns="0" tIns="0" rIns="0" bIns="0" rtlCol="0" anchor="t">
            <a:normAutofit/>
          </a:bodyPr>
          <a:lstStyle/>
          <a:p>
            <a:pPr algn="l" indent="0" marL="0">
              <a:lnSpc>
                <a:spcPts val="1425"/>
              </a:lnSpc>
              <a:buNone/>
            </a:pPr>
            <a:r>
              <a:rPr lang="en-US" sz="1018" b="1" spc="100" kern="0" dirty="0">
                <a:solidFill>
                  <a:srgbClr val="C98A2B"/>
                </a:solidFill>
                <a:latin typeface="IBM Plex Sans" pitchFamily="34" charset="0"/>
                <a:ea typeface="IBM Plex Sans" pitchFamily="34" charset="-122"/>
                <a:cs typeface="IBM Plex Sans" pitchFamily="34" charset="-120"/>
              </a:rPr>
              <a:t>INTERMEDIATE</a:t>
            </a:r>
            <a:endParaRPr lang="en-US" sz="1018" dirty="0"/>
          </a:p>
        </p:txBody>
      </p:sp>
      <p:sp>
        <p:nvSpPr>
          <p:cNvPr id="12" name="Text 10"/>
          <p:cNvSpPr/>
          <p:nvPr/>
        </p:nvSpPr>
        <p:spPr>
          <a:xfrm>
            <a:off x="3867150" y="2031752"/>
            <a:ext cx="1612900" cy="303609"/>
          </a:xfrm>
          <a:prstGeom prst="rect">
            <a:avLst/>
          </a:prstGeom>
          <a:noFill/>
          <a:ln/>
        </p:spPr>
        <p:txBody>
          <a:bodyPr wrap="square" lIns="0" tIns="0" rIns="0" bIns="0" rtlCol="0" anchor="t">
            <a:normAutofit/>
          </a:bodyPr>
          <a:lstStyle/>
          <a:p>
            <a:pPr algn="l" indent="0" marL="0">
              <a:lnSpc>
                <a:spcPts val="2224"/>
              </a:lnSpc>
              <a:buNone/>
            </a:pPr>
            <a:r>
              <a:rPr lang="en-US" sz="1588" b="1" dirty="0">
                <a:solidFill>
                  <a:srgbClr val="1E2A2F"/>
                </a:solidFill>
                <a:latin typeface="IBM Plex Sans" pitchFamily="34" charset="0"/>
                <a:ea typeface="IBM Plex Sans" pitchFamily="34" charset="-122"/>
                <a:cs typeface="IBM Plex Sans" pitchFamily="34" charset="-120"/>
              </a:rPr>
              <a:t>B ∈ A ⊖</a:t>
            </a:r>
            <a:r>
              <a:rPr lang="en-US" sz="1588" b="1" i="1" dirty="0">
                <a:solidFill>
                  <a:srgbClr val="1E2A2F"/>
                </a:solidFill>
                <a:latin typeface="IBM Plex Sans" pitchFamily="34" charset="0"/>
                <a:ea typeface="IBM Plex Sans" pitchFamily="34" charset="-122"/>
                <a:cs typeface="IBM Plex Sans" pitchFamily="34" charset="-120"/>
              </a:rPr>
              <a:t>σ</a:t>
            </a:r>
            <a:r>
              <a:rPr lang="en-US" sz="1588" b="1" dirty="0">
                <a:solidFill>
                  <a:srgbClr val="1E2A2F"/>
                </a:solidFill>
                <a:latin typeface="IBM Plex Sans" pitchFamily="34" charset="0"/>
                <a:ea typeface="IBM Plex Sans" pitchFamily="34" charset="-122"/>
                <a:cs typeface="IBM Plex Sans" pitchFamily="34" charset="-120"/>
              </a:rPr>
              <a:t> Qₓ</a:t>
            </a:r>
            <a:endParaRPr lang="en-US" sz="1588" dirty="0"/>
          </a:p>
        </p:txBody>
      </p:sp>
      <p:sp>
        <p:nvSpPr>
          <p:cNvPr id="13" name="Text 11"/>
          <p:cNvSpPr/>
          <p:nvPr/>
        </p:nvSpPr>
        <p:spPr>
          <a:xfrm>
            <a:off x="3867150" y="2348061"/>
            <a:ext cx="1612900" cy="418108"/>
          </a:xfrm>
          <a:prstGeom prst="rect">
            <a:avLst/>
          </a:prstGeom>
          <a:noFill/>
          <a:ln/>
        </p:spPr>
        <p:txBody>
          <a:bodyPr wrap="square" lIns="0" tIns="0" rIns="0" bIns="0" rtlCol="0" anchor="t">
            <a:normAutofit/>
          </a:bodyPr>
          <a:lstStyle/>
          <a:p>
            <a:pPr algn="l" indent="0" marL="0">
              <a:lnSpc>
                <a:spcPts val="1559"/>
              </a:lnSpc>
              <a:buNone/>
            </a:pPr>
            <a:r>
              <a:rPr lang="en-US" sz="1114" dirty="0">
                <a:solidFill>
                  <a:srgbClr val="4A5568"/>
                </a:solidFill>
                <a:latin typeface="IBM Plex Sans" pitchFamily="34" charset="0"/>
                <a:ea typeface="IBM Plex Sans" pitchFamily="34" charset="-122"/>
                <a:cs typeface="IBM Plex Sans" pitchFamily="34" charset="-120"/>
              </a:rPr>
              <a:t>maximal restriction blank on Qₓ</a:t>
            </a:r>
            <a:endParaRPr lang="en-US" sz="1114" dirty="0"/>
          </a:p>
        </p:txBody>
      </p:sp>
      <p:sp>
        <p:nvSpPr>
          <p:cNvPr id="14" name="Text 12"/>
          <p:cNvSpPr/>
          <p:nvPr/>
        </p:nvSpPr>
        <p:spPr>
          <a:xfrm>
            <a:off x="5813604" y="1875135"/>
            <a:ext cx="552093"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F7A78"/>
                </a:solidFill>
                <a:latin typeface="IBM Plex Sans" pitchFamily="34" charset="0"/>
                <a:ea typeface="IBM Plex Sans" pitchFamily="34" charset="-122"/>
                <a:cs typeface="IBM Plex Sans" pitchFamily="34" charset="-120"/>
              </a:rPr>
              <a:t>restate</a:t>
            </a:r>
            <a:endParaRPr lang="en-US" sz="1100" dirty="0"/>
          </a:p>
        </p:txBody>
      </p:sp>
      <p:sp>
        <p:nvSpPr>
          <p:cNvPr id="15" name="Text 13"/>
          <p:cNvSpPr/>
          <p:nvPr/>
        </p:nvSpPr>
        <p:spPr>
          <a:xfrm>
            <a:off x="5922010" y="2096095"/>
            <a:ext cx="335280" cy="41652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F7A78"/>
                </a:solidFill>
                <a:latin typeface="IBM Plex Sans" pitchFamily="34" charset="0"/>
                <a:ea typeface="IBM Plex Sans" pitchFamily="34" charset="-122"/>
                <a:cs typeface="IBM Plex Sans" pitchFamily="34" charset="-120"/>
              </a:rPr>
              <a:t>→</a:t>
            </a:r>
            <a:endParaRPr lang="en-US" sz="2200" dirty="0"/>
          </a:p>
        </p:txBody>
      </p:sp>
      <p:sp>
        <p:nvSpPr>
          <p:cNvPr id="16" name="Text 14"/>
          <p:cNvSpPr/>
          <p:nvPr/>
        </p:nvSpPr>
        <p:spPr>
          <a:xfrm>
            <a:off x="5649893" y="2512616"/>
            <a:ext cx="879515" cy="192088"/>
          </a:xfrm>
          <a:prstGeom prst="rect">
            <a:avLst/>
          </a:prstGeom>
          <a:noFill/>
          <a:ln/>
        </p:spPr>
        <p:txBody>
          <a:bodyPr wrap="square" lIns="0" tIns="0" rIns="0" bIns="0" rtlCol="0" anchor="t">
            <a:normAutofit/>
          </a:bodyPr>
          <a:lstStyle/>
          <a:p>
            <a:pPr algn="ctr" indent="0" marL="0">
              <a:lnSpc>
                <a:spcPts val="1313"/>
              </a:lnSpc>
              <a:buNone/>
            </a:pPr>
            <a:r>
              <a:rPr lang="en-US" sz="1050" dirty="0">
                <a:solidFill>
                  <a:srgbClr val="4A5568"/>
                </a:solidFill>
                <a:latin typeface="IBM Plex Sans" pitchFamily="34" charset="0"/>
                <a:ea typeface="IBM Plex Sans" pitchFamily="34" charset="-122"/>
                <a:cs typeface="IBM Plex Sans" pitchFamily="34" charset="-120"/>
              </a:rPr>
              <a:t>assert qₓ = x</a:t>
            </a:r>
            <a:endParaRPr lang="en-US" sz="1050" dirty="0"/>
          </a:p>
        </p:txBody>
      </p:sp>
      <p:sp>
        <p:nvSpPr>
          <p:cNvPr id="17" name="Shape 15"/>
          <p:cNvSpPr/>
          <p:nvPr/>
        </p:nvSpPr>
        <p:spPr>
          <a:xfrm>
            <a:off x="6588125" y="1651744"/>
            <a:ext cx="1885950" cy="1250950"/>
          </a:xfrm>
          <a:prstGeom prst="roundRect">
            <a:avLst>
              <a:gd name="adj" fmla="val 6345"/>
            </a:avLst>
          </a:prstGeom>
          <a:solidFill>
            <a:srgbClr val="FBFAF6"/>
          </a:solidFill>
          <a:ln w="19050">
            <a:solidFill>
              <a:srgbClr val="1F7A78"/>
            </a:solidFill>
            <a:prstDash val="solid"/>
          </a:ln>
        </p:spPr>
      </p:sp>
      <p:sp>
        <p:nvSpPr>
          <p:cNvPr id="18" name="Text 16"/>
          <p:cNvSpPr/>
          <p:nvPr/>
        </p:nvSpPr>
        <p:spPr>
          <a:xfrm>
            <a:off x="6750050" y="1883569"/>
            <a:ext cx="16129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F7A78"/>
                </a:solidFill>
                <a:latin typeface="IBM Plex Sans" pitchFamily="34" charset="0"/>
                <a:ea typeface="IBM Plex Sans" pitchFamily="34" charset="-122"/>
                <a:cs typeface="IBM Plex Sans" pitchFamily="34" charset="-120"/>
              </a:rPr>
              <a:t>RESTATED</a:t>
            </a:r>
            <a:endParaRPr lang="en-US" sz="1100" dirty="0"/>
          </a:p>
        </p:txBody>
      </p:sp>
      <p:sp>
        <p:nvSpPr>
          <p:cNvPr id="19" name="Text 17"/>
          <p:cNvSpPr/>
          <p:nvPr/>
        </p:nvSpPr>
        <p:spPr>
          <a:xfrm>
            <a:off x="6750050" y="2117229"/>
            <a:ext cx="161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2A2F"/>
                </a:solidFill>
                <a:latin typeface="IBM Plex Sans" pitchFamily="34" charset="0"/>
                <a:ea typeface="IBM Plex Sans" pitchFamily="34" charset="-122"/>
                <a:cs typeface="IBM Plex Sans" pitchFamily="34" charset="-120"/>
              </a:rPr>
              <a:t>Cl(B ∪ {qₓ = x})</a:t>
            </a:r>
            <a:endParaRPr lang="en-US" sz="1700" dirty="0"/>
          </a:p>
        </p:txBody>
      </p:sp>
      <p:sp>
        <p:nvSpPr>
          <p:cNvPr id="20" name="Text 18"/>
          <p:cNvSpPr/>
          <p:nvPr/>
        </p:nvSpPr>
        <p:spPr>
          <a:xfrm>
            <a:off x="6750050" y="2457549"/>
            <a:ext cx="1612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laws still standing</a:t>
            </a:r>
            <a:endParaRPr lang="en-US" sz="1200" dirty="0"/>
          </a:p>
        </p:txBody>
      </p:sp>
      <p:sp>
        <p:nvSpPr>
          <p:cNvPr id="21" name="Text 19"/>
          <p:cNvSpPr/>
          <p:nvPr/>
        </p:nvSpPr>
        <p:spPr>
          <a:xfrm>
            <a:off x="8630131" y="1791791"/>
            <a:ext cx="684788"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1F7A78"/>
                </a:solidFill>
                <a:latin typeface="IBM Plex Sans" pitchFamily="34" charset="0"/>
                <a:ea typeface="IBM Plex Sans" pitchFamily="34" charset="-122"/>
                <a:cs typeface="IBM Plex Sans" pitchFamily="34" charset="-120"/>
              </a:rPr>
              <a:t>re-prune</a:t>
            </a:r>
            <a:endParaRPr lang="en-US" sz="1100" dirty="0"/>
          </a:p>
        </p:txBody>
      </p:sp>
      <p:sp>
        <p:nvSpPr>
          <p:cNvPr id="22" name="Text 20"/>
          <p:cNvSpPr/>
          <p:nvPr/>
        </p:nvSpPr>
        <p:spPr>
          <a:xfrm>
            <a:off x="8804910" y="2012752"/>
            <a:ext cx="335280" cy="416520"/>
          </a:xfrm>
          <a:prstGeom prst="rect">
            <a:avLst/>
          </a:prstGeom>
          <a:noFill/>
          <a:ln/>
        </p:spPr>
        <p:txBody>
          <a:bodyPr wrap="square" lIns="0" tIns="0" rIns="0" bIns="0" rtlCol="0" anchor="t">
            <a:normAutofit/>
          </a:bodyPr>
          <a:lstStyle/>
          <a:p>
            <a:pPr algn="ctr" indent="0" marL="0">
              <a:lnSpc>
                <a:spcPts val="3080"/>
              </a:lnSpc>
              <a:buNone/>
            </a:pPr>
            <a:r>
              <a:rPr lang="en-US" sz="2200" dirty="0">
                <a:solidFill>
                  <a:srgbClr val="1F7A78"/>
                </a:solidFill>
                <a:latin typeface="IBM Plex Sans" pitchFamily="34" charset="0"/>
                <a:ea typeface="IBM Plex Sans" pitchFamily="34" charset="-122"/>
                <a:cs typeface="IBM Plex Sans" pitchFamily="34" charset="-120"/>
              </a:rPr>
              <a:t>→</a:t>
            </a:r>
            <a:endParaRPr lang="en-US" sz="2200" dirty="0"/>
          </a:p>
        </p:txBody>
      </p:sp>
      <p:sp>
        <p:nvSpPr>
          <p:cNvPr id="23" name="Text 21"/>
          <p:cNvSpPr/>
          <p:nvPr/>
        </p:nvSpPr>
        <p:spPr>
          <a:xfrm>
            <a:off x="8509000" y="2429272"/>
            <a:ext cx="927100" cy="358775"/>
          </a:xfrm>
          <a:prstGeom prst="rect">
            <a:avLst/>
          </a:prstGeom>
          <a:noFill/>
          <a:ln/>
        </p:spPr>
        <p:txBody>
          <a:bodyPr wrap="square" lIns="0" tIns="0" rIns="0" bIns="0" rtlCol="0" anchor="t">
            <a:normAutofit/>
          </a:bodyPr>
          <a:lstStyle/>
          <a:p>
            <a:pPr algn="ctr" indent="0" marL="0">
              <a:lnSpc>
                <a:spcPts val="1313"/>
              </a:lnSpc>
              <a:buNone/>
            </a:pPr>
            <a:r>
              <a:rPr lang="en-US" sz="1050" dirty="0">
                <a:solidFill>
                  <a:srgbClr val="4A5568"/>
                </a:solidFill>
                <a:latin typeface="IBM Plex Sans" pitchFamily="34" charset="0"/>
                <a:ea typeface="IBM Plex Sans" pitchFamily="34" charset="-122"/>
                <a:cs typeface="IBM Plex Sans" pitchFamily="34" charset="-120"/>
              </a:rPr>
              <a:t>consistency eliminates</a:t>
            </a:r>
            <a:endParaRPr lang="en-US" sz="1050" dirty="0"/>
          </a:p>
        </p:txBody>
      </p:sp>
      <p:sp>
        <p:nvSpPr>
          <p:cNvPr id="24" name="Shape 22"/>
          <p:cNvSpPr/>
          <p:nvPr/>
        </p:nvSpPr>
        <p:spPr>
          <a:xfrm>
            <a:off x="9461500" y="1642219"/>
            <a:ext cx="1905000" cy="1270000"/>
          </a:xfrm>
          <a:prstGeom prst="roundRect">
            <a:avLst>
              <a:gd name="adj" fmla="val 7000"/>
            </a:avLst>
          </a:prstGeom>
          <a:solidFill>
            <a:srgbClr val="1F7A78"/>
          </a:solidFill>
          <a:ln/>
        </p:spPr>
      </p:sp>
      <p:sp>
        <p:nvSpPr>
          <p:cNvPr id="25" name="Text 23"/>
          <p:cNvSpPr/>
          <p:nvPr/>
        </p:nvSpPr>
        <p:spPr>
          <a:xfrm>
            <a:off x="9613900" y="1883569"/>
            <a:ext cx="165100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C9E3E0"/>
                </a:solidFill>
                <a:latin typeface="IBM Plex Sans" pitchFamily="34" charset="0"/>
                <a:ea typeface="IBM Plex Sans" pitchFamily="34" charset="-122"/>
                <a:cs typeface="IBM Plex Sans" pitchFamily="34" charset="-120"/>
              </a:rPr>
              <a:t>RESIDUE</a:t>
            </a:r>
            <a:endParaRPr lang="en-US" sz="1100" dirty="0"/>
          </a:p>
        </p:txBody>
      </p:sp>
      <p:sp>
        <p:nvSpPr>
          <p:cNvPr id="26" name="Text 24"/>
          <p:cNvSpPr/>
          <p:nvPr/>
        </p:nvSpPr>
        <p:spPr>
          <a:xfrm>
            <a:off x="9613900" y="2117229"/>
            <a:ext cx="16510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5F2EA"/>
                </a:solidFill>
                <a:latin typeface="IBM Plex Sans" pitchFamily="34" charset="0"/>
                <a:ea typeface="IBM Plex Sans" pitchFamily="34" charset="-122"/>
                <a:cs typeface="IBM Plex Sans" pitchFamily="34" charset="-120"/>
              </a:rPr>
              <a:t>πₓ(A) = ⋃ Rₓ(B)</a:t>
            </a:r>
            <a:endParaRPr lang="en-US" sz="1700" dirty="0"/>
          </a:p>
        </p:txBody>
      </p:sp>
      <p:sp>
        <p:nvSpPr>
          <p:cNvPr id="27" name="Text 25"/>
          <p:cNvSpPr/>
          <p:nvPr/>
        </p:nvSpPr>
        <p:spPr>
          <a:xfrm>
            <a:off x="9613900" y="2457549"/>
            <a:ext cx="1651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E3E0"/>
                </a:solidFill>
                <a:latin typeface="IBM Plex Sans" pitchFamily="34" charset="0"/>
                <a:ea typeface="IBM Plex Sans" pitchFamily="34" charset="-122"/>
                <a:cs typeface="IBM Plex Sans" pitchFamily="34" charset="-120"/>
              </a:rPr>
              <a:t>pockets, weighted</a:t>
            </a:r>
            <a:endParaRPr lang="en-US" sz="1200" dirty="0"/>
          </a:p>
        </p:txBody>
      </p:sp>
      <p:sp>
        <p:nvSpPr>
          <p:cNvPr id="28" name="Shape 26"/>
          <p:cNvSpPr/>
          <p:nvPr/>
        </p:nvSpPr>
        <p:spPr>
          <a:xfrm>
            <a:off x="812800" y="3266678"/>
            <a:ext cx="5207000" cy="1290191"/>
          </a:xfrm>
          <a:prstGeom prst="roundRect">
            <a:avLst>
              <a:gd name="adj" fmla="val 5906"/>
            </a:avLst>
          </a:prstGeom>
          <a:solidFill>
            <a:srgbClr val="FBFAF6"/>
          </a:solidFill>
          <a:ln/>
        </p:spPr>
      </p:sp>
      <p:sp>
        <p:nvSpPr>
          <p:cNvPr id="29" name="Text 27"/>
          <p:cNvSpPr/>
          <p:nvPr/>
        </p:nvSpPr>
        <p:spPr>
          <a:xfrm>
            <a:off x="977900" y="3406378"/>
            <a:ext cx="50231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ONE RESIDUE, THREE GRAINS</a:t>
            </a:r>
            <a:endParaRPr lang="en-US" sz="1200" dirty="0"/>
          </a:p>
        </p:txBody>
      </p:sp>
      <p:sp>
        <p:nvSpPr>
          <p:cNvPr id="30" name="Text 28"/>
          <p:cNvSpPr/>
          <p:nvPr/>
        </p:nvSpPr>
        <p:spPr>
          <a:xfrm>
            <a:off x="977900" y="3670498"/>
            <a:ext cx="5023104"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would</a:t>
            </a:r>
            <a:r>
              <a:rPr lang="en-US" sz="1400" dirty="0">
                <a:solidFill>
                  <a:srgbClr val="1E2A2F"/>
                </a:solidFill>
                <a:latin typeface="IBM Plex Sans" pitchFamily="34" charset="0"/>
                <a:ea typeface="IBM Plex Sans" pitchFamily="34" charset="-122"/>
                <a:cs typeface="IBM Plex Sans" pitchFamily="34" charset="-120"/>
              </a:rPr>
              <a:t>  every visible pocket affirms Y</a:t>
            </a:r>
            <a:endParaRPr lang="en-US" sz="1400" dirty="0"/>
          </a:p>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might</a:t>
            </a:r>
            <a:r>
              <a:rPr lang="en-US" sz="1400" dirty="0">
                <a:solidFill>
                  <a:srgbClr val="1E2A2F"/>
                </a:solidFill>
                <a:latin typeface="IBM Plex Sans" pitchFamily="34" charset="0"/>
                <a:ea typeface="IBM Plex Sans" pitchFamily="34" charset="-122"/>
                <a:cs typeface="IBM Plex Sans" pitchFamily="34" charset="-120"/>
              </a:rPr>
              <a:t>  some visible pocket affirms Y</a:t>
            </a:r>
            <a:endParaRPr lang="en-US" sz="1400" dirty="0"/>
          </a:p>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P(Y ‖ X)</a:t>
            </a:r>
            <a:r>
              <a:rPr lang="en-US" sz="1400" dirty="0">
                <a:solidFill>
                  <a:srgbClr val="1E2A2F"/>
                </a:solidFill>
                <a:latin typeface="IBM Plex Sans" pitchFamily="34" charset="0"/>
                <a:ea typeface="IBM Plex Sans" pitchFamily="34" charset="-122"/>
                <a:cs typeface="IBM Plex Sans" pitchFamily="34" charset="-120"/>
              </a:rPr>
              <a:t>  weight of affirming pockets ÷ weight of all</a:t>
            </a:r>
            <a:endParaRPr lang="en-US" sz="1400" dirty="0"/>
          </a:p>
        </p:txBody>
      </p:sp>
      <p:sp>
        <p:nvSpPr>
          <p:cNvPr id="31" name="Shape 29"/>
          <p:cNvSpPr/>
          <p:nvPr/>
        </p:nvSpPr>
        <p:spPr>
          <a:xfrm>
            <a:off x="6172200" y="3266678"/>
            <a:ext cx="5207000" cy="1290191"/>
          </a:xfrm>
          <a:prstGeom prst="roundRect">
            <a:avLst>
              <a:gd name="adj" fmla="val 5906"/>
            </a:avLst>
          </a:prstGeom>
          <a:solidFill>
            <a:srgbClr val="FBFAF6"/>
          </a:solidFill>
          <a:ln/>
        </p:spPr>
      </p:sp>
      <p:sp>
        <p:nvSpPr>
          <p:cNvPr id="32" name="Text 30"/>
          <p:cNvSpPr/>
          <p:nvPr/>
        </p:nvSpPr>
        <p:spPr>
          <a:xfrm>
            <a:off x="6337300" y="3406378"/>
            <a:ext cx="50231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THE SCOPE DIAL, Σ</a:t>
            </a:r>
            <a:endParaRPr lang="en-US" sz="1200" dirty="0"/>
          </a:p>
        </p:txBody>
      </p:sp>
      <p:sp>
        <p:nvSpPr>
          <p:cNvPr id="33" name="Text 31"/>
          <p:cNvSpPr/>
          <p:nvPr/>
        </p:nvSpPr>
        <p:spPr>
          <a:xfrm>
            <a:off x="6337300" y="3670498"/>
            <a:ext cx="5023104"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evidential-minimal</a:t>
            </a:r>
            <a:r>
              <a:rPr lang="en-US" sz="1400" dirty="0">
                <a:solidFill>
                  <a:srgbClr val="1E2A2F"/>
                </a:solidFill>
                <a:latin typeface="IBM Plex Sans" pitchFamily="34" charset="0"/>
                <a:ea typeface="IBM Plex Sans" pitchFamily="34" charset="-122"/>
                <a:cs typeface="IBM Plex Sans" pitchFamily="34" charset="-120"/>
              </a:rPr>
              <a:t>  blank Q only</a:t>
            </a:r>
            <a:endParaRPr lang="en-US" sz="1400" dirty="0"/>
          </a:p>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unidirectional</a:t>
            </a:r>
            <a:r>
              <a:rPr lang="en-US" sz="1400" dirty="0">
                <a:solidFill>
                  <a:srgbClr val="1E2A2F"/>
                </a:solidFill>
                <a:latin typeface="IBM Plex Sans" pitchFamily="34" charset="0"/>
                <a:ea typeface="IBM Plex Sans" pitchFamily="34" charset="-122"/>
                <a:cs typeface="IBM Plex Sans" pitchFamily="34" charset="-120"/>
              </a:rPr>
              <a:t>  Q and its declared dependents</a:t>
            </a:r>
            <a:endParaRPr lang="en-US" sz="1400" dirty="0"/>
          </a:p>
          <a:p>
            <a:pPr algn="l" indent="0" marL="0">
              <a:lnSpc>
                <a:spcPts val="1960"/>
              </a:lnSpc>
              <a:buNone/>
            </a:pPr>
            <a:r>
              <a:rPr lang="en-US" sz="1400" b="1" dirty="0">
                <a:solidFill>
                  <a:srgbClr val="1E2A2F"/>
                </a:solidFill>
                <a:latin typeface="IBM Plex Sans" pitchFamily="34" charset="0"/>
                <a:ea typeface="IBM Plex Sans" pitchFamily="34" charset="-122"/>
                <a:cs typeface="IBM Plex Sans" pitchFamily="34" charset="-120"/>
              </a:rPr>
              <a:t>bidirectional</a:t>
            </a:r>
            <a:r>
              <a:rPr lang="en-US" sz="1400" dirty="0">
                <a:solidFill>
                  <a:srgbClr val="1E2A2F"/>
                </a:solidFill>
                <a:latin typeface="IBM Plex Sans" pitchFamily="34" charset="0"/>
                <a:ea typeface="IBM Plex Sans" pitchFamily="34" charset="-122"/>
                <a:cs typeface="IBM Plex Sans" pitchFamily="34" charset="-120"/>
              </a:rPr>
              <a:t>  also its declared grounds</a:t>
            </a:r>
            <a:endParaRPr lang="en-US" sz="1400" dirty="0"/>
          </a:p>
        </p:txBody>
      </p:sp>
      <p:sp>
        <p:nvSpPr>
          <p:cNvPr id="34" name="Text 32"/>
          <p:cNvSpPr/>
          <p:nvPr/>
        </p:nvSpPr>
        <p:spPr>
          <a:xfrm>
            <a:off x="812800" y="4810869"/>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Rₓ(B) = MaxCons{P : C(B) ⊆ C(P), P ⊨ X}. Laws over particulars; priorities antecedent-independent; infeasible where protected content and a law force an attribute of Q.</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The witness: a held conjunct clears its ground</a:t>
            </a:r>
            <a:endParaRPr lang="en-US" sz="3400" dirty="0"/>
          </a:p>
        </p:txBody>
      </p:sp>
      <p:sp>
        <p:nvSpPr>
          <p:cNvPr id="3" name="Text 1"/>
          <p:cNvSpPr/>
          <p:nvPr/>
        </p:nvSpPr>
        <p:spPr>
          <a:xfrm>
            <a:off x="812800" y="1490960"/>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THE BOOKS, A</a:t>
            </a:r>
            <a:endParaRPr lang="en-US" sz="1200" dirty="0"/>
          </a:p>
        </p:txBody>
      </p:sp>
      <p:sp>
        <p:nvSpPr>
          <p:cNvPr id="4" name="Text 2"/>
          <p:cNvSpPr/>
          <p:nvPr/>
        </p:nvSpPr>
        <p:spPr>
          <a:xfrm>
            <a:off x="812800" y="1780480"/>
            <a:ext cx="3302000" cy="408930"/>
          </a:xfrm>
          <a:prstGeom prst="roundRect">
            <a:avLst>
              <a:gd name="adj" fmla="val 15528"/>
            </a:avLst>
          </a:prstGeom>
          <a:solidFill>
            <a:srgbClr val="1F7A78"/>
          </a:solidFill>
          <a:ln/>
        </p:spPr>
        <p:txBody>
          <a:bodyPr wrap="square" lIns="108401" tIns="70301" rIns="16961" bIns="44901"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s</a:t>
            </a:r>
            <a:r>
              <a:rPr lang="en-US" sz="1300" dirty="0">
                <a:solidFill>
                  <a:srgbClr val="F5F2EA"/>
                </a:solidFill>
                <a:latin typeface="IBM Plex Sans" pitchFamily="34" charset="0"/>
                <a:ea typeface="IBM Plex Sans" pitchFamily="34" charset="-122"/>
                <a:cs typeface="IBM Plex Sans" pitchFamily="34" charset="-120"/>
              </a:rPr>
              <a:t>  the sprinklers ran  </a:t>
            </a:r>
            <a:r>
              <a:rPr lang="en-US" sz="1300" i="1" dirty="0">
                <a:solidFill>
                  <a:srgbClr val="F5F2EA"/>
                </a:solidFill>
                <a:latin typeface="IBM Plex Sans" pitchFamily="34" charset="0"/>
                <a:ea typeface="IBM Plex Sans" pitchFamily="34" charset="-122"/>
                <a:cs typeface="IBM Plex Sans" pitchFamily="34" charset="-120"/>
              </a:rPr>
              <a:t>stated</a:t>
            </a:r>
            <a:endParaRPr lang="en-US" sz="1300" dirty="0"/>
          </a:p>
        </p:txBody>
      </p:sp>
      <p:sp>
        <p:nvSpPr>
          <p:cNvPr id="5" name="Text 3"/>
          <p:cNvSpPr/>
          <p:nvPr/>
        </p:nvSpPr>
        <p:spPr>
          <a:xfrm>
            <a:off x="812800" y="2265611"/>
            <a:ext cx="3302000" cy="640060"/>
          </a:xfrm>
          <a:prstGeom prst="roundRect">
            <a:avLst>
              <a:gd name="adj" fmla="val 9921"/>
            </a:avLst>
          </a:prstGeom>
          <a:solidFill>
            <a:srgbClr val="E6E1D6"/>
          </a:solidFill>
          <a:ln/>
        </p:spPr>
        <p:txBody>
          <a:bodyPr wrap="square" lIns="108401" tIns="70301" rIns="16961" bIns="44901"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s → y</a:t>
            </a:r>
            <a:r>
              <a:rPr lang="en-US" sz="1300" dirty="0">
                <a:solidFill>
                  <a:srgbClr val="1E2A2F"/>
                </a:solidFill>
                <a:latin typeface="IBM Plex Sans" pitchFamily="34" charset="0"/>
                <a:ea typeface="IBM Plex Sans" pitchFamily="34" charset="-122"/>
                <a:cs typeface="IBM Plex Sans" pitchFamily="34" charset="-120"/>
              </a:rPr>
              <a:t>  a run leaves the lawn wet  </a:t>
            </a:r>
            <a:r>
              <a:rPr lang="en-US" sz="1300" i="1" dirty="0">
                <a:solidFill>
                  <a:srgbClr val="1E2A2F"/>
                </a:solidFill>
                <a:latin typeface="IBM Plex Sans" pitchFamily="34" charset="0"/>
                <a:ea typeface="IBM Plex Sans" pitchFamily="34" charset="-122"/>
                <a:cs typeface="IBM Plex Sans" pitchFamily="34" charset="-120"/>
              </a:rPr>
              <a:t>law; s the sole ground of y</a:t>
            </a:r>
            <a:endParaRPr lang="en-US" sz="1300" dirty="0"/>
          </a:p>
        </p:txBody>
      </p:sp>
      <p:sp>
        <p:nvSpPr>
          <p:cNvPr id="6" name="Text 4"/>
          <p:cNvSpPr/>
          <p:nvPr/>
        </p:nvSpPr>
        <p:spPr>
          <a:xfrm>
            <a:off x="822325" y="2991396"/>
            <a:ext cx="3282950" cy="427980"/>
          </a:xfrm>
          <a:prstGeom prst="roundRect">
            <a:avLst>
              <a:gd name="adj" fmla="val 12612"/>
            </a:avLst>
          </a:prstGeom>
          <a:solidFill>
            <a:srgbClr val="FBFAF6"/>
          </a:solidFill>
          <a:ln w="19050">
            <a:solidFill>
              <a:srgbClr val="C98A2B"/>
            </a:solidFill>
            <a:prstDash val="dash"/>
          </a:ln>
        </p:spPr>
        <p:txBody>
          <a:bodyPr wrap="square" lIns="120716" tIns="82616" rIns="30419" bIns="57216" rtlCol="0" anchor="t">
            <a:normAutofit/>
          </a:bodyPr>
          <a:lstStyle/>
          <a:p>
            <a:pPr algn="l" indent="0" marL="0">
              <a:lnSpc>
                <a:spcPts val="1820"/>
              </a:lnSpc>
              <a:buNone/>
            </a:pPr>
            <a:r>
              <a:rPr lang="en-US" sz="1300" b="1" dirty="0">
                <a:solidFill>
                  <a:srgbClr val="C98A2B"/>
                </a:solidFill>
                <a:latin typeface="IBM Plex Sans" pitchFamily="34" charset="0"/>
                <a:ea typeface="IBM Plex Sans" pitchFamily="34" charset="-122"/>
                <a:cs typeface="IBM Plex Sans" pitchFamily="34" charset="-120"/>
              </a:rPr>
              <a:t>x</a:t>
            </a:r>
            <a:r>
              <a:rPr lang="en-US" sz="1300" dirty="0">
                <a:solidFill>
                  <a:srgbClr val="C98A2B"/>
                </a:solidFill>
                <a:latin typeface="IBM Plex Sans" pitchFamily="34" charset="0"/>
                <a:ea typeface="IBM Plex Sans" pitchFamily="34" charset="-122"/>
                <a:cs typeface="IBM Plex Sans" pitchFamily="34" charset="-120"/>
              </a:rPr>
              <a:t>  it rained last night  </a:t>
            </a:r>
            <a:r>
              <a:rPr lang="en-US" sz="1300" i="1" dirty="0">
                <a:solidFill>
                  <a:srgbClr val="C98A2B"/>
                </a:solidFill>
                <a:latin typeface="IBM Plex Sans" pitchFamily="34" charset="0"/>
                <a:ea typeface="IBM Plex Sans" pitchFamily="34" charset="-122"/>
                <a:cs typeface="IBM Plex Sans" pitchFamily="34" charset="-120"/>
              </a:rPr>
              <a:t>blank</a:t>
            </a:r>
            <a:endParaRPr lang="en-US" sz="1300" dirty="0"/>
          </a:p>
        </p:txBody>
      </p:sp>
      <p:sp>
        <p:nvSpPr>
          <p:cNvPr id="7" name="Text 5"/>
          <p:cNvSpPr/>
          <p:nvPr/>
        </p:nvSpPr>
        <p:spPr>
          <a:xfrm>
            <a:off x="812800" y="3505101"/>
            <a:ext cx="3302000" cy="640060"/>
          </a:xfrm>
          <a:prstGeom prst="roundRect">
            <a:avLst>
              <a:gd name="adj" fmla="val 9921"/>
            </a:avLst>
          </a:prstGeom>
          <a:solidFill>
            <a:srgbClr val="E6E1D6"/>
          </a:solidFill>
          <a:ln/>
        </p:spPr>
        <p:txBody>
          <a:bodyPr wrap="square" lIns="108401" tIns="70301" rIns="16961" bIns="44901"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{x, s, ¬z} invalid</a:t>
            </a:r>
            <a:r>
              <a:rPr lang="en-US" sz="1300" dirty="0">
                <a:solidFill>
                  <a:srgbClr val="1E2A2F"/>
                </a:solidFill>
                <a:latin typeface="IBM Plex Sans" pitchFamily="34" charset="0"/>
                <a:ea typeface="IBM Plex Sans" pitchFamily="34" charset="-122"/>
                <a:cs typeface="IBM Plex Sans" pitchFamily="34" charset="-120"/>
              </a:rPr>
              <a:t>  rain on a run overflows the gutters</a:t>
            </a:r>
            <a:endParaRPr lang="en-US" sz="1300" dirty="0"/>
          </a:p>
        </p:txBody>
      </p:sp>
      <p:sp>
        <p:nvSpPr>
          <p:cNvPr id="8" name="Text 6"/>
          <p:cNvSpPr/>
          <p:nvPr/>
        </p:nvSpPr>
        <p:spPr>
          <a:xfrm>
            <a:off x="822325" y="4230886"/>
            <a:ext cx="3282950" cy="427980"/>
          </a:xfrm>
          <a:prstGeom prst="roundRect">
            <a:avLst>
              <a:gd name="adj" fmla="val 12612"/>
            </a:avLst>
          </a:prstGeom>
          <a:solidFill>
            <a:srgbClr val="FBFAF6"/>
          </a:solidFill>
          <a:ln w="19050">
            <a:solidFill>
              <a:srgbClr val="C98A2B"/>
            </a:solidFill>
            <a:prstDash val="dash"/>
          </a:ln>
        </p:spPr>
        <p:txBody>
          <a:bodyPr wrap="square" lIns="120716" tIns="82616" rIns="30419" bIns="57216" rtlCol="0" anchor="t">
            <a:normAutofit/>
          </a:bodyPr>
          <a:lstStyle/>
          <a:p>
            <a:pPr algn="l" indent="0" marL="0">
              <a:lnSpc>
                <a:spcPts val="1820"/>
              </a:lnSpc>
              <a:buNone/>
            </a:pPr>
            <a:r>
              <a:rPr lang="en-US" sz="1300" b="1" dirty="0">
                <a:solidFill>
                  <a:srgbClr val="C98A2B"/>
                </a:solidFill>
                <a:latin typeface="IBM Plex Sans" pitchFamily="34" charset="0"/>
                <a:ea typeface="IBM Plex Sans" pitchFamily="34" charset="-122"/>
                <a:cs typeface="IBM Plex Sans" pitchFamily="34" charset="-120"/>
              </a:rPr>
              <a:t>z</a:t>
            </a:r>
            <a:r>
              <a:rPr lang="en-US" sz="1300" dirty="0">
                <a:solidFill>
                  <a:srgbClr val="C98A2B"/>
                </a:solidFill>
                <a:latin typeface="IBM Plex Sans" pitchFamily="34" charset="0"/>
                <a:ea typeface="IBM Plex Sans" pitchFamily="34" charset="-122"/>
                <a:cs typeface="IBM Plex Sans" pitchFamily="34" charset="-120"/>
              </a:rPr>
              <a:t>  the gutters overflowed  </a:t>
            </a:r>
            <a:r>
              <a:rPr lang="en-US" sz="1300" i="1" dirty="0">
                <a:solidFill>
                  <a:srgbClr val="C98A2B"/>
                </a:solidFill>
                <a:latin typeface="IBM Plex Sans" pitchFamily="34" charset="0"/>
                <a:ea typeface="IBM Plex Sans" pitchFamily="34" charset="-122"/>
                <a:cs typeface="IBM Plex Sans" pitchFamily="34" charset="-120"/>
              </a:rPr>
              <a:t>blank</a:t>
            </a:r>
            <a:endParaRPr lang="en-US" sz="1300" dirty="0"/>
          </a:p>
        </p:txBody>
      </p:sp>
      <p:sp>
        <p:nvSpPr>
          <p:cNvPr id="9" name="Shape 7"/>
          <p:cNvSpPr/>
          <p:nvPr/>
        </p:nvSpPr>
        <p:spPr>
          <a:xfrm>
            <a:off x="4419600" y="1490960"/>
            <a:ext cx="6959600" cy="1158180"/>
          </a:xfrm>
          <a:prstGeom prst="roundRect">
            <a:avLst>
              <a:gd name="adj" fmla="val 6579"/>
            </a:avLst>
          </a:prstGeom>
          <a:solidFill>
            <a:srgbClr val="FBFAF6"/>
          </a:solidFill>
          <a:ln/>
        </p:spPr>
      </p:sp>
      <p:sp>
        <p:nvSpPr>
          <p:cNvPr id="10" name="Text 8"/>
          <p:cNvSpPr/>
          <p:nvPr/>
        </p:nvSpPr>
        <p:spPr>
          <a:xfrm>
            <a:off x="4572000" y="1605260"/>
            <a:ext cx="685444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had it rained  </a:t>
            </a:r>
            <a:r>
              <a:rPr lang="en-US" sz="1300" b="1" dirty="0">
                <a:solidFill>
                  <a:srgbClr val="4A5568"/>
                </a:solidFill>
                <a:latin typeface="IBM Plex Sans" pitchFamily="34" charset="0"/>
                <a:ea typeface="IBM Plex Sans" pitchFamily="34" charset="-122"/>
                <a:cs typeface="IBM Plex Sans" pitchFamily="34" charset="-120"/>
              </a:rPr>
              <a:t>(reopen x)</a:t>
            </a:r>
            <a:endParaRPr lang="en-US" sz="1300" dirty="0"/>
          </a:p>
        </p:txBody>
      </p:sp>
      <p:sp>
        <p:nvSpPr>
          <p:cNvPr id="11" name="Text 9"/>
          <p:cNvSpPr/>
          <p:nvPr/>
        </p:nvSpPr>
        <p:spPr>
          <a:xfrm>
            <a:off x="4572000" y="1899890"/>
            <a:ext cx="2592834" cy="314920"/>
          </a:xfrm>
          <a:prstGeom prst="roundRect">
            <a:avLst>
              <a:gd name="adj" fmla="val 16131"/>
            </a:avLst>
          </a:prstGeom>
          <a:solidFill>
            <a:srgbClr val="E6E1D6"/>
          </a:solidFill>
          <a:ln/>
        </p:spPr>
        <p:txBody>
          <a:bodyPr wrap="none" lIns="0" tIns="0" rIns="0" bIns="0" rtlCol="0" anchor="ctr">
            <a:normAutofit/>
          </a:bodyPr>
          <a:lstStyle/>
          <a:p>
            <a:pPr algn="ctr" indent="0" marL="0">
              <a:lnSpc>
                <a:spcPts val="1680"/>
              </a:lnSpc>
              <a:buNone/>
            </a:pPr>
            <a:r>
              <a:rPr lang="en-US" sz="1200" dirty="0">
                <a:solidFill>
                  <a:srgbClr val="1E2A2F"/>
                </a:solidFill>
                <a:latin typeface="IBM Plex Sans" pitchFamily="34" charset="0"/>
                <a:ea typeface="IBM Plex Sans" pitchFamily="34" charset="-122"/>
                <a:cs typeface="IBM Plex Sans" pitchFamily="34" charset="-120"/>
              </a:rPr>
              <a:t>intermediate {s, y}: nothing cleared</a:t>
            </a:r>
            <a:endParaRPr lang="en-US" sz="1200" dirty="0"/>
          </a:p>
        </p:txBody>
      </p:sp>
      <p:sp>
        <p:nvSpPr>
          <p:cNvPr id="12" name="Text 10"/>
          <p:cNvSpPr/>
          <p:nvPr/>
        </p:nvSpPr>
        <p:spPr>
          <a:xfrm>
            <a:off x="7253734" y="1932880"/>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13" name="Text 11"/>
          <p:cNvSpPr/>
          <p:nvPr/>
        </p:nvSpPr>
        <p:spPr>
          <a:xfrm>
            <a:off x="7520434" y="1899890"/>
            <a:ext cx="857399" cy="314920"/>
          </a:xfrm>
          <a:prstGeom prst="roundRect">
            <a:avLst>
              <a:gd name="adj" fmla="val 16131"/>
            </a:avLst>
          </a:prstGeom>
          <a:solidFill>
            <a:srgbClr val="1F7A78"/>
          </a:solidFill>
          <a:ln/>
        </p:spPr>
        <p:txBody>
          <a:bodyPr wrap="none" lIns="0" tIns="0" rIns="0" bIns="0" rtlCol="0" anchor="ctr">
            <a:normAutofit/>
          </a:bodyPr>
          <a:lstStyle/>
          <a:p>
            <a:pPr algn="ct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(x, s, y, z)</a:t>
            </a:r>
            <a:endParaRPr lang="en-US" sz="1200" dirty="0"/>
          </a:p>
        </p:txBody>
      </p:sp>
      <p:sp>
        <p:nvSpPr>
          <p:cNvPr id="14" name="Text 12"/>
          <p:cNvSpPr/>
          <p:nvPr/>
        </p:nvSpPr>
        <p:spPr>
          <a:xfrm>
            <a:off x="8466733" y="1932880"/>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15" name="Text 13"/>
          <p:cNvSpPr/>
          <p:nvPr/>
        </p:nvSpPr>
        <p:spPr>
          <a:xfrm>
            <a:off x="4572000" y="2303711"/>
            <a:ext cx="379773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78"/>
                </a:solidFill>
                <a:latin typeface="IBM Plex Sans" pitchFamily="34" charset="0"/>
                <a:ea typeface="IBM Plex Sans" pitchFamily="34" charset="-122"/>
                <a:cs typeface="IBM Plex Sans" pitchFamily="34" charset="-120"/>
              </a:rPr>
              <a:t>lawn wet, gutters overflow: x ⊢~ y, x ⊢~ z</a:t>
            </a:r>
            <a:endParaRPr lang="en-US" sz="1300" dirty="0"/>
          </a:p>
        </p:txBody>
      </p:sp>
      <p:sp>
        <p:nvSpPr>
          <p:cNvPr id="16" name="Shape 14"/>
          <p:cNvSpPr/>
          <p:nvPr/>
        </p:nvSpPr>
        <p:spPr>
          <a:xfrm>
            <a:off x="4419600" y="2750741"/>
            <a:ext cx="6959600" cy="1132780"/>
          </a:xfrm>
          <a:prstGeom prst="roundRect">
            <a:avLst>
              <a:gd name="adj" fmla="val 6727"/>
            </a:avLst>
          </a:prstGeom>
          <a:solidFill>
            <a:srgbClr val="FBFAF6"/>
          </a:solidFill>
          <a:ln/>
        </p:spPr>
      </p:sp>
      <p:sp>
        <p:nvSpPr>
          <p:cNvPr id="17" name="Text 15"/>
          <p:cNvSpPr/>
          <p:nvPr/>
        </p:nvSpPr>
        <p:spPr>
          <a:xfrm>
            <a:off x="4572000" y="2865041"/>
            <a:ext cx="685444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had it rained and the lawn been wet  </a:t>
            </a:r>
            <a:r>
              <a:rPr lang="en-US" sz="1300" b="1" dirty="0">
                <a:solidFill>
                  <a:srgbClr val="4A5568"/>
                </a:solidFill>
                <a:latin typeface="IBM Plex Sans" pitchFamily="34" charset="0"/>
                <a:ea typeface="IBM Plex Sans" pitchFamily="34" charset="-122"/>
                <a:cs typeface="IBM Plex Sans" pitchFamily="34" charset="-120"/>
              </a:rPr>
              <a:t>(reopen x and y, dual peg)</a:t>
            </a:r>
            <a:endParaRPr lang="en-US" sz="1300" dirty="0"/>
          </a:p>
        </p:txBody>
      </p:sp>
      <p:sp>
        <p:nvSpPr>
          <p:cNvPr id="18" name="Text 16"/>
          <p:cNvSpPr/>
          <p:nvPr/>
        </p:nvSpPr>
        <p:spPr>
          <a:xfrm>
            <a:off x="4572000" y="3159671"/>
            <a:ext cx="2672457" cy="314920"/>
          </a:xfrm>
          <a:prstGeom prst="roundRect">
            <a:avLst>
              <a:gd name="adj" fmla="val 16131"/>
            </a:avLst>
          </a:prstGeom>
          <a:solidFill>
            <a:srgbClr val="E6E1D6"/>
          </a:solidFill>
          <a:ln/>
        </p:spPr>
        <p:txBody>
          <a:bodyPr wrap="none" lIns="0" tIns="0" rIns="0" bIns="0" rtlCol="0" anchor="ctr">
            <a:normAutofit/>
          </a:bodyPr>
          <a:lstStyle/>
          <a:p>
            <a:pPr algn="ctr" indent="0" marL="0">
              <a:lnSpc>
                <a:spcPts val="1680"/>
              </a:lnSpc>
              <a:buNone/>
            </a:pPr>
            <a:r>
              <a:rPr lang="en-US" sz="1200" dirty="0">
                <a:solidFill>
                  <a:srgbClr val="1E2A2F"/>
                </a:solidFill>
                <a:latin typeface="IBM Plex Sans" pitchFamily="34" charset="0"/>
                <a:ea typeface="IBM Plex Sans" pitchFamily="34" charset="-122"/>
                <a:cs typeface="IBM Plex Sans" pitchFamily="34" charset="-120"/>
              </a:rPr>
              <a:t>intermediate ∅: y's ground s cleared</a:t>
            </a:r>
            <a:endParaRPr lang="en-US" sz="1200" dirty="0"/>
          </a:p>
        </p:txBody>
      </p:sp>
      <p:sp>
        <p:nvSpPr>
          <p:cNvPr id="19" name="Text 17"/>
          <p:cNvSpPr/>
          <p:nvPr/>
        </p:nvSpPr>
        <p:spPr>
          <a:xfrm>
            <a:off x="7333357" y="3192661"/>
            <a:ext cx="228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
        <p:nvSpPr>
          <p:cNvPr id="20" name="Text 18"/>
          <p:cNvSpPr/>
          <p:nvPr/>
        </p:nvSpPr>
        <p:spPr>
          <a:xfrm>
            <a:off x="7600057" y="3159671"/>
            <a:ext cx="857399" cy="314920"/>
          </a:xfrm>
          <a:prstGeom prst="roundRect">
            <a:avLst>
              <a:gd name="adj" fmla="val 16131"/>
            </a:avLst>
          </a:prstGeom>
          <a:solidFill>
            <a:srgbClr val="1F7A78"/>
          </a:solidFill>
          <a:ln/>
        </p:spPr>
        <p:txBody>
          <a:bodyPr wrap="none" lIns="0" tIns="0" rIns="0" bIns="0" rtlCol="0" anchor="ctr">
            <a:normAutofit/>
          </a:bodyPr>
          <a:lstStyle/>
          <a:p>
            <a:pPr algn="ct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(x, s, y, z)</a:t>
            </a:r>
            <a:endParaRPr lang="en-US" sz="1200" dirty="0"/>
          </a:p>
        </p:txBody>
      </p:sp>
      <p:sp>
        <p:nvSpPr>
          <p:cNvPr id="21" name="Text 19"/>
          <p:cNvSpPr/>
          <p:nvPr/>
        </p:nvSpPr>
        <p:spPr>
          <a:xfrm>
            <a:off x="8546356" y="3159671"/>
            <a:ext cx="948879" cy="314920"/>
          </a:xfrm>
          <a:prstGeom prst="roundRect">
            <a:avLst>
              <a:gd name="adj" fmla="val 16131"/>
            </a:avLst>
          </a:prstGeom>
          <a:solidFill>
            <a:srgbClr val="1F7A78"/>
          </a:solidFill>
          <a:ln/>
        </p:spPr>
        <p:txBody>
          <a:bodyPr wrap="none" lIns="0" tIns="0" rIns="0" bIns="0" rtlCol="0" anchor="ctr">
            <a:normAutofit/>
          </a:bodyPr>
          <a:lstStyle/>
          <a:p>
            <a:pPr algn="ct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(x, ¬s, y, z)</a:t>
            </a:r>
            <a:endParaRPr lang="en-US" sz="1200" dirty="0"/>
          </a:p>
        </p:txBody>
      </p:sp>
      <p:sp>
        <p:nvSpPr>
          <p:cNvPr id="22" name="Text 20"/>
          <p:cNvSpPr/>
          <p:nvPr/>
        </p:nvSpPr>
        <p:spPr>
          <a:xfrm>
            <a:off x="9584134" y="3159671"/>
            <a:ext cx="1040309" cy="314920"/>
          </a:xfrm>
          <a:prstGeom prst="roundRect">
            <a:avLst>
              <a:gd name="adj" fmla="val 16131"/>
            </a:avLst>
          </a:prstGeom>
          <a:solidFill>
            <a:srgbClr val="9E3B2F"/>
          </a:solidFill>
          <a:ln/>
        </p:spPr>
        <p:txBody>
          <a:bodyPr wrap="none" lIns="0" tIns="0" rIns="0" bIns="0" rtlCol="0" anchor="ctr">
            <a:normAutofit/>
          </a:bodyPr>
          <a:lstStyle/>
          <a:p>
            <a:pPr algn="ctr" indent="0" marL="0">
              <a:lnSpc>
                <a:spcPts val="1680"/>
              </a:lnSpc>
              <a:buNone/>
            </a:pPr>
            <a:r>
              <a:rPr lang="en-US" sz="1200" b="1" dirty="0">
                <a:solidFill>
                  <a:srgbClr val="F5F2EA"/>
                </a:solidFill>
                <a:latin typeface="IBM Plex Sans" pitchFamily="34" charset="0"/>
                <a:ea typeface="IBM Plex Sans" pitchFamily="34" charset="-122"/>
                <a:cs typeface="IBM Plex Sans" pitchFamily="34" charset="-120"/>
              </a:rPr>
              <a:t>(x, ¬s, y, ¬z)</a:t>
            </a:r>
            <a:endParaRPr lang="en-US" sz="1200" dirty="0"/>
          </a:p>
        </p:txBody>
      </p:sp>
      <p:sp>
        <p:nvSpPr>
          <p:cNvPr id="23" name="Text 21"/>
          <p:cNvSpPr/>
          <p:nvPr/>
        </p:nvSpPr>
        <p:spPr>
          <a:xfrm>
            <a:off x="4572000" y="3538091"/>
            <a:ext cx="685444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E3B2F"/>
                </a:solidFill>
                <a:latin typeface="IBM Plex Sans" pitchFamily="34" charset="0"/>
                <a:ea typeface="IBM Plex Sans" pitchFamily="34" charset="-122"/>
                <a:cs typeface="IBM Plex Sans" pitchFamily="34" charset="-120"/>
              </a:rPr>
              <a:t>the sprinklers never ran in some pockets, and nothing overflows: x ∧ y ⊬~ z</a:t>
            </a:r>
            <a:endParaRPr lang="en-US" sz="1300" dirty="0"/>
          </a:p>
        </p:txBody>
      </p:sp>
      <p:sp>
        <p:nvSpPr>
          <p:cNvPr id="24" name="Text 22"/>
          <p:cNvSpPr/>
          <p:nvPr/>
        </p:nvSpPr>
        <p:spPr>
          <a:xfrm>
            <a:off x="4419600" y="3985121"/>
            <a:ext cx="6959600" cy="647700"/>
          </a:xfrm>
          <a:prstGeom prst="roundRect">
            <a:avLst>
              <a:gd name="adj" fmla="val 11765"/>
            </a:avLst>
          </a:prstGeom>
          <a:solidFill>
            <a:srgbClr val="E6E1D6"/>
          </a:solidFill>
          <a:ln/>
        </p:spPr>
        <p:txBody>
          <a:bodyPr wrap="square" lIns="130082" tIns="79282" rIns="0" bIns="53882" rtlCol="0" anchor="t">
            <a:normAutofit/>
          </a:bodyPr>
          <a:lstStyle/>
          <a:p>
            <a:pPr algn="l" indent="0" marL="0">
              <a:lnSpc>
                <a:spcPts val="1750"/>
              </a:lnSpc>
              <a:buNone/>
            </a:pPr>
            <a:r>
              <a:rPr lang="en-US" sz="1250" b="1" dirty="0">
                <a:solidFill>
                  <a:srgbClr val="1E2A2F"/>
                </a:solidFill>
                <a:latin typeface="IBM Plex Sans" pitchFamily="34" charset="0"/>
                <a:ea typeface="IBM Plex Sans" pitchFamily="34" charset="-122"/>
                <a:cs typeface="IBM Plex Sans" pitchFamily="34" charset="-120"/>
              </a:rPr>
              <a:t>Boolean reading</a:t>
            </a:r>
            <a:r>
              <a:rPr lang="en-US" sz="1250" dirty="0">
                <a:solidFill>
                  <a:srgbClr val="1E2A2F"/>
                </a:solidFill>
                <a:latin typeface="IBM Plex Sans" pitchFamily="34" charset="0"/>
                <a:ea typeface="IBM Plex Sans" pitchFamily="34" charset="-122"/>
                <a:cs typeface="IBM Plex Sans" pitchFamily="34" charset="-120"/>
              </a:rPr>
              <a:t>, the yes-peg of "is x ∧ y true?": already blank, nothing cleared, one pocket, the conclusion holds. The result is a result about the dual-peg reading.</a:t>
            </a:r>
            <a:endParaRPr lang="en-US" sz="1250" dirty="0"/>
          </a:p>
        </p:txBody>
      </p:sp>
      <p:sp>
        <p:nvSpPr>
          <p:cNvPr id="25" name="Text 23"/>
          <p:cNvSpPr/>
          <p:nvPr/>
        </p:nvSpPr>
        <p:spPr>
          <a:xfrm>
            <a:off x="812800" y="4871591"/>
            <a:ext cx="10883392"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2A2F"/>
                </a:solidFill>
                <a:latin typeface="IBM Plex Sans" pitchFamily="34" charset="0"/>
                <a:ea typeface="IBM Plex Sans" pitchFamily="34" charset="-122"/>
                <a:cs typeface="IBM Plex Sans" pitchFamily="34" charset="-120"/>
              </a:rPr>
              <a:t>Cautious Monotony fails at (x, y, z)</a:t>
            </a:r>
            <a:r>
              <a:rPr lang="en-US" sz="1400" dirty="0">
                <a:solidFill>
                  <a:srgbClr val="1E2A2F"/>
                </a:solidFill>
                <a:latin typeface="IBM Plex Sans" pitchFamily="34" charset="0"/>
                <a:ea typeface="IBM Plex Sans" pitchFamily="34" charset="-122"/>
                <a:cs typeface="IBM Plex Sans" pitchFamily="34" charset="-120"/>
              </a:rPr>
              <a:t>; Rational Monotony fails on the same instance, since x ⊬~ ¬y. Every line is recomputed by the accompanying script, at all three scopes.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A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5F2EA"/>
                </a:solidFill>
                <a:latin typeface="EB Garamond" pitchFamily="18" charset="0"/>
                <a:ea typeface="EB Garamond" pitchFamily="18" charset="-122"/>
                <a:cs typeface="EB Garamond" pitchFamily="18" charset="-120"/>
              </a:rPr>
              <a:t>Not preferential: the Kraus–Lehmann–Magidor audit</a:t>
            </a:r>
            <a:endParaRPr lang="en-US" sz="3400" dirty="0"/>
          </a:p>
        </p:txBody>
      </p:sp>
      <p:sp>
        <p:nvSpPr>
          <p:cNvPr id="3" name="Shape 1"/>
          <p:cNvSpPr/>
          <p:nvPr/>
        </p:nvSpPr>
        <p:spPr>
          <a:xfrm>
            <a:off x="812800" y="1516360"/>
            <a:ext cx="1837234" cy="933400"/>
          </a:xfrm>
          <a:prstGeom prst="roundRect">
            <a:avLst>
              <a:gd name="adj" fmla="val 6803"/>
            </a:avLst>
          </a:prstGeom>
          <a:solidFill>
            <a:srgbClr val="2B3A41"/>
          </a:solidFill>
          <a:ln/>
        </p:spPr>
      </p:sp>
      <p:sp>
        <p:nvSpPr>
          <p:cNvPr id="4" name="Shape 2"/>
          <p:cNvSpPr/>
          <p:nvPr/>
        </p:nvSpPr>
        <p:spPr>
          <a:xfrm>
            <a:off x="812800" y="1516360"/>
            <a:ext cx="1837234" cy="933400"/>
          </a:xfrm>
          <a:custGeom>
            <a:avLst/>
            <a:gdLst/>
            <a:ahLst/>
            <a:cxnLst/>
            <a:rect l="l" t="t" r="r" b="b"/>
            <a:pathLst>
              <a:path w="1837234" h="933400">
                <a:moveTo>
                  <a:pt x="0" y="63500"/>
                </a:moveTo>
                <a:lnTo>
                  <a:pt x="0" y="63500"/>
                </a:lnTo>
                <a:arcTo hR="63500" wR="63500" stAng="10800000" swAng="5400000"/>
                <a:lnTo>
                  <a:pt x="1773734" y="0"/>
                </a:lnTo>
                <a:arcTo hR="63500" wR="63500" stAng="16200000" swAng="5400000"/>
                <a:lnTo>
                  <a:pt x="1837234" y="63500"/>
                </a:lnTo>
                <a:arcTo hR="25400" wR="63500" stAng="0" swAng="-5400000"/>
                <a:lnTo>
                  <a:pt x="63500" y="38100"/>
                </a:lnTo>
                <a:arcTo hR="25400" wR="63500" stAng="16200000" swAng="-5400000"/>
                <a:close/>
              </a:path>
            </a:pathLst>
          </a:custGeom>
          <a:solidFill>
            <a:srgbClr val="1F7A78"/>
          </a:solidFill>
          <a:ln/>
        </p:spPr>
      </p:sp>
      <p:sp>
        <p:nvSpPr>
          <p:cNvPr id="5" name="Text 3"/>
          <p:cNvSpPr/>
          <p:nvPr/>
        </p:nvSpPr>
        <p:spPr>
          <a:xfrm>
            <a:off x="939800" y="1656060"/>
            <a:ext cx="163403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Reflexivity</a:t>
            </a:r>
            <a:endParaRPr lang="en-US" sz="1300" dirty="0"/>
          </a:p>
        </p:txBody>
      </p:sp>
      <p:sp>
        <p:nvSpPr>
          <p:cNvPr id="6" name="Text 4"/>
          <p:cNvSpPr/>
          <p:nvPr/>
        </p:nvSpPr>
        <p:spPr>
          <a:xfrm>
            <a:off x="939800" y="1912590"/>
            <a:ext cx="1634034"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holds</a:t>
            </a:r>
            <a:endParaRPr lang="en-US" sz="1150" dirty="0"/>
          </a:p>
        </p:txBody>
      </p:sp>
      <p:sp>
        <p:nvSpPr>
          <p:cNvPr id="7" name="Shape 5"/>
          <p:cNvSpPr/>
          <p:nvPr/>
        </p:nvSpPr>
        <p:spPr>
          <a:xfrm>
            <a:off x="2751634" y="1516360"/>
            <a:ext cx="1837283" cy="933400"/>
          </a:xfrm>
          <a:prstGeom prst="roundRect">
            <a:avLst>
              <a:gd name="adj" fmla="val 6803"/>
            </a:avLst>
          </a:prstGeom>
          <a:solidFill>
            <a:srgbClr val="2B3A41"/>
          </a:solidFill>
          <a:ln/>
        </p:spPr>
      </p:sp>
      <p:sp>
        <p:nvSpPr>
          <p:cNvPr id="8" name="Shape 6"/>
          <p:cNvSpPr/>
          <p:nvPr/>
        </p:nvSpPr>
        <p:spPr>
          <a:xfrm>
            <a:off x="2751634" y="1516360"/>
            <a:ext cx="1837283" cy="933400"/>
          </a:xfrm>
          <a:custGeom>
            <a:avLst/>
            <a:gdLst/>
            <a:ahLst/>
            <a:cxnLst/>
            <a:rect l="l" t="t" r="r" b="b"/>
            <a:pathLst>
              <a:path w="1837283" h="933400">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1F7A78"/>
          </a:solidFill>
          <a:ln/>
        </p:spPr>
      </p:sp>
      <p:sp>
        <p:nvSpPr>
          <p:cNvPr id="9" name="Text 7"/>
          <p:cNvSpPr/>
          <p:nvPr/>
        </p:nvSpPr>
        <p:spPr>
          <a:xfrm>
            <a:off x="2878634" y="1656060"/>
            <a:ext cx="163408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Left Logical Equivalence</a:t>
            </a:r>
            <a:endParaRPr lang="en-US" sz="1300" dirty="0"/>
          </a:p>
        </p:txBody>
      </p:sp>
      <p:sp>
        <p:nvSpPr>
          <p:cNvPr id="10" name="Text 8"/>
          <p:cNvSpPr/>
          <p:nvPr/>
        </p:nvSpPr>
        <p:spPr>
          <a:xfrm>
            <a:off x="2878634" y="2143720"/>
            <a:ext cx="1634083"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holds, by normalization</a:t>
            </a:r>
            <a:endParaRPr lang="en-US" sz="1150" dirty="0"/>
          </a:p>
        </p:txBody>
      </p:sp>
      <p:sp>
        <p:nvSpPr>
          <p:cNvPr id="11" name="Shape 9"/>
          <p:cNvSpPr/>
          <p:nvPr/>
        </p:nvSpPr>
        <p:spPr>
          <a:xfrm>
            <a:off x="4690517" y="1516360"/>
            <a:ext cx="1837283" cy="933400"/>
          </a:xfrm>
          <a:prstGeom prst="roundRect">
            <a:avLst>
              <a:gd name="adj" fmla="val 6803"/>
            </a:avLst>
          </a:prstGeom>
          <a:solidFill>
            <a:srgbClr val="2B3A41"/>
          </a:solidFill>
          <a:ln/>
        </p:spPr>
      </p:sp>
      <p:sp>
        <p:nvSpPr>
          <p:cNvPr id="12" name="Shape 10"/>
          <p:cNvSpPr/>
          <p:nvPr/>
        </p:nvSpPr>
        <p:spPr>
          <a:xfrm>
            <a:off x="4690517" y="1516360"/>
            <a:ext cx="1837283" cy="933400"/>
          </a:xfrm>
          <a:custGeom>
            <a:avLst/>
            <a:gdLst/>
            <a:ahLst/>
            <a:cxnLst/>
            <a:rect l="l" t="t" r="r" b="b"/>
            <a:pathLst>
              <a:path w="1837283" h="933400">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1F7A78"/>
          </a:solidFill>
          <a:ln/>
        </p:spPr>
      </p:sp>
      <p:sp>
        <p:nvSpPr>
          <p:cNvPr id="13" name="Text 11"/>
          <p:cNvSpPr/>
          <p:nvPr/>
        </p:nvSpPr>
        <p:spPr>
          <a:xfrm>
            <a:off x="4817517" y="1656060"/>
            <a:ext cx="163408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Right Weakening, And</a:t>
            </a:r>
            <a:endParaRPr lang="en-US" sz="1300" dirty="0"/>
          </a:p>
        </p:txBody>
      </p:sp>
      <p:sp>
        <p:nvSpPr>
          <p:cNvPr id="14" name="Text 12"/>
          <p:cNvSpPr/>
          <p:nvPr/>
        </p:nvSpPr>
        <p:spPr>
          <a:xfrm>
            <a:off x="4817517" y="2143720"/>
            <a:ext cx="1634083"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hold outright</a:t>
            </a:r>
            <a:endParaRPr lang="en-US" sz="1150" dirty="0"/>
          </a:p>
        </p:txBody>
      </p:sp>
      <p:sp>
        <p:nvSpPr>
          <p:cNvPr id="15" name="Shape 13"/>
          <p:cNvSpPr/>
          <p:nvPr/>
        </p:nvSpPr>
        <p:spPr>
          <a:xfrm>
            <a:off x="812800" y="2551361"/>
            <a:ext cx="1837234" cy="1315591"/>
          </a:xfrm>
          <a:prstGeom prst="roundRect">
            <a:avLst>
              <a:gd name="adj" fmla="val 4827"/>
            </a:avLst>
          </a:prstGeom>
          <a:solidFill>
            <a:srgbClr val="2B3A41"/>
          </a:solidFill>
          <a:ln/>
        </p:spPr>
      </p:sp>
      <p:sp>
        <p:nvSpPr>
          <p:cNvPr id="16" name="Shape 14"/>
          <p:cNvSpPr/>
          <p:nvPr/>
        </p:nvSpPr>
        <p:spPr>
          <a:xfrm>
            <a:off x="812800" y="2551361"/>
            <a:ext cx="1837234" cy="1315591"/>
          </a:xfrm>
          <a:custGeom>
            <a:avLst/>
            <a:gdLst/>
            <a:ahLst/>
            <a:cxnLst/>
            <a:rect l="l" t="t" r="r" b="b"/>
            <a:pathLst>
              <a:path w="1837234" h="1315591">
                <a:moveTo>
                  <a:pt x="0" y="63500"/>
                </a:moveTo>
                <a:lnTo>
                  <a:pt x="0" y="63500"/>
                </a:lnTo>
                <a:arcTo hR="63500" wR="63500" stAng="10800000" swAng="5400000"/>
                <a:lnTo>
                  <a:pt x="1773734" y="0"/>
                </a:lnTo>
                <a:arcTo hR="63500" wR="63500" stAng="16200000" swAng="5400000"/>
                <a:lnTo>
                  <a:pt x="1837234" y="63500"/>
                </a:lnTo>
                <a:arcTo hR="25400" wR="63500" stAng="0" swAng="-5400000"/>
                <a:lnTo>
                  <a:pt x="63500" y="38100"/>
                </a:lnTo>
                <a:arcTo hR="25400" wR="63500" stAng="16200000" swAng="-5400000"/>
                <a:close/>
              </a:path>
            </a:pathLst>
          </a:custGeom>
          <a:solidFill>
            <a:srgbClr val="1F7A78"/>
          </a:solidFill>
          <a:ln/>
        </p:spPr>
      </p:sp>
      <p:sp>
        <p:nvSpPr>
          <p:cNvPr id="17" name="Text 15"/>
          <p:cNvSpPr/>
          <p:nvPr/>
        </p:nvSpPr>
        <p:spPr>
          <a:xfrm>
            <a:off x="939800" y="2691061"/>
            <a:ext cx="163403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Or</a:t>
            </a:r>
            <a:endParaRPr lang="en-US" sz="1300" dirty="0"/>
          </a:p>
        </p:txBody>
      </p:sp>
      <p:sp>
        <p:nvSpPr>
          <p:cNvPr id="18" name="Text 16"/>
          <p:cNvSpPr/>
          <p:nvPr/>
        </p:nvSpPr>
        <p:spPr>
          <a:xfrm>
            <a:off x="939800" y="2947591"/>
            <a:ext cx="1634034" cy="63872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holds: a disjunct's pockets are the disjunction's</a:t>
            </a:r>
            <a:endParaRPr lang="en-US" sz="1150" dirty="0"/>
          </a:p>
        </p:txBody>
      </p:sp>
      <p:sp>
        <p:nvSpPr>
          <p:cNvPr id="19" name="Shape 17"/>
          <p:cNvSpPr/>
          <p:nvPr/>
        </p:nvSpPr>
        <p:spPr>
          <a:xfrm>
            <a:off x="2751634" y="2551361"/>
            <a:ext cx="1837283" cy="1315591"/>
          </a:xfrm>
          <a:prstGeom prst="roundRect">
            <a:avLst>
              <a:gd name="adj" fmla="val 4827"/>
            </a:avLst>
          </a:prstGeom>
          <a:solidFill>
            <a:srgbClr val="2B3A41"/>
          </a:solidFill>
          <a:ln/>
        </p:spPr>
      </p:sp>
      <p:sp>
        <p:nvSpPr>
          <p:cNvPr id="20" name="Shape 18"/>
          <p:cNvSpPr/>
          <p:nvPr/>
        </p:nvSpPr>
        <p:spPr>
          <a:xfrm>
            <a:off x="2751634" y="2551361"/>
            <a:ext cx="1837283" cy="1315591"/>
          </a:xfrm>
          <a:custGeom>
            <a:avLst/>
            <a:gdLst/>
            <a:ahLst/>
            <a:cxnLst/>
            <a:rect l="l" t="t" r="r" b="b"/>
            <a:pathLst>
              <a:path w="1837283" h="1315591">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C98A2B"/>
          </a:solidFill>
          <a:ln/>
        </p:spPr>
      </p:sp>
      <p:sp>
        <p:nvSpPr>
          <p:cNvPr id="21" name="Text 19"/>
          <p:cNvSpPr/>
          <p:nvPr/>
        </p:nvSpPr>
        <p:spPr>
          <a:xfrm>
            <a:off x="2878634" y="2691061"/>
            <a:ext cx="163408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Cut</a:t>
            </a:r>
            <a:endParaRPr lang="en-US" sz="1300" dirty="0"/>
          </a:p>
        </p:txBody>
      </p:sp>
      <p:sp>
        <p:nvSpPr>
          <p:cNvPr id="22" name="Text 20"/>
          <p:cNvSpPr/>
          <p:nvPr/>
        </p:nvSpPr>
        <p:spPr>
          <a:xfrm>
            <a:off x="2878634" y="2947591"/>
            <a:ext cx="1634083"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holds when intermediates nest branchwise; can fail without nesting</a:t>
            </a:r>
            <a:endParaRPr lang="en-US" sz="1150" dirty="0"/>
          </a:p>
        </p:txBody>
      </p:sp>
      <p:sp>
        <p:nvSpPr>
          <p:cNvPr id="23" name="Shape 21"/>
          <p:cNvSpPr/>
          <p:nvPr/>
        </p:nvSpPr>
        <p:spPr>
          <a:xfrm>
            <a:off x="4690517" y="2551361"/>
            <a:ext cx="1837283" cy="1315591"/>
          </a:xfrm>
          <a:prstGeom prst="roundRect">
            <a:avLst>
              <a:gd name="adj" fmla="val 4827"/>
            </a:avLst>
          </a:prstGeom>
          <a:solidFill>
            <a:srgbClr val="2B3A41"/>
          </a:solidFill>
          <a:ln/>
        </p:spPr>
      </p:sp>
      <p:sp>
        <p:nvSpPr>
          <p:cNvPr id="24" name="Shape 22"/>
          <p:cNvSpPr/>
          <p:nvPr/>
        </p:nvSpPr>
        <p:spPr>
          <a:xfrm>
            <a:off x="4690517" y="2551361"/>
            <a:ext cx="1837283" cy="1315591"/>
          </a:xfrm>
          <a:custGeom>
            <a:avLst/>
            <a:gdLst/>
            <a:ahLst/>
            <a:cxnLst/>
            <a:rect l="l" t="t" r="r" b="b"/>
            <a:pathLst>
              <a:path w="1837283" h="1315591">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9E3B2F"/>
          </a:solidFill>
          <a:ln/>
        </p:spPr>
      </p:sp>
      <p:sp>
        <p:nvSpPr>
          <p:cNvPr id="25" name="Text 23"/>
          <p:cNvSpPr/>
          <p:nvPr/>
        </p:nvSpPr>
        <p:spPr>
          <a:xfrm>
            <a:off x="4817517" y="2691061"/>
            <a:ext cx="163408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Cautious Monotony</a:t>
            </a:r>
            <a:endParaRPr lang="en-US" sz="1300" dirty="0"/>
          </a:p>
        </p:txBody>
      </p:sp>
      <p:sp>
        <p:nvSpPr>
          <p:cNvPr id="26" name="Text 24"/>
          <p:cNvSpPr/>
          <p:nvPr/>
        </p:nvSpPr>
        <p:spPr>
          <a:xfrm>
            <a:off x="4817517" y="2947591"/>
            <a:ext cx="1634083"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1DDD8"/>
                </a:solidFill>
                <a:latin typeface="IBM Plex Sans" pitchFamily="34" charset="0"/>
                <a:ea typeface="IBM Plex Sans" pitchFamily="34" charset="-122"/>
                <a:cs typeface="IBM Plex Sans" pitchFamily="34" charset="-120"/>
              </a:rPr>
              <a:t>fails, by the witness</a:t>
            </a:r>
            <a:endParaRPr lang="en-US" sz="1150" dirty="0"/>
          </a:p>
        </p:txBody>
      </p:sp>
      <p:sp>
        <p:nvSpPr>
          <p:cNvPr id="27" name="Shape 25"/>
          <p:cNvSpPr/>
          <p:nvPr/>
        </p:nvSpPr>
        <p:spPr>
          <a:xfrm>
            <a:off x="812800" y="3968552"/>
            <a:ext cx="1837234" cy="1315591"/>
          </a:xfrm>
          <a:prstGeom prst="roundRect">
            <a:avLst>
              <a:gd name="adj" fmla="val 4827"/>
            </a:avLst>
          </a:prstGeom>
          <a:solidFill>
            <a:srgbClr val="2B3A41"/>
          </a:solidFill>
          <a:ln/>
        </p:spPr>
      </p:sp>
      <p:sp>
        <p:nvSpPr>
          <p:cNvPr id="28" name="Shape 26"/>
          <p:cNvSpPr/>
          <p:nvPr/>
        </p:nvSpPr>
        <p:spPr>
          <a:xfrm>
            <a:off x="812800" y="3968552"/>
            <a:ext cx="1837234" cy="1315591"/>
          </a:xfrm>
          <a:custGeom>
            <a:avLst/>
            <a:gdLst/>
            <a:ahLst/>
            <a:cxnLst/>
            <a:rect l="l" t="t" r="r" b="b"/>
            <a:pathLst>
              <a:path w="1837234" h="1315591">
                <a:moveTo>
                  <a:pt x="0" y="63500"/>
                </a:moveTo>
                <a:lnTo>
                  <a:pt x="0" y="63500"/>
                </a:lnTo>
                <a:arcTo hR="63500" wR="63500" stAng="10800000" swAng="5400000"/>
                <a:lnTo>
                  <a:pt x="1773734" y="0"/>
                </a:lnTo>
                <a:arcTo hR="63500" wR="63500" stAng="16200000" swAng="5400000"/>
                <a:lnTo>
                  <a:pt x="1837234" y="63500"/>
                </a:lnTo>
                <a:arcTo hR="25400" wR="63500" stAng="0" swAng="-5400000"/>
                <a:lnTo>
                  <a:pt x="63500" y="38100"/>
                </a:lnTo>
                <a:arcTo hR="25400" wR="63500" stAng="16200000" swAng="-5400000"/>
                <a:close/>
              </a:path>
            </a:pathLst>
          </a:custGeom>
          <a:solidFill>
            <a:srgbClr val="9E3B2F"/>
          </a:solidFill>
          <a:ln/>
        </p:spPr>
      </p:sp>
      <p:sp>
        <p:nvSpPr>
          <p:cNvPr id="29" name="Text 27"/>
          <p:cNvSpPr/>
          <p:nvPr/>
        </p:nvSpPr>
        <p:spPr>
          <a:xfrm>
            <a:off x="939800" y="4108252"/>
            <a:ext cx="163403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Rational Monotony</a:t>
            </a:r>
            <a:endParaRPr lang="en-US" sz="1300" dirty="0"/>
          </a:p>
        </p:txBody>
      </p:sp>
      <p:sp>
        <p:nvSpPr>
          <p:cNvPr id="30" name="Text 28"/>
          <p:cNvSpPr/>
          <p:nvPr/>
        </p:nvSpPr>
        <p:spPr>
          <a:xfrm>
            <a:off x="939800" y="4364782"/>
            <a:ext cx="1634034" cy="2298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1DDD8"/>
                </a:solidFill>
                <a:latin typeface="IBM Plex Sans" pitchFamily="34" charset="0"/>
                <a:ea typeface="IBM Plex Sans" pitchFamily="34" charset="-122"/>
                <a:cs typeface="IBM Plex Sans" pitchFamily="34" charset="-120"/>
              </a:rPr>
              <a:t>fails, same instance</a:t>
            </a:r>
            <a:endParaRPr lang="en-US" sz="1150" dirty="0"/>
          </a:p>
        </p:txBody>
      </p:sp>
      <p:sp>
        <p:nvSpPr>
          <p:cNvPr id="31" name="Shape 29"/>
          <p:cNvSpPr/>
          <p:nvPr/>
        </p:nvSpPr>
        <p:spPr>
          <a:xfrm>
            <a:off x="2751634" y="3968552"/>
            <a:ext cx="1837283" cy="1315591"/>
          </a:xfrm>
          <a:prstGeom prst="roundRect">
            <a:avLst>
              <a:gd name="adj" fmla="val 4827"/>
            </a:avLst>
          </a:prstGeom>
          <a:solidFill>
            <a:srgbClr val="2B3A41"/>
          </a:solidFill>
          <a:ln/>
        </p:spPr>
      </p:sp>
      <p:sp>
        <p:nvSpPr>
          <p:cNvPr id="32" name="Shape 30"/>
          <p:cNvSpPr/>
          <p:nvPr/>
        </p:nvSpPr>
        <p:spPr>
          <a:xfrm>
            <a:off x="2751634" y="3968552"/>
            <a:ext cx="1837283" cy="1315591"/>
          </a:xfrm>
          <a:custGeom>
            <a:avLst/>
            <a:gdLst/>
            <a:ahLst/>
            <a:cxnLst/>
            <a:rect l="l" t="t" r="r" b="b"/>
            <a:pathLst>
              <a:path w="1837283" h="1315591">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9E3B2F"/>
          </a:solidFill>
          <a:ln/>
        </p:spPr>
      </p:sp>
      <p:sp>
        <p:nvSpPr>
          <p:cNvPr id="33" name="Text 31"/>
          <p:cNvSpPr/>
          <p:nvPr/>
        </p:nvSpPr>
        <p:spPr>
          <a:xfrm>
            <a:off x="2878634" y="4108252"/>
            <a:ext cx="163408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Strong centering</a:t>
            </a:r>
            <a:endParaRPr lang="en-US" sz="1300" dirty="0"/>
          </a:p>
        </p:txBody>
      </p:sp>
      <p:sp>
        <p:nvSpPr>
          <p:cNvPr id="34" name="Text 32"/>
          <p:cNvSpPr/>
          <p:nvPr/>
        </p:nvSpPr>
        <p:spPr>
          <a:xfrm>
            <a:off x="2878634" y="4364782"/>
            <a:ext cx="1634083"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F1DDD8"/>
                </a:solidFill>
                <a:latin typeface="IBM Plex Sans" pitchFamily="34" charset="0"/>
                <a:ea typeface="IBM Plex Sans" pitchFamily="34" charset="-122"/>
                <a:cs typeface="IBM Plex Sans" pitchFamily="34" charset="-120"/>
              </a:rPr>
              <a:t>fails, as a commitment: a stated toss is reopened like an open one</a:t>
            </a:r>
            <a:endParaRPr lang="en-US" sz="1150" dirty="0"/>
          </a:p>
        </p:txBody>
      </p:sp>
      <p:sp>
        <p:nvSpPr>
          <p:cNvPr id="35" name="Shape 33"/>
          <p:cNvSpPr/>
          <p:nvPr/>
        </p:nvSpPr>
        <p:spPr>
          <a:xfrm>
            <a:off x="4690517" y="3968552"/>
            <a:ext cx="1837283" cy="1315591"/>
          </a:xfrm>
          <a:prstGeom prst="roundRect">
            <a:avLst>
              <a:gd name="adj" fmla="val 4827"/>
            </a:avLst>
          </a:prstGeom>
          <a:solidFill>
            <a:srgbClr val="2B3A41"/>
          </a:solidFill>
          <a:ln/>
        </p:spPr>
      </p:sp>
      <p:sp>
        <p:nvSpPr>
          <p:cNvPr id="36" name="Shape 34"/>
          <p:cNvSpPr/>
          <p:nvPr/>
        </p:nvSpPr>
        <p:spPr>
          <a:xfrm>
            <a:off x="4690517" y="3968552"/>
            <a:ext cx="1837283" cy="1315591"/>
          </a:xfrm>
          <a:custGeom>
            <a:avLst/>
            <a:gdLst/>
            <a:ahLst/>
            <a:cxnLst/>
            <a:rect l="l" t="t" r="r" b="b"/>
            <a:pathLst>
              <a:path w="1837283" h="1315591">
                <a:moveTo>
                  <a:pt x="0" y="63500"/>
                </a:moveTo>
                <a:lnTo>
                  <a:pt x="0" y="63500"/>
                </a:lnTo>
                <a:arcTo hR="63500" wR="63500" stAng="10800000" swAng="5400000"/>
                <a:lnTo>
                  <a:pt x="1773783" y="0"/>
                </a:lnTo>
                <a:arcTo hR="63500" wR="63500" stAng="16200000" swAng="5400000"/>
                <a:lnTo>
                  <a:pt x="1837283" y="63500"/>
                </a:lnTo>
                <a:arcTo hR="25400" wR="63500" stAng="0" swAng="-5400000"/>
                <a:lnTo>
                  <a:pt x="63500" y="38100"/>
                </a:lnTo>
                <a:arcTo hR="25400" wR="63500" stAng="16200000" swAng="-5400000"/>
                <a:close/>
              </a:path>
            </a:pathLst>
          </a:custGeom>
          <a:solidFill>
            <a:srgbClr val="C98A2B"/>
          </a:solidFill>
          <a:ln/>
        </p:spPr>
      </p:sp>
      <p:sp>
        <p:nvSpPr>
          <p:cNvPr id="37" name="Text 35"/>
          <p:cNvSpPr/>
          <p:nvPr/>
        </p:nvSpPr>
        <p:spPr>
          <a:xfrm>
            <a:off x="4817517" y="4108252"/>
            <a:ext cx="163408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Where it fails</a:t>
            </a:r>
            <a:endParaRPr lang="en-US" sz="1300" dirty="0"/>
          </a:p>
        </p:txBody>
      </p:sp>
      <p:sp>
        <p:nvSpPr>
          <p:cNvPr id="38" name="Text 36"/>
          <p:cNvSpPr/>
          <p:nvPr/>
        </p:nvSpPr>
        <p:spPr>
          <a:xfrm>
            <a:off x="4817517" y="4364782"/>
            <a:ext cx="1634083" cy="63872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C9D6D3"/>
                </a:solidFill>
                <a:latin typeface="IBM Plex Sans" pitchFamily="34" charset="0"/>
                <a:ea typeface="IBM Plex Sans" pitchFamily="34" charset="-122"/>
                <a:cs typeface="IBM Plex Sans" pitchFamily="34" charset="-120"/>
              </a:rPr>
              <a:t>exactly when an added pocket omits cleared content and fails Z</a:t>
            </a:r>
            <a:endParaRPr lang="en-US" sz="1150" dirty="0"/>
          </a:p>
        </p:txBody>
      </p:sp>
      <p:sp>
        <p:nvSpPr>
          <p:cNvPr id="39" name="Text 37"/>
          <p:cNvSpPr/>
          <p:nvPr/>
        </p:nvSpPr>
        <p:spPr>
          <a:xfrm>
            <a:off x="6832600" y="1516360"/>
            <a:ext cx="46829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THE CHAIN</a:t>
            </a:r>
            <a:endParaRPr lang="en-US" sz="1200" dirty="0"/>
          </a:p>
        </p:txBody>
      </p:sp>
      <p:sp>
        <p:nvSpPr>
          <p:cNvPr id="40" name="Text 38"/>
          <p:cNvSpPr/>
          <p:nvPr/>
        </p:nvSpPr>
        <p:spPr>
          <a:xfrm>
            <a:off x="6832600" y="1818580"/>
            <a:ext cx="4546600" cy="417810"/>
          </a:xfrm>
          <a:prstGeom prst="roundRect">
            <a:avLst>
              <a:gd name="adj" fmla="val 15198"/>
            </a:avLst>
          </a:prstGeom>
          <a:solidFill>
            <a:srgbClr val="2B3A41"/>
          </a:solidFill>
          <a:ln/>
        </p:spPr>
        <p:txBody>
          <a:bodyPr wrap="square" lIns="121101" tIns="83001" rIns="0" bIns="57601" rtlCol="0" anchor="t">
            <a:normAutofit/>
          </a:bodyPr>
          <a:lstStyle/>
          <a:p>
            <a:pPr algn="l" indent="0" marL="0">
              <a:lnSpc>
                <a:spcPts val="1690"/>
              </a:lnSpc>
              <a:buNone/>
            </a:pPr>
            <a:r>
              <a:rPr lang="en-US" sz="1300" dirty="0">
                <a:solidFill>
                  <a:srgbClr val="F5F2EA"/>
                </a:solidFill>
                <a:latin typeface="IBM Plex Sans" pitchFamily="34" charset="0"/>
                <a:ea typeface="IBM Plex Sans" pitchFamily="34" charset="-122"/>
                <a:cs typeface="IBM Plex Sans" pitchFamily="34" charset="-120"/>
              </a:rPr>
              <a:t>preferential ⇒ Cautious Monotony</a:t>
            </a:r>
            <a:endParaRPr lang="en-US" sz="1300" dirty="0"/>
          </a:p>
        </p:txBody>
      </p:sp>
      <p:sp>
        <p:nvSpPr>
          <p:cNvPr id="41" name="Text 39"/>
          <p:cNvSpPr/>
          <p:nvPr/>
        </p:nvSpPr>
        <p:spPr>
          <a:xfrm>
            <a:off x="6764401" y="2325291"/>
            <a:ext cx="4682998" cy="215900"/>
          </a:xfrm>
          <a:prstGeom prst="rect">
            <a:avLst/>
          </a:prstGeom>
          <a:noFill/>
          <a:ln/>
        </p:spPr>
        <p:txBody>
          <a:bodyPr wrap="square" lIns="0" tIns="0" rIns="0" bIns="0" rtlCol="0" anchor="t">
            <a:normAutofit/>
          </a:bodyPr>
          <a:lstStyle/>
          <a:p>
            <a:pPr algn="ctr" indent="0" marL="0">
              <a:lnSpc>
                <a:spcPts val="1500"/>
              </a:lnSpc>
              <a:buNone/>
            </a:pPr>
            <a:r>
              <a:rPr lang="en-US" sz="1500" dirty="0">
                <a:solidFill>
                  <a:srgbClr val="C98A2B"/>
                </a:solidFill>
                <a:latin typeface="IBM Plex Sans" pitchFamily="34" charset="0"/>
                <a:ea typeface="IBM Plex Sans" pitchFamily="34" charset="-122"/>
                <a:cs typeface="IBM Plex Sans" pitchFamily="34" charset="-120"/>
              </a:rPr>
              <a:t>↓</a:t>
            </a:r>
            <a:endParaRPr lang="en-US" sz="1500" dirty="0"/>
          </a:p>
        </p:txBody>
      </p:sp>
      <p:sp>
        <p:nvSpPr>
          <p:cNvPr id="42" name="Text 40"/>
          <p:cNvSpPr/>
          <p:nvPr/>
        </p:nvSpPr>
        <p:spPr>
          <a:xfrm>
            <a:off x="6832600" y="2604691"/>
            <a:ext cx="4546600" cy="417810"/>
          </a:xfrm>
          <a:prstGeom prst="roundRect">
            <a:avLst>
              <a:gd name="adj" fmla="val 15198"/>
            </a:avLst>
          </a:prstGeom>
          <a:solidFill>
            <a:srgbClr val="2B3A41"/>
          </a:solidFill>
          <a:ln/>
        </p:spPr>
        <p:txBody>
          <a:bodyPr wrap="square" lIns="121101" tIns="83001" rIns="0" bIns="57601" rtlCol="0" anchor="t">
            <a:normAutofit/>
          </a:bodyPr>
          <a:lstStyle/>
          <a:p>
            <a:pPr algn="l" indent="0" marL="0">
              <a:lnSpc>
                <a:spcPts val="1690"/>
              </a:lnSpc>
              <a:buNone/>
            </a:pPr>
            <a:r>
              <a:rPr lang="en-US" sz="1300" dirty="0">
                <a:solidFill>
                  <a:srgbClr val="F5F2EA"/>
                </a:solidFill>
                <a:latin typeface="IBM Plex Sans" pitchFamily="34" charset="0"/>
                <a:ea typeface="IBM Plex Sans" pitchFamily="34" charset="-122"/>
                <a:cs typeface="IBM Plex Sans" pitchFamily="34" charset="-120"/>
              </a:rPr>
              <a:t>ranked, hence Lewis and Stalnaker, ⇒ preferential</a:t>
            </a:r>
            <a:endParaRPr lang="en-US" sz="1300" dirty="0"/>
          </a:p>
        </p:txBody>
      </p:sp>
      <p:sp>
        <p:nvSpPr>
          <p:cNvPr id="43" name="Text 41"/>
          <p:cNvSpPr/>
          <p:nvPr/>
        </p:nvSpPr>
        <p:spPr>
          <a:xfrm>
            <a:off x="6764401" y="3111401"/>
            <a:ext cx="4682998" cy="215900"/>
          </a:xfrm>
          <a:prstGeom prst="rect">
            <a:avLst/>
          </a:prstGeom>
          <a:noFill/>
          <a:ln/>
        </p:spPr>
        <p:txBody>
          <a:bodyPr wrap="square" lIns="0" tIns="0" rIns="0" bIns="0" rtlCol="0" anchor="t">
            <a:normAutofit/>
          </a:bodyPr>
          <a:lstStyle/>
          <a:p>
            <a:pPr algn="ctr" indent="0" marL="0">
              <a:lnSpc>
                <a:spcPts val="1500"/>
              </a:lnSpc>
              <a:buNone/>
            </a:pPr>
            <a:r>
              <a:rPr lang="en-US" sz="1500" dirty="0">
                <a:solidFill>
                  <a:srgbClr val="C98A2B"/>
                </a:solidFill>
                <a:latin typeface="IBM Plex Sans" pitchFamily="34" charset="0"/>
                <a:ea typeface="IBM Plex Sans" pitchFamily="34" charset="-122"/>
                <a:cs typeface="IBM Plex Sans" pitchFamily="34" charset="-120"/>
              </a:rPr>
              <a:t>↓</a:t>
            </a:r>
            <a:endParaRPr lang="en-US" sz="1500" dirty="0"/>
          </a:p>
        </p:txBody>
      </p:sp>
      <p:sp>
        <p:nvSpPr>
          <p:cNvPr id="44" name="Text 42"/>
          <p:cNvSpPr/>
          <p:nvPr/>
        </p:nvSpPr>
        <p:spPr>
          <a:xfrm>
            <a:off x="6832600" y="3390801"/>
            <a:ext cx="4546600" cy="632420"/>
          </a:xfrm>
          <a:prstGeom prst="roundRect">
            <a:avLst>
              <a:gd name="adj" fmla="val 10041"/>
            </a:avLst>
          </a:prstGeom>
          <a:solidFill>
            <a:srgbClr val="2B3A41"/>
          </a:solidFill>
          <a:ln/>
        </p:spPr>
        <p:txBody>
          <a:bodyPr wrap="square" lIns="121101" tIns="83001" rIns="0" bIns="57601" rtlCol="0" anchor="t">
            <a:normAutofit/>
          </a:bodyPr>
          <a:lstStyle/>
          <a:p>
            <a:pPr algn="l" indent="0" marL="0">
              <a:lnSpc>
                <a:spcPts val="1690"/>
              </a:lnSpc>
              <a:buNone/>
            </a:pPr>
            <a:r>
              <a:rPr lang="en-US" sz="1300" dirty="0">
                <a:solidFill>
                  <a:srgbClr val="F5F2EA"/>
                </a:solidFill>
                <a:latin typeface="IBM Plex Sans" pitchFamily="34" charset="0"/>
                <a:ea typeface="IBM Plex Sans" pitchFamily="34" charset="-122"/>
                <a:cs typeface="IBM Plex Sans" pitchFamily="34" charset="-120"/>
              </a:rPr>
              <a:t>no preferential relation on any superlanguage extends ⊢~</a:t>
            </a:r>
            <a:r>
              <a:rPr lang="en-US" sz="1300" i="1" dirty="0">
                <a:solidFill>
                  <a:srgbClr val="F5F2EA"/>
                </a:solidFill>
                <a:latin typeface="IBM Plex Sans" pitchFamily="34" charset="0"/>
                <a:ea typeface="IBM Plex Sans" pitchFamily="34" charset="-122"/>
                <a:cs typeface="IBM Plex Sans" pitchFamily="34" charset="-120"/>
              </a:rPr>
              <a:t>A</a:t>
            </a:r>
            <a:r>
              <a:rPr lang="en-US" sz="1300" dirty="0">
                <a:solidFill>
                  <a:srgbClr val="F5F2EA"/>
                </a:solidFill>
                <a:latin typeface="IBM Plex Sans" pitchFamily="34" charset="0"/>
                <a:ea typeface="IBM Plex Sans" pitchFamily="34" charset="-122"/>
                <a:cs typeface="IBM Plex Sans" pitchFamily="34" charset="-120"/>
              </a:rPr>
              <a:t> (the witness is fully evaluable)</a:t>
            </a:r>
            <a:endParaRPr lang="en-US" sz="1300" dirty="0"/>
          </a:p>
        </p:txBody>
      </p:sp>
      <p:sp>
        <p:nvSpPr>
          <p:cNvPr id="45" name="Text 43"/>
          <p:cNvSpPr/>
          <p:nvPr/>
        </p:nvSpPr>
        <p:spPr>
          <a:xfrm>
            <a:off x="6764401" y="4112121"/>
            <a:ext cx="4682998" cy="215900"/>
          </a:xfrm>
          <a:prstGeom prst="rect">
            <a:avLst/>
          </a:prstGeom>
          <a:noFill/>
          <a:ln/>
        </p:spPr>
        <p:txBody>
          <a:bodyPr wrap="square" lIns="0" tIns="0" rIns="0" bIns="0" rtlCol="0" anchor="t">
            <a:normAutofit/>
          </a:bodyPr>
          <a:lstStyle/>
          <a:p>
            <a:pPr algn="ctr" indent="0" marL="0">
              <a:lnSpc>
                <a:spcPts val="1500"/>
              </a:lnSpc>
              <a:buNone/>
            </a:pPr>
            <a:r>
              <a:rPr lang="en-US" sz="1500" dirty="0">
                <a:solidFill>
                  <a:srgbClr val="C98A2B"/>
                </a:solidFill>
                <a:latin typeface="IBM Plex Sans" pitchFamily="34" charset="0"/>
                <a:ea typeface="IBM Plex Sans" pitchFamily="34" charset="-122"/>
                <a:cs typeface="IBM Plex Sans" pitchFamily="34" charset="-120"/>
              </a:rPr>
              <a:t>↓</a:t>
            </a:r>
            <a:endParaRPr lang="en-US" sz="1500" dirty="0"/>
          </a:p>
        </p:txBody>
      </p:sp>
      <p:sp>
        <p:nvSpPr>
          <p:cNvPr id="46" name="Text 44"/>
          <p:cNvSpPr/>
          <p:nvPr/>
        </p:nvSpPr>
        <p:spPr>
          <a:xfrm>
            <a:off x="6832600" y="4391521"/>
            <a:ext cx="4546600" cy="417810"/>
          </a:xfrm>
          <a:prstGeom prst="roundRect">
            <a:avLst>
              <a:gd name="adj" fmla="val 15198"/>
            </a:avLst>
          </a:prstGeom>
          <a:solidFill>
            <a:srgbClr val="9E3B2F"/>
          </a:solidFill>
          <a:ln/>
        </p:spPr>
        <p:txBody>
          <a:bodyPr wrap="square" lIns="121101" tIns="83001" rIns="0" bIns="57601" rtlCol="0" anchor="t">
            <a:normAutofit/>
          </a:bodyPr>
          <a:lstStyle/>
          <a:p>
            <a:pPr algn="l" indent="0" marL="0">
              <a:lnSpc>
                <a:spcPts val="1690"/>
              </a:lnSpc>
              <a:buNone/>
            </a:pPr>
            <a:r>
              <a:rPr lang="en-US" sz="1300" b="1" dirty="0">
                <a:solidFill>
                  <a:srgbClr val="F5F2EA"/>
                </a:solidFill>
                <a:latin typeface="IBM Plex Sans" pitchFamily="34" charset="0"/>
                <a:ea typeface="IBM Plex Sans" pitchFamily="34" charset="-122"/>
                <a:cs typeface="IBM Plex Sans" pitchFamily="34" charset="-120"/>
              </a:rPr>
              <a:t>not representable by any smooth similarity ordering</a:t>
            </a:r>
            <a:endParaRPr lang="en-US" sz="1300" dirty="0"/>
          </a:p>
        </p:txBody>
      </p:sp>
      <p:sp>
        <p:nvSpPr>
          <p:cNvPr id="47" name="Text 45"/>
          <p:cNvSpPr/>
          <p:nvPr/>
        </p:nvSpPr>
        <p:spPr>
          <a:xfrm>
            <a:off x="812800" y="5512743"/>
            <a:ext cx="10883392"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C9D6D3"/>
                </a:solidFill>
                <a:latin typeface="IBM Plex Sans" pitchFamily="34" charset="0"/>
                <a:ea typeface="IBM Plex Sans" pitchFamily="34" charset="-122"/>
                <a:cs typeface="IBM Plex Sans" pitchFamily="34" charset="-120"/>
              </a:rPr>
              <a:t>Corroboration, not proof: 3,000 random finite models; the failure criterion agrees with the operator on all 50,291 nested singleton instances (Cautious Monotony failing in 3,113); no failure of Cut in 47,324 nested instances, of pocket monotonicity in 45,281, of Or in 53,986.</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The same witness under the neighboring semantics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03660"/>
          <a:ext cx="10553700" cy="2874566"/>
        </p:xfrm>
        <a:graphic>
          <a:graphicData uri="http://schemas.openxmlformats.org/drawingml/2006/table">
            <a:tbl>
              <a:tblPr/>
              <a:tblGrid>
                <a:gridCol w="4221480"/>
                <a:gridCol w="1477518"/>
                <a:gridCol w="1477518"/>
                <a:gridCol w="1688592"/>
                <a:gridCol w="1688592"/>
              </a:tblGrid>
              <a:tr h="359321">
                <a:tc>
                  <a:txBody>
                    <a:bodyPr/>
                    <a:lstStyle/>
                    <a:p>
                      <a:pPr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Semantics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B8B4A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8B4AB"/>
                      </a:solidFill>
                      <a:prstDash val="solid"/>
                      <a:round/>
                      <a:headEnd type="none" w="med" len="med"/>
                      <a:tailEnd type="none" w="med" len="med"/>
                    </a:lnB>
                    <a:solidFill>
                      <a:srgbClr val="E6E1D6"/>
                    </a:solidFill>
                  </a:tcPr>
                </a:tc>
                <a:tc>
                  <a:txBody>
                    <a:bodyPr/>
                    <a:lstStyle/>
                    <a:p>
                      <a:pPr algn="ctr"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x □→ 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4AB"/>
                      </a:solidFill>
                      <a:prstDash val="solid"/>
                      <a:round/>
                      <a:headEnd type="none" w="med" len="med"/>
                      <a:tailEnd type="none" w="med" len="med"/>
                    </a:lnL>
                    <a:lnR w="12700" cap="flat" cmpd="sng" algn="ctr">
                      <a:solidFill>
                        <a:srgbClr val="B8B4A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8B4AB"/>
                      </a:solidFill>
                      <a:prstDash val="solid"/>
                      <a:round/>
                      <a:headEnd type="none" w="med" len="med"/>
                      <a:tailEnd type="none" w="med" len="med"/>
                    </a:lnB>
                    <a:solidFill>
                      <a:srgbClr val="E6E1D6"/>
                    </a:solidFill>
                  </a:tcPr>
                </a:tc>
                <a:tc>
                  <a:txBody>
                    <a:bodyPr/>
                    <a:lstStyle/>
                    <a:p>
                      <a:pPr algn="ctr"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x □→ 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4AB"/>
                      </a:solidFill>
                      <a:prstDash val="solid"/>
                      <a:round/>
                      <a:headEnd type="none" w="med" len="med"/>
                      <a:tailEnd type="none" w="med" len="med"/>
                    </a:lnL>
                    <a:lnR w="12700" cap="flat" cmpd="sng" algn="ctr">
                      <a:solidFill>
                        <a:srgbClr val="B8B4A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8B4AB"/>
                      </a:solidFill>
                      <a:prstDash val="solid"/>
                      <a:round/>
                      <a:headEnd type="none" w="med" len="med"/>
                      <a:tailEnd type="none" w="med" len="med"/>
                    </a:lnB>
                    <a:solidFill>
                      <a:srgbClr val="E6E1D6"/>
                    </a:solidFill>
                  </a:tcPr>
                </a:tc>
                <a:tc>
                  <a:txBody>
                    <a:bodyPr/>
                    <a:lstStyle/>
                    <a:p>
                      <a:pPr algn="ctr"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x ∧ y □→ 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4AB"/>
                      </a:solidFill>
                      <a:prstDash val="solid"/>
                      <a:round/>
                      <a:headEnd type="none" w="med" len="med"/>
                      <a:tailEnd type="none" w="med" len="med"/>
                    </a:lnL>
                    <a:lnR w="12700" cap="flat" cmpd="sng" algn="ctr">
                      <a:solidFill>
                        <a:srgbClr val="B8B4A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8B4AB"/>
                      </a:solidFill>
                      <a:prstDash val="solid"/>
                      <a:round/>
                      <a:headEnd type="none" w="med" len="med"/>
                      <a:tailEnd type="none" w="med" len="med"/>
                    </a:lnB>
                    <a:solidFill>
                      <a:srgbClr val="E6E1D6"/>
                    </a:solidFill>
                  </a:tcPr>
                </a:tc>
                <a:tc>
                  <a:txBody>
                    <a:bodyPr/>
                    <a:lstStyle/>
                    <a:p>
                      <a:pPr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Cautious Monotony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4AB"/>
                      </a:solidFill>
                      <a:prstDash val="solid"/>
                      <a:round/>
                      <a:headEnd type="none" w="med" len="med"/>
                      <a:tailEnd type="none" w="med" len="med"/>
                    </a:lnL>
                    <a:lnR w="12700" cap="flat" cmpd="sng" algn="ctr">
                      <a:solidFill>
                        <a:srgbClr val="B8B4A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8B4AB"/>
                      </a:solidFill>
                      <a:prstDash val="solid"/>
                      <a:round/>
                      <a:headEnd type="none" w="med" len="med"/>
                      <a:tailEnd type="none" w="med" len="med"/>
                    </a:lnB>
                    <a:solidFill>
                      <a:srgbClr val="E6E1D6"/>
                    </a:solidFill>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This paper, dual-peg reading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B0BFBC"/>
                      </a:solidFill>
                      <a:prstDash val="solid"/>
                      <a:round/>
                      <a:headEnd type="none" w="med" len="med"/>
                      <a:tailEnd type="none" w="med" len="med"/>
                    </a:lnR>
                    <a:lnT w="12700" cap="flat" cmpd="sng" algn="ctr">
                      <a:solidFill>
                        <a:srgbClr val="B8B4AB"/>
                      </a:solidFill>
                      <a:prstDash val="solid"/>
                      <a:round/>
                      <a:headEnd type="none" w="med" len="med"/>
                      <a:tailEnd type="none" w="med" len="med"/>
                    </a:lnT>
                    <a:lnB w="12700" cap="flat" cmpd="sng" algn="ctr">
                      <a:solidFill>
                        <a:srgbClr val="B0BFBC"/>
                      </a:solidFill>
                      <a:prstDash val="solid"/>
                      <a:round/>
                      <a:headEnd type="none" w="med" len="med"/>
                      <a:tailEnd type="none" w="med" len="med"/>
                    </a:lnB>
                    <a:solidFill>
                      <a:srgbClr val="DCEFEC"/>
                    </a:solidFill>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FBC"/>
                      </a:solidFill>
                      <a:prstDash val="solid"/>
                      <a:round/>
                      <a:headEnd type="none" w="med" len="med"/>
                      <a:tailEnd type="none" w="med" len="med"/>
                    </a:lnL>
                    <a:lnR w="12700" cap="flat" cmpd="sng" algn="ctr">
                      <a:solidFill>
                        <a:srgbClr val="B0BFBC"/>
                      </a:solidFill>
                      <a:prstDash val="solid"/>
                      <a:round/>
                      <a:headEnd type="none" w="med" len="med"/>
                      <a:tailEnd type="none" w="med" len="med"/>
                    </a:lnR>
                    <a:lnT w="12700" cap="flat" cmpd="sng" algn="ctr">
                      <a:solidFill>
                        <a:srgbClr val="B8B4AB"/>
                      </a:solidFill>
                      <a:prstDash val="solid"/>
                      <a:round/>
                      <a:headEnd type="none" w="med" len="med"/>
                      <a:tailEnd type="none" w="med" len="med"/>
                    </a:lnT>
                    <a:lnB w="12700" cap="flat" cmpd="sng" algn="ctr">
                      <a:solidFill>
                        <a:srgbClr val="B0BFBC"/>
                      </a:solidFill>
                      <a:prstDash val="solid"/>
                      <a:round/>
                      <a:headEnd type="none" w="med" len="med"/>
                      <a:tailEnd type="none" w="med" len="med"/>
                    </a:lnB>
                    <a:solidFill>
                      <a:srgbClr val="DCEFEC"/>
                    </a:solidFill>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FBC"/>
                      </a:solidFill>
                      <a:prstDash val="solid"/>
                      <a:round/>
                      <a:headEnd type="none" w="med" len="med"/>
                      <a:tailEnd type="none" w="med" len="med"/>
                    </a:lnL>
                    <a:lnR w="12700" cap="flat" cmpd="sng" algn="ctr">
                      <a:solidFill>
                        <a:srgbClr val="B0BFBC"/>
                      </a:solidFill>
                      <a:prstDash val="solid"/>
                      <a:round/>
                      <a:headEnd type="none" w="med" len="med"/>
                      <a:tailEnd type="none" w="med" len="med"/>
                    </a:lnR>
                    <a:lnT w="12700" cap="flat" cmpd="sng" algn="ctr">
                      <a:solidFill>
                        <a:srgbClr val="B8B4AB"/>
                      </a:solidFill>
                      <a:prstDash val="solid"/>
                      <a:round/>
                      <a:headEnd type="none" w="med" len="med"/>
                      <a:tailEnd type="none" w="med" len="med"/>
                    </a:lnT>
                    <a:lnB w="12700" cap="flat" cmpd="sng" algn="ctr">
                      <a:solidFill>
                        <a:srgbClr val="B0BFBC"/>
                      </a:solidFill>
                      <a:prstDash val="solid"/>
                      <a:round/>
                      <a:headEnd type="none" w="med" len="med"/>
                      <a:tailEnd type="none" w="med" len="med"/>
                    </a:lnB>
                    <a:solidFill>
                      <a:srgbClr val="DCEFEC"/>
                    </a:solidFill>
                  </a:tcPr>
                </a:tc>
                <a:tc>
                  <a:txBody>
                    <a:bodyPr/>
                    <a:lstStyle/>
                    <a:p>
                      <a:pPr algn="ctr" indent="0" marL="0">
                        <a:lnSpc>
                          <a:spcPts val="1820"/>
                        </a:lnSpc>
                        <a:buNone/>
                      </a:pPr>
                      <a:r>
                        <a:rPr lang="en-US" sz="1300" dirty="0">
                          <a:solidFill>
                            <a:srgbClr val="9E3B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FBC"/>
                      </a:solidFill>
                      <a:prstDash val="solid"/>
                      <a:round/>
                      <a:headEnd type="none" w="med" len="med"/>
                      <a:tailEnd type="none" w="med" len="med"/>
                    </a:lnL>
                    <a:lnR w="12700" cap="flat" cmpd="sng" algn="ctr">
                      <a:solidFill>
                        <a:srgbClr val="B0BFBC"/>
                      </a:solidFill>
                      <a:prstDash val="solid"/>
                      <a:round/>
                      <a:headEnd type="none" w="med" len="med"/>
                      <a:tailEnd type="none" w="med" len="med"/>
                    </a:lnR>
                    <a:lnT w="12700" cap="flat" cmpd="sng" algn="ctr">
                      <a:solidFill>
                        <a:srgbClr val="B8B4AB"/>
                      </a:solidFill>
                      <a:prstDash val="solid"/>
                      <a:round/>
                      <a:headEnd type="none" w="med" len="med"/>
                      <a:tailEnd type="none" w="med" len="med"/>
                    </a:lnT>
                    <a:lnB w="12700" cap="flat" cmpd="sng" algn="ctr">
                      <a:solidFill>
                        <a:srgbClr val="B0BFBC"/>
                      </a:solidFill>
                      <a:prstDash val="solid"/>
                      <a:round/>
                      <a:headEnd type="none" w="med" len="med"/>
                      <a:tailEnd type="none" w="med" len="med"/>
                    </a:lnB>
                    <a:solidFill>
                      <a:srgbClr val="DCEFEC"/>
                    </a:solidFill>
                  </a:tcPr>
                </a:tc>
                <a:tc>
                  <a:txBody>
                    <a:bodyPr/>
                    <a:lstStyle/>
                    <a:p>
                      <a:pPr indent="0" marL="0">
                        <a:lnSpc>
                          <a:spcPts val="1820"/>
                        </a:lnSpc>
                        <a:buNone/>
                      </a:pPr>
                      <a:r>
                        <a:rPr lang="en-US" sz="1300" dirty="0">
                          <a:solidFill>
                            <a:srgbClr val="9E3B2F"/>
                          </a:solidFill>
                          <a:latin typeface="IBM Plex Sans" pitchFamily="34" charset="0"/>
                          <a:ea typeface="IBM Plex Sans" pitchFamily="34" charset="-122"/>
                          <a:cs typeface="IBM Plex Sans" pitchFamily="34" charset="-120"/>
                        </a:rPr>
                        <a:t>fails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FBC"/>
                      </a:solidFill>
                      <a:prstDash val="solid"/>
                      <a:round/>
                      <a:headEnd type="none" w="med" len="med"/>
                      <a:tailEnd type="none" w="med" len="med"/>
                    </a:lnL>
                    <a:lnR w="12700" cap="flat" cmpd="sng" algn="ctr">
                      <a:solidFill>
                        <a:srgbClr val="B0BFBC"/>
                      </a:solidFill>
                      <a:prstDash val="solid"/>
                      <a:round/>
                      <a:headEnd type="none" w="med" len="med"/>
                      <a:tailEnd type="none" w="med" len="med"/>
                    </a:lnR>
                    <a:lnT w="12700" cap="flat" cmpd="sng" algn="ctr">
                      <a:solidFill>
                        <a:srgbClr val="B8B4AB"/>
                      </a:solidFill>
                      <a:prstDash val="solid"/>
                      <a:round/>
                      <a:headEnd type="none" w="med" len="med"/>
                      <a:tailEnd type="none" w="med" len="med"/>
                    </a:lnT>
                    <a:lnB w="12700" cap="flat" cmpd="sng" algn="ctr">
                      <a:solidFill>
                        <a:srgbClr val="B0BFBC"/>
                      </a:solidFill>
                      <a:prstDash val="solid"/>
                      <a:round/>
                      <a:headEnd type="none" w="med" len="med"/>
                      <a:tailEnd type="none" w="med" len="med"/>
                    </a:lnB>
                    <a:solidFill>
                      <a:srgbClr val="DCEFEC"/>
                    </a:solidFill>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This paper, Boolean reading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FBC"/>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FBC"/>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FBC"/>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FBC"/>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0BFBC"/>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Maximal-consistent-facts comparator (Lewis 1981)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Basis retraction, Veltman-type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not instantiated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AGM revision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Pearl, the structural model in the 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Update (Winslett)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ct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820"/>
                        </a:lnSpc>
                        <a:buNone/>
                      </a:pPr>
                      <a:r>
                        <a:rPr lang="en-US" sz="1300" dirty="0">
                          <a:solidFill>
                            <a:srgbClr val="1E2A2F"/>
                          </a:solidFill>
                          <a:latin typeface="IBM Plex Sans" pitchFamily="34" charset="0"/>
                          <a:ea typeface="IBM Plex Sans" pitchFamily="34" charset="-122"/>
                          <a:cs typeface="IBM Plex Sans" pitchFamily="34" charset="-120"/>
                        </a:rPr>
                        <a:t>not instantiated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4" name="Shape 1"/>
          <p:cNvSpPr/>
          <p:nvPr/>
        </p:nvSpPr>
        <p:spPr>
          <a:xfrm>
            <a:off x="812800" y="4581426"/>
            <a:ext cx="5207000" cy="1206401"/>
          </a:xfrm>
          <a:prstGeom prst="roundRect">
            <a:avLst>
              <a:gd name="adj" fmla="val 6316"/>
            </a:avLst>
          </a:prstGeom>
          <a:solidFill>
            <a:srgbClr val="1F7A78"/>
          </a:solidFill>
          <a:ln/>
        </p:spPr>
      </p:sp>
      <p:sp>
        <p:nvSpPr>
          <p:cNvPr id="5" name="Text 2"/>
          <p:cNvSpPr/>
          <p:nvPr/>
        </p:nvSpPr>
        <p:spPr>
          <a:xfrm>
            <a:off x="977900" y="4721126"/>
            <a:ext cx="5023104"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Only the dual-peg operator affirms both premises and rejects the conclusion.</a:t>
            </a:r>
            <a:endParaRPr lang="en-US" sz="1300" dirty="0"/>
          </a:p>
        </p:txBody>
      </p:sp>
      <p:sp>
        <p:nvSpPr>
          <p:cNvPr id="6" name="Text 3"/>
          <p:cNvSpPr/>
          <p:nvPr/>
        </p:nvSpPr>
        <p:spPr>
          <a:xfrm>
            <a:off x="977900" y="5221486"/>
            <a:ext cx="502310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E3E0"/>
                </a:solidFill>
                <a:latin typeface="IBM Plex Sans" pitchFamily="34" charset="0"/>
                <a:ea typeface="IBM Plex Sans" pitchFamily="34" charset="-122"/>
                <a:cs typeface="IBM Plex Sans" pitchFamily="34" charset="-120"/>
              </a:rPr>
              <a:t>For one identifiable reason: it clears the support of a reopened conjunct. Every other row keeps s.</a:t>
            </a:r>
            <a:endParaRPr lang="en-US" sz="1200" dirty="0"/>
          </a:p>
        </p:txBody>
      </p:sp>
      <p:sp>
        <p:nvSpPr>
          <p:cNvPr id="7" name="Shape 4"/>
          <p:cNvSpPr/>
          <p:nvPr/>
        </p:nvSpPr>
        <p:spPr>
          <a:xfrm>
            <a:off x="6172200" y="4581426"/>
            <a:ext cx="5207000" cy="1206401"/>
          </a:xfrm>
          <a:prstGeom prst="roundRect">
            <a:avLst>
              <a:gd name="adj" fmla="val 6316"/>
            </a:avLst>
          </a:prstGeom>
          <a:solidFill>
            <a:srgbClr val="E6E1D6"/>
          </a:solidFill>
          <a:ln/>
        </p:spPr>
      </p:sp>
      <p:sp>
        <p:nvSpPr>
          <p:cNvPr id="8" name="Text 5"/>
          <p:cNvSpPr/>
          <p:nvPr/>
        </p:nvSpPr>
        <p:spPr>
          <a:xfrm>
            <a:off x="6337300" y="4721126"/>
            <a:ext cx="502310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Reopening is not settling.</a:t>
            </a:r>
            <a:endParaRPr lang="en-US" sz="1300" dirty="0"/>
          </a:p>
        </p:txBody>
      </p:sp>
      <p:sp>
        <p:nvSpPr>
          <p:cNvPr id="9" name="Text 6"/>
          <p:cNvSpPr/>
          <p:nvPr/>
        </p:nvSpPr>
        <p:spPr>
          <a:xfrm>
            <a:off x="6337300" y="4990356"/>
            <a:ext cx="502310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Settling, as an intervention, keeps the causes standing and validates Cautious Monotony (composition). Reopening keeps every law and gives up the particular grounds. Two questions, two operations.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7532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One residue, three grains; the indicative is a second operation</a:t>
            </a:r>
            <a:endParaRPr lang="en-US" sz="3400" dirty="0"/>
          </a:p>
        </p:txBody>
      </p:sp>
      <p:sp>
        <p:nvSpPr>
          <p:cNvPr id="3" name="Text 1"/>
          <p:cNvSpPr/>
          <p:nvPr/>
        </p:nvSpPr>
        <p:spPr>
          <a:xfrm>
            <a:off x="812800" y="199132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8"/>
                </a:solidFill>
                <a:latin typeface="IBM Plex Sans" pitchFamily="34" charset="0"/>
                <a:ea typeface="IBM Plex Sans" pitchFamily="34" charset="-122"/>
                <a:cs typeface="IBM Plex Sans" pitchFamily="34" charset="-120"/>
              </a:rPr>
              <a:t>A RESIDUE Πₓ(A), WEIGHTS W</a:t>
            </a:r>
            <a:endParaRPr lang="en-US" sz="1200" dirty="0"/>
          </a:p>
        </p:txBody>
      </p:sp>
      <p:sp>
        <p:nvSpPr>
          <p:cNvPr id="4" name="Text 2"/>
          <p:cNvSpPr/>
          <p:nvPr/>
        </p:nvSpPr>
        <p:spPr>
          <a:xfrm>
            <a:off x="812800" y="2293541"/>
            <a:ext cx="2286000" cy="330200"/>
          </a:xfrm>
          <a:prstGeom prst="roundRect">
            <a:avLst>
              <a:gd name="adj" fmla="val 15385"/>
            </a:avLst>
          </a:prstGeom>
          <a:solidFill>
            <a:srgbClr val="1F7A78"/>
          </a:solidFill>
          <a:ln/>
        </p:spPr>
        <p:txBody>
          <a:bodyPr wrap="square" lIns="86721" tIns="0" rIns="86721" bIns="0" rtlCol="0" anchor="ctr">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pocket affirms Y · 0.45</a:t>
            </a:r>
            <a:endParaRPr lang="en-US" sz="1200" dirty="0"/>
          </a:p>
        </p:txBody>
      </p:sp>
      <p:sp>
        <p:nvSpPr>
          <p:cNvPr id="5" name="Text 3"/>
          <p:cNvSpPr/>
          <p:nvPr/>
        </p:nvSpPr>
        <p:spPr>
          <a:xfrm>
            <a:off x="812800" y="2712641"/>
            <a:ext cx="1524000" cy="330200"/>
          </a:xfrm>
          <a:prstGeom prst="roundRect">
            <a:avLst>
              <a:gd name="adj" fmla="val 15385"/>
            </a:avLst>
          </a:prstGeom>
          <a:solidFill>
            <a:srgbClr val="1F7A78"/>
          </a:solidFill>
          <a:ln/>
        </p:spPr>
        <p:txBody>
          <a:bodyPr wrap="square" lIns="86721" tIns="0" rIns="86721" bIns="0" rtlCol="0" anchor="ctr">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affirms Y · 0.30</a:t>
            </a:r>
            <a:endParaRPr lang="en-US" sz="1200" dirty="0"/>
          </a:p>
        </p:txBody>
      </p:sp>
      <p:sp>
        <p:nvSpPr>
          <p:cNvPr id="6" name="Text 4"/>
          <p:cNvSpPr/>
          <p:nvPr/>
        </p:nvSpPr>
        <p:spPr>
          <a:xfrm>
            <a:off x="812800" y="3131741"/>
            <a:ext cx="1079500" cy="330200"/>
          </a:xfrm>
          <a:prstGeom prst="roundRect">
            <a:avLst>
              <a:gd name="adj" fmla="val 15385"/>
            </a:avLst>
          </a:prstGeom>
          <a:solidFill>
            <a:srgbClr val="9E3B2F"/>
          </a:solidFill>
          <a:ln/>
        </p:spPr>
        <p:txBody>
          <a:bodyPr wrap="square" lIns="86721" tIns="0" rIns="86721" bIns="0" rtlCol="0" anchor="ctr">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¬Y · 0.15</a:t>
            </a:r>
            <a:endParaRPr lang="en-US" sz="1200" dirty="0"/>
          </a:p>
        </p:txBody>
      </p:sp>
      <p:sp>
        <p:nvSpPr>
          <p:cNvPr id="7" name="Text 5"/>
          <p:cNvSpPr/>
          <p:nvPr/>
        </p:nvSpPr>
        <p:spPr>
          <a:xfrm>
            <a:off x="812800" y="3550841"/>
            <a:ext cx="698500" cy="330200"/>
          </a:xfrm>
          <a:prstGeom prst="roundRect">
            <a:avLst>
              <a:gd name="adj" fmla="val 15385"/>
            </a:avLst>
          </a:prstGeom>
          <a:solidFill>
            <a:srgbClr val="1F7A78"/>
          </a:solidFill>
          <a:ln/>
        </p:spPr>
        <p:txBody>
          <a:bodyPr wrap="square" lIns="86721" tIns="0" rIns="86721" bIns="0" rtlCol="0" anchor="ctr">
            <a:normAutofit/>
          </a:bodyPr>
          <a:lstStyle/>
          <a:p>
            <a:pPr algn="l" indent="0" marL="0">
              <a:lnSpc>
                <a:spcPts val="1680"/>
              </a:lnSpc>
              <a:buNone/>
            </a:pPr>
            <a:r>
              <a:rPr lang="en-US" sz="1200" dirty="0">
                <a:solidFill>
                  <a:srgbClr val="F5F2EA"/>
                </a:solidFill>
                <a:latin typeface="IBM Plex Sans" pitchFamily="34" charset="0"/>
                <a:ea typeface="IBM Plex Sans" pitchFamily="34" charset="-122"/>
                <a:cs typeface="IBM Plex Sans" pitchFamily="34" charset="-120"/>
              </a:rPr>
              <a:t>0.10</a:t>
            </a:r>
            <a:endParaRPr lang="en-US" sz="1200" dirty="0"/>
          </a:p>
        </p:txBody>
      </p:sp>
      <p:sp>
        <p:nvSpPr>
          <p:cNvPr id="8" name="Shape 6"/>
          <p:cNvSpPr/>
          <p:nvPr/>
        </p:nvSpPr>
        <p:spPr>
          <a:xfrm>
            <a:off x="812800" y="4008041"/>
            <a:ext cx="1625600" cy="848271"/>
          </a:xfrm>
          <a:prstGeom prst="roundRect">
            <a:avLst>
              <a:gd name="adj" fmla="val 7486"/>
            </a:avLst>
          </a:prstGeom>
          <a:solidFill>
            <a:srgbClr val="E6E1D6"/>
          </a:solidFill>
          <a:ln/>
        </p:spPr>
      </p:sp>
      <p:sp>
        <p:nvSpPr>
          <p:cNvPr id="9" name="Text 7"/>
          <p:cNvSpPr/>
          <p:nvPr/>
        </p:nvSpPr>
        <p:spPr>
          <a:xfrm>
            <a:off x="927100" y="409694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would</a:t>
            </a:r>
            <a:endParaRPr lang="en-US" sz="1300" dirty="0"/>
          </a:p>
        </p:txBody>
      </p:sp>
      <p:sp>
        <p:nvSpPr>
          <p:cNvPr id="10" name="Text 8"/>
          <p:cNvSpPr/>
          <p:nvPr/>
        </p:nvSpPr>
        <p:spPr>
          <a:xfrm>
            <a:off x="927100" y="4340771"/>
            <a:ext cx="1447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E3B2F"/>
                </a:solidFill>
                <a:latin typeface="IBM Plex Sans" pitchFamily="34" charset="0"/>
                <a:ea typeface="IBM Plex Sans" pitchFamily="34" charset="-122"/>
                <a:cs typeface="IBM Plex Sans" pitchFamily="34" charset="-120"/>
              </a:rPr>
              <a:t>false: one visible pocket denies</a:t>
            </a:r>
            <a:endParaRPr lang="en-US" sz="1200" dirty="0"/>
          </a:p>
        </p:txBody>
      </p:sp>
      <p:sp>
        <p:nvSpPr>
          <p:cNvPr id="11" name="Shape 9"/>
          <p:cNvSpPr/>
          <p:nvPr/>
        </p:nvSpPr>
        <p:spPr>
          <a:xfrm>
            <a:off x="2540000" y="4008041"/>
            <a:ext cx="1625600" cy="848271"/>
          </a:xfrm>
          <a:prstGeom prst="roundRect">
            <a:avLst>
              <a:gd name="adj" fmla="val 7486"/>
            </a:avLst>
          </a:prstGeom>
          <a:solidFill>
            <a:srgbClr val="E6E1D6"/>
          </a:solidFill>
          <a:ln/>
        </p:spPr>
      </p:sp>
      <p:sp>
        <p:nvSpPr>
          <p:cNvPr id="12" name="Text 10"/>
          <p:cNvSpPr/>
          <p:nvPr/>
        </p:nvSpPr>
        <p:spPr>
          <a:xfrm>
            <a:off x="2654300" y="409694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might</a:t>
            </a:r>
            <a:endParaRPr lang="en-US" sz="1300" dirty="0"/>
          </a:p>
        </p:txBody>
      </p:sp>
      <p:sp>
        <p:nvSpPr>
          <p:cNvPr id="13" name="Text 11"/>
          <p:cNvSpPr/>
          <p:nvPr/>
        </p:nvSpPr>
        <p:spPr>
          <a:xfrm>
            <a:off x="2654300" y="434077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7A78"/>
                </a:solidFill>
                <a:latin typeface="IBM Plex Sans" pitchFamily="34" charset="0"/>
                <a:ea typeface="IBM Plex Sans" pitchFamily="34" charset="-122"/>
                <a:cs typeface="IBM Plex Sans" pitchFamily="34" charset="-120"/>
              </a:rPr>
              <a:t>true</a:t>
            </a:r>
            <a:endParaRPr lang="en-US" sz="1200" dirty="0"/>
          </a:p>
        </p:txBody>
      </p:sp>
      <p:sp>
        <p:nvSpPr>
          <p:cNvPr id="14" name="Shape 12"/>
          <p:cNvSpPr/>
          <p:nvPr/>
        </p:nvSpPr>
        <p:spPr>
          <a:xfrm>
            <a:off x="4267200" y="4008041"/>
            <a:ext cx="1625600" cy="848271"/>
          </a:xfrm>
          <a:prstGeom prst="roundRect">
            <a:avLst>
              <a:gd name="adj" fmla="val 7486"/>
            </a:avLst>
          </a:prstGeom>
          <a:solidFill>
            <a:srgbClr val="E6E1D6"/>
          </a:solidFill>
          <a:ln/>
        </p:spPr>
      </p:sp>
      <p:sp>
        <p:nvSpPr>
          <p:cNvPr id="15" name="Text 13"/>
          <p:cNvSpPr/>
          <p:nvPr/>
        </p:nvSpPr>
        <p:spPr>
          <a:xfrm>
            <a:off x="4381500" y="4096941"/>
            <a:ext cx="1447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P(Y ‖ X)</a:t>
            </a:r>
            <a:endParaRPr lang="en-US" sz="1300" dirty="0"/>
          </a:p>
        </p:txBody>
      </p:sp>
      <p:sp>
        <p:nvSpPr>
          <p:cNvPr id="16" name="Text 14"/>
          <p:cNvSpPr/>
          <p:nvPr/>
        </p:nvSpPr>
        <p:spPr>
          <a:xfrm>
            <a:off x="4381500" y="434077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7A78"/>
                </a:solidFill>
                <a:latin typeface="IBM Plex Sans" pitchFamily="34" charset="0"/>
                <a:ea typeface="IBM Plex Sans" pitchFamily="34" charset="-122"/>
                <a:cs typeface="IBM Plex Sans" pitchFamily="34" charset="-120"/>
              </a:rPr>
              <a:t>0.85</a:t>
            </a:r>
            <a:endParaRPr lang="en-US" sz="1200" dirty="0"/>
          </a:p>
        </p:txBody>
      </p:sp>
      <p:sp>
        <p:nvSpPr>
          <p:cNvPr id="17" name="Text 15"/>
          <p:cNvSpPr/>
          <p:nvPr/>
        </p:nvSpPr>
        <p:spPr>
          <a:xfrm>
            <a:off x="812800" y="4945211"/>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Empty residue: would vacuously true, might false, grade undefined. The kernel enters the grade alone.</a:t>
            </a:r>
            <a:endParaRPr lang="en-US" sz="1200" dirty="0"/>
          </a:p>
        </p:txBody>
      </p:sp>
      <p:sp>
        <p:nvSpPr>
          <p:cNvPr id="18" name="Shape 16"/>
          <p:cNvSpPr/>
          <p:nvPr/>
        </p:nvSpPr>
        <p:spPr>
          <a:xfrm>
            <a:off x="6299200" y="1991320"/>
            <a:ext cx="5080000" cy="1164580"/>
          </a:xfrm>
          <a:prstGeom prst="roundRect">
            <a:avLst>
              <a:gd name="adj" fmla="val 5453"/>
            </a:avLst>
          </a:prstGeom>
          <a:solidFill>
            <a:srgbClr val="FBFAF6"/>
          </a:solidFill>
          <a:ln/>
        </p:spPr>
      </p:sp>
      <p:sp>
        <p:nvSpPr>
          <p:cNvPr id="19" name="Shape 17"/>
          <p:cNvSpPr/>
          <p:nvPr/>
        </p:nvSpPr>
        <p:spPr>
          <a:xfrm>
            <a:off x="6299200" y="1991320"/>
            <a:ext cx="5080000" cy="1164580"/>
          </a:xfrm>
          <a:custGeom>
            <a:avLst/>
            <a:gdLst/>
            <a:ahLst/>
            <a:cxnLst/>
            <a:rect l="l" t="t" r="r" b="b"/>
            <a:pathLst>
              <a:path w="5080000" h="1164580">
                <a:moveTo>
                  <a:pt x="63500" y="1164580"/>
                </a:moveTo>
                <a:lnTo>
                  <a:pt x="63500" y="1164580"/>
                </a:lnTo>
                <a:arcTo hR="63500" wR="63500" stAng="5400000" swAng="5400000"/>
                <a:lnTo>
                  <a:pt x="0" y="63500"/>
                </a:lnTo>
                <a:arcTo hR="63500" wR="63500" stAng="10800000" swAng="5400000"/>
                <a:lnTo>
                  <a:pt x="63500" y="0"/>
                </a:lnTo>
                <a:arcTo hR="63500" wR="25400" stAng="16200000" swAng="-5400000"/>
                <a:lnTo>
                  <a:pt x="38100" y="1101080"/>
                </a:lnTo>
                <a:arcTo hR="63500" wR="25400" stAng="10800000" swAng="-5400000"/>
                <a:close/>
              </a:path>
            </a:pathLst>
          </a:custGeom>
          <a:solidFill>
            <a:srgbClr val="1F7A78"/>
          </a:solidFill>
          <a:ln/>
        </p:spPr>
      </p:sp>
      <p:sp>
        <p:nvSpPr>
          <p:cNvPr id="20" name="Text 18"/>
          <p:cNvSpPr/>
          <p:nvPr/>
        </p:nvSpPr>
        <p:spPr>
          <a:xfrm>
            <a:off x="6489700" y="2105620"/>
            <a:ext cx="487921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subjunctive: reopen, restate, re-prune</a:t>
            </a:r>
            <a:endParaRPr lang="en-US" sz="1300" dirty="0"/>
          </a:p>
        </p:txBody>
      </p:sp>
      <p:sp>
        <p:nvSpPr>
          <p:cNvPr id="21" name="Text 19"/>
          <p:cNvSpPr/>
          <p:nvPr/>
        </p:nvSpPr>
        <p:spPr>
          <a:xfrm>
            <a:off x="6489700" y="2374850"/>
            <a:ext cx="4879213"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"had Oswald not shot him, someone else would have": would false, might true at small positive weight, the grade near zero however the weight on Oswald runs</a:t>
            </a:r>
            <a:endParaRPr lang="en-US" sz="1250" dirty="0"/>
          </a:p>
        </p:txBody>
      </p:sp>
      <p:sp>
        <p:nvSpPr>
          <p:cNvPr id="22" name="Shape 20"/>
          <p:cNvSpPr/>
          <p:nvPr/>
        </p:nvSpPr>
        <p:spPr>
          <a:xfrm>
            <a:off x="6299200" y="3257500"/>
            <a:ext cx="5080000" cy="942330"/>
          </a:xfrm>
          <a:prstGeom prst="roundRect">
            <a:avLst>
              <a:gd name="adj" fmla="val 6739"/>
            </a:avLst>
          </a:prstGeom>
          <a:solidFill>
            <a:srgbClr val="FBFAF6"/>
          </a:solidFill>
          <a:ln/>
        </p:spPr>
      </p:sp>
      <p:sp>
        <p:nvSpPr>
          <p:cNvPr id="23" name="Shape 21"/>
          <p:cNvSpPr/>
          <p:nvPr/>
        </p:nvSpPr>
        <p:spPr>
          <a:xfrm>
            <a:off x="6299200" y="3257500"/>
            <a:ext cx="5080000" cy="942330"/>
          </a:xfrm>
          <a:custGeom>
            <a:avLst/>
            <a:gdLst/>
            <a:ahLst/>
            <a:cxnLst/>
            <a:rect l="l" t="t" r="r" b="b"/>
            <a:pathLst>
              <a:path w="5080000" h="942330">
                <a:moveTo>
                  <a:pt x="63500" y="942330"/>
                </a:moveTo>
                <a:lnTo>
                  <a:pt x="63500" y="942330"/>
                </a:lnTo>
                <a:arcTo hR="63500" wR="63500" stAng="5400000" swAng="5400000"/>
                <a:lnTo>
                  <a:pt x="0" y="63500"/>
                </a:lnTo>
                <a:arcTo hR="63500" wR="63500" stAng="10800000" swAng="5400000"/>
                <a:lnTo>
                  <a:pt x="63500" y="0"/>
                </a:lnTo>
                <a:arcTo hR="63500" wR="25400" stAng="16200000" swAng="-5400000"/>
                <a:lnTo>
                  <a:pt x="38100" y="878830"/>
                </a:lnTo>
                <a:arcTo hR="63500" wR="25400" stAng="10800000" swAng="-5400000"/>
                <a:close/>
              </a:path>
            </a:pathLst>
          </a:custGeom>
          <a:solidFill>
            <a:srgbClr val="C98A2B"/>
          </a:solidFill>
          <a:ln/>
        </p:spPr>
      </p:sp>
      <p:sp>
        <p:nvSpPr>
          <p:cNvPr id="24" name="Text 22"/>
          <p:cNvSpPr/>
          <p:nvPr/>
        </p:nvSpPr>
        <p:spPr>
          <a:xfrm>
            <a:off x="6489700" y="3371800"/>
            <a:ext cx="487921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F"/>
                </a:solidFill>
                <a:latin typeface="IBM Plex Sans" pitchFamily="34" charset="0"/>
                <a:ea typeface="IBM Plex Sans" pitchFamily="34" charset="-122"/>
                <a:cs typeface="IBM Plex Sans" pitchFamily="34" charset="-120"/>
              </a:rPr>
              <a:t>indicative: select among the standing pockets</a:t>
            </a:r>
            <a:endParaRPr lang="en-US" sz="1300" dirty="0"/>
          </a:p>
        </p:txBody>
      </p:sp>
      <p:sp>
        <p:nvSpPr>
          <p:cNvPr id="25" name="Text 23"/>
          <p:cNvSpPr/>
          <p:nvPr/>
        </p:nvSpPr>
        <p:spPr>
          <a:xfrm>
            <a:off x="6489700" y="3641030"/>
            <a:ext cx="487921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"if Oswald didn't shoot him, someone else did": true at grade one; its grade is the conditional proportion, Adams's quantity</a:t>
            </a:r>
            <a:endParaRPr lang="en-US" sz="1250" dirty="0"/>
          </a:p>
        </p:txBody>
      </p:sp>
      <p:sp>
        <p:nvSpPr>
          <p:cNvPr id="26" name="Shape 24"/>
          <p:cNvSpPr/>
          <p:nvPr/>
        </p:nvSpPr>
        <p:spPr>
          <a:xfrm>
            <a:off x="6299200" y="4301430"/>
            <a:ext cx="5080000" cy="1386830"/>
          </a:xfrm>
          <a:prstGeom prst="roundRect">
            <a:avLst>
              <a:gd name="adj" fmla="val 4579"/>
            </a:avLst>
          </a:prstGeom>
          <a:solidFill>
            <a:srgbClr val="1E2A2F"/>
          </a:solidFill>
          <a:ln/>
        </p:spPr>
      </p:sp>
      <p:sp>
        <p:nvSpPr>
          <p:cNvPr id="27" name="Text 25"/>
          <p:cNvSpPr/>
          <p:nvPr/>
        </p:nvSpPr>
        <p:spPr>
          <a:xfrm>
            <a:off x="6451600" y="4415730"/>
            <a:ext cx="491845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2EA"/>
                </a:solidFill>
                <a:latin typeface="IBM Plex Sans" pitchFamily="34" charset="0"/>
                <a:ea typeface="IBM Plex Sans" pitchFamily="34" charset="-122"/>
                <a:cs typeface="IBM Plex Sans" pitchFamily="34" charset="-120"/>
              </a:rPr>
              <a:t>Imaging consumes the ordering; the grade does not.</a:t>
            </a:r>
            <a:endParaRPr lang="en-US" sz="1300" dirty="0"/>
          </a:p>
        </p:txBody>
      </p:sp>
      <p:sp>
        <p:nvSpPr>
          <p:cNvPr id="28" name="Text 26"/>
          <p:cNvSpPr/>
          <p:nvPr/>
        </p:nvSpPr>
        <p:spPr>
          <a:xfrm>
            <a:off x="6451600" y="4684961"/>
            <a:ext cx="4918456"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D6D3"/>
                </a:solidFill>
                <a:latin typeface="IBM Plex Sans" pitchFamily="34" charset="0"/>
                <a:ea typeface="IBM Plex Sans" pitchFamily="34" charset="-122"/>
                <a:cs typeface="IBM Plex Sans" pitchFamily="34" charset="-120"/>
              </a:rPr>
              <a:t>Lewis's transport plan is the ordering applied pointwise; here mass follows dependency and validity through the blank intermediate. Verdicts are never entries, so the triviality results find no update dynamics to exploit.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1D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E2A2F"/>
                </a:solidFill>
                <a:latin typeface="EB Garamond" pitchFamily="18" charset="0"/>
                <a:ea typeface="EB Garamond" pitchFamily="18" charset="-122"/>
                <a:cs typeface="EB Garamond" pitchFamily="18" charset="-120"/>
              </a:rPr>
              <a:t>The classic cases, as declared structure and scope</a:t>
            </a:r>
            <a:endParaRPr lang="en-US" sz="3400" dirty="0"/>
          </a:p>
        </p:txBody>
      </p:sp>
      <p:sp>
        <p:nvSpPr>
          <p:cNvPr id="3" name="Shape 1"/>
          <p:cNvSpPr/>
          <p:nvPr/>
        </p:nvSpPr>
        <p:spPr>
          <a:xfrm>
            <a:off x="812800" y="1516360"/>
            <a:ext cx="3420517" cy="1708547"/>
          </a:xfrm>
          <a:prstGeom prst="roundRect">
            <a:avLst>
              <a:gd name="adj" fmla="val 5203"/>
            </a:avLst>
          </a:prstGeom>
          <a:solidFill>
            <a:srgbClr val="FBFAF6"/>
          </a:solidFill>
          <a:ln/>
        </p:spPr>
      </p:sp>
      <p:sp>
        <p:nvSpPr>
          <p:cNvPr id="4" name="Text 2"/>
          <p:cNvSpPr/>
          <p:nvPr/>
        </p:nvSpPr>
        <p:spPr>
          <a:xfrm>
            <a:off x="990600" y="1681460"/>
            <a:ext cx="31568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3B2F"/>
                </a:solidFill>
                <a:latin typeface="IBM Plex Sans" pitchFamily="34" charset="0"/>
                <a:ea typeface="IBM Plex Sans" pitchFamily="34" charset="-122"/>
                <a:cs typeface="IBM Plex Sans" pitchFamily="34" charset="-120"/>
              </a:rPr>
              <a:t>NIXON'S BUTTON</a:t>
            </a:r>
            <a:endParaRPr lang="en-US" sz="1200" dirty="0"/>
          </a:p>
        </p:txBody>
      </p:sp>
      <p:sp>
        <p:nvSpPr>
          <p:cNvPr id="5" name="Text 3"/>
          <p:cNvSpPr/>
          <p:nvPr/>
        </p:nvSpPr>
        <p:spPr>
          <a:xfrm>
            <a:off x="990600" y="1945580"/>
            <a:ext cx="3156864"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The button-to-launch law lives in the constraint layer, never retracted. The grim verdict needs no tuned weights, and no miracle inserts the antecedent.</a:t>
            </a:r>
            <a:endParaRPr lang="en-US" sz="1300" dirty="0"/>
          </a:p>
        </p:txBody>
      </p:sp>
      <p:sp>
        <p:nvSpPr>
          <p:cNvPr id="6" name="Shape 4"/>
          <p:cNvSpPr/>
          <p:nvPr/>
        </p:nvSpPr>
        <p:spPr>
          <a:xfrm>
            <a:off x="4385717" y="1516360"/>
            <a:ext cx="3420517" cy="1708547"/>
          </a:xfrm>
          <a:prstGeom prst="roundRect">
            <a:avLst>
              <a:gd name="adj" fmla="val 5203"/>
            </a:avLst>
          </a:prstGeom>
          <a:solidFill>
            <a:srgbClr val="FBFAF6"/>
          </a:solidFill>
          <a:ln/>
        </p:spPr>
      </p:sp>
      <p:sp>
        <p:nvSpPr>
          <p:cNvPr id="7" name="Text 5"/>
          <p:cNvSpPr/>
          <p:nvPr/>
        </p:nvSpPr>
        <p:spPr>
          <a:xfrm>
            <a:off x="4563517" y="1681460"/>
            <a:ext cx="31568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BACKTRACKING</a:t>
            </a:r>
            <a:endParaRPr lang="en-US" sz="1200" dirty="0"/>
          </a:p>
        </p:txBody>
      </p:sp>
      <p:sp>
        <p:nvSpPr>
          <p:cNvPr id="8" name="Text 6"/>
          <p:cNvSpPr/>
          <p:nvPr/>
        </p:nvSpPr>
        <p:spPr>
          <a:xfrm>
            <a:off x="4563517" y="1945580"/>
            <a:ext cx="3156864"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Reopen narrowly and the past stays fixed; let the clearing run into the antecedent's declared grounds and the backtracking reading appears. Two scope settings, no hidden metric.</a:t>
            </a:r>
            <a:endParaRPr lang="en-US" sz="1300" dirty="0"/>
          </a:p>
        </p:txBody>
      </p:sp>
      <p:sp>
        <p:nvSpPr>
          <p:cNvPr id="9" name="Shape 7"/>
          <p:cNvSpPr/>
          <p:nvPr/>
        </p:nvSpPr>
        <p:spPr>
          <a:xfrm>
            <a:off x="7958634" y="1516360"/>
            <a:ext cx="3420566" cy="1708547"/>
          </a:xfrm>
          <a:prstGeom prst="roundRect">
            <a:avLst>
              <a:gd name="adj" fmla="val 5203"/>
            </a:avLst>
          </a:prstGeom>
          <a:solidFill>
            <a:srgbClr val="FBFAF6"/>
          </a:solidFill>
          <a:ln/>
        </p:spPr>
      </p:sp>
      <p:sp>
        <p:nvSpPr>
          <p:cNvPr id="10" name="Text 8"/>
          <p:cNvSpPr/>
          <p:nvPr/>
        </p:nvSpPr>
        <p:spPr>
          <a:xfrm>
            <a:off x="8136434" y="1681460"/>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8"/>
                </a:solidFill>
                <a:latin typeface="IBM Plex Sans" pitchFamily="34" charset="0"/>
                <a:ea typeface="IBM Plex Sans" pitchFamily="34" charset="-122"/>
                <a:cs typeface="IBM Plex Sans" pitchFamily="34" charset="-120"/>
              </a:rPr>
              <a:t>MORGENBESSER'S COIN</a:t>
            </a:r>
            <a:endParaRPr lang="en-US" sz="1200" dirty="0"/>
          </a:p>
        </p:txBody>
      </p:sp>
      <p:sp>
        <p:nvSpPr>
          <p:cNvPr id="11" name="Text 9"/>
          <p:cNvSpPr/>
          <p:nvPr/>
        </p:nvSpPr>
        <p:spPr>
          <a:xfrm>
            <a:off x="8136434" y="1945580"/>
            <a:ext cx="3156915"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Nothing wires the toss to the bet, so the heads entry stands in every pocket: "had you bet, you would have won" at grade one, at every setting.</a:t>
            </a:r>
            <a:endParaRPr lang="en-US" sz="1300" dirty="0"/>
          </a:p>
        </p:txBody>
      </p:sp>
      <p:sp>
        <p:nvSpPr>
          <p:cNvPr id="12" name="Shape 10"/>
          <p:cNvSpPr/>
          <p:nvPr/>
        </p:nvSpPr>
        <p:spPr>
          <a:xfrm>
            <a:off x="812800" y="3377307"/>
            <a:ext cx="3420517" cy="1708547"/>
          </a:xfrm>
          <a:prstGeom prst="roundRect">
            <a:avLst>
              <a:gd name="adj" fmla="val 5203"/>
            </a:avLst>
          </a:prstGeom>
          <a:solidFill>
            <a:srgbClr val="FBFAF6"/>
          </a:solidFill>
          <a:ln/>
        </p:spPr>
      </p:sp>
      <p:sp>
        <p:nvSpPr>
          <p:cNvPr id="13" name="Text 11"/>
          <p:cNvSpPr/>
          <p:nvPr/>
        </p:nvSpPr>
        <p:spPr>
          <a:xfrm>
            <a:off x="990600" y="3542407"/>
            <a:ext cx="31568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8A2B"/>
                </a:solidFill>
                <a:latin typeface="IBM Plex Sans" pitchFamily="34" charset="0"/>
                <a:ea typeface="IBM Plex Sans" pitchFamily="34" charset="-122"/>
                <a:cs typeface="IBM Plex Sans" pitchFamily="34" charset="-120"/>
              </a:rPr>
              <a:t>THE STREETLIGHT</a:t>
            </a:r>
            <a:endParaRPr lang="en-US" sz="1200" dirty="0"/>
          </a:p>
        </p:txBody>
      </p:sp>
      <p:sp>
        <p:nvSpPr>
          <p:cNvPr id="14" name="Text 12"/>
          <p:cNvSpPr/>
          <p:nvPr/>
        </p:nvSpPr>
        <p:spPr>
          <a:xfrm>
            <a:off x="990600" y="3806527"/>
            <a:ext cx="3156864"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Evidential-minimal: infeasible, since "proceeded" is protected and excludes red under the law. Unidirectional: it clears as recorded posterity, and the car stops at grade one.</a:t>
            </a:r>
            <a:endParaRPr lang="en-US" sz="1300" dirty="0"/>
          </a:p>
        </p:txBody>
      </p:sp>
      <p:sp>
        <p:nvSpPr>
          <p:cNvPr id="15" name="Shape 13"/>
          <p:cNvSpPr/>
          <p:nvPr/>
        </p:nvSpPr>
        <p:spPr>
          <a:xfrm>
            <a:off x="4385717" y="3377307"/>
            <a:ext cx="3420517" cy="1708547"/>
          </a:xfrm>
          <a:prstGeom prst="roundRect">
            <a:avLst>
              <a:gd name="adj" fmla="val 5203"/>
            </a:avLst>
          </a:prstGeom>
          <a:solidFill>
            <a:srgbClr val="FBFAF6"/>
          </a:solidFill>
          <a:ln/>
        </p:spPr>
      </p:sp>
      <p:sp>
        <p:nvSpPr>
          <p:cNvPr id="16" name="Text 14"/>
          <p:cNvSpPr/>
          <p:nvPr/>
        </p:nvSpPr>
        <p:spPr>
          <a:xfrm>
            <a:off x="4563517" y="3542407"/>
            <a:ext cx="315686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78"/>
                </a:solidFill>
                <a:latin typeface="IBM Plex Sans" pitchFamily="34" charset="0"/>
                <a:ea typeface="IBM Plex Sans" pitchFamily="34" charset="-122"/>
                <a:cs typeface="IBM Plex Sans" pitchFamily="34" charset="-120"/>
              </a:rPr>
              <a:t>THE SINKHOLE</a:t>
            </a:r>
            <a:endParaRPr lang="en-US" sz="1200" dirty="0"/>
          </a:p>
        </p:txBody>
      </p:sp>
      <p:sp>
        <p:nvSpPr>
          <p:cNvPr id="17" name="Text 15"/>
          <p:cNvSpPr/>
          <p:nvPr/>
        </p:nvSpPr>
        <p:spPr>
          <a:xfrm>
            <a:off x="4563517" y="3806527"/>
            <a:ext cx="3156864"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Decades of erosion were blank relative to every state before the collapse. The verdict of "had the light not been red" changes with the index, not with the time.</a:t>
            </a:r>
            <a:endParaRPr lang="en-US" sz="1300" dirty="0"/>
          </a:p>
        </p:txBody>
      </p:sp>
      <p:sp>
        <p:nvSpPr>
          <p:cNvPr id="18" name="Shape 16"/>
          <p:cNvSpPr/>
          <p:nvPr/>
        </p:nvSpPr>
        <p:spPr>
          <a:xfrm>
            <a:off x="7958634" y="3377307"/>
            <a:ext cx="3420566" cy="1708547"/>
          </a:xfrm>
          <a:prstGeom prst="roundRect">
            <a:avLst>
              <a:gd name="adj" fmla="val 5203"/>
            </a:avLst>
          </a:prstGeom>
          <a:solidFill>
            <a:srgbClr val="FBFAF6"/>
          </a:solidFill>
          <a:ln/>
        </p:spPr>
      </p:sp>
      <p:sp>
        <p:nvSpPr>
          <p:cNvPr id="19" name="Text 17"/>
          <p:cNvSpPr/>
          <p:nvPr/>
        </p:nvSpPr>
        <p:spPr>
          <a:xfrm>
            <a:off x="8136434" y="3542407"/>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3B2F"/>
                </a:solidFill>
                <a:latin typeface="IBM Plex Sans" pitchFamily="34" charset="0"/>
                <a:ea typeface="IBM Plex Sans" pitchFamily="34" charset="-122"/>
                <a:cs typeface="IBM Plex Sans" pitchFamily="34" charset="-120"/>
              </a:rPr>
              <a:t>BIZET AND VERDI</a:t>
            </a:r>
            <a:endParaRPr lang="en-US" sz="1200" dirty="0"/>
          </a:p>
        </p:txBody>
      </p:sp>
      <p:sp>
        <p:nvSpPr>
          <p:cNvPr id="20" name="Text 18"/>
          <p:cNvSpPr/>
          <p:nvPr/>
        </p:nvSpPr>
        <p:spPr>
          <a:xfrm>
            <a:off x="8136434" y="3806527"/>
            <a:ext cx="3156915"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E2A2F"/>
                </a:solidFill>
                <a:latin typeface="IBM Plex Sans" pitchFamily="34" charset="0"/>
                <a:ea typeface="IBM Plex Sans" pitchFamily="34" charset="-122"/>
                <a:cs typeface="IBM Plex Sans" pitchFamily="34" charset="-120"/>
              </a:rPr>
              <a:t>The residue splits between both-French and both-Italian: both woulds false, both mights true, the grades strictly between zero and one, with no ordering to adjudicate.</a:t>
            </a:r>
            <a:endParaRPr lang="en-US" sz="1300" dirty="0"/>
          </a:p>
        </p:txBody>
      </p:sp>
      <p:sp>
        <p:nvSpPr>
          <p:cNvPr id="21" name="Text 19"/>
          <p:cNvSpPr/>
          <p:nvPr/>
        </p:nvSpPr>
        <p:spPr>
          <a:xfrm>
            <a:off x="812800" y="5314454"/>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Antecedent strengthening, transitivity and contraposition are not secured by anything; a strengthened antecedent is a different perturbation, and the witnesses show the failures.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5F2EA"/>
                </a:solidFill>
                <a:latin typeface="EB Garamond" pitchFamily="18" charset="0"/>
                <a:ea typeface="EB Garamond" pitchFamily="18" charset="-122"/>
                <a:cs typeface="EB Garamond" pitchFamily="18" charset="-120"/>
              </a:rPr>
              <a:t>Proved, committed, open</a:t>
            </a:r>
            <a:endParaRPr lang="en-US" sz="3400" dirty="0"/>
          </a:p>
        </p:txBody>
      </p:sp>
      <p:sp>
        <p:nvSpPr>
          <p:cNvPr id="3" name="Shape 1"/>
          <p:cNvSpPr/>
          <p:nvPr/>
        </p:nvSpPr>
        <p:spPr>
          <a:xfrm>
            <a:off x="812800" y="1676251"/>
            <a:ext cx="3403600" cy="2989858"/>
          </a:xfrm>
          <a:prstGeom prst="roundRect">
            <a:avLst>
              <a:gd name="adj" fmla="val 2549"/>
            </a:avLst>
          </a:prstGeom>
          <a:solidFill>
            <a:srgbClr val="2B3A41"/>
          </a:solidFill>
          <a:ln/>
        </p:spPr>
      </p:sp>
      <p:sp>
        <p:nvSpPr>
          <p:cNvPr id="4" name="Shape 2"/>
          <p:cNvSpPr/>
          <p:nvPr/>
        </p:nvSpPr>
        <p:spPr>
          <a:xfrm>
            <a:off x="812800" y="1676251"/>
            <a:ext cx="3403600" cy="2989858"/>
          </a:xfrm>
          <a:custGeom>
            <a:avLst/>
            <a:gdLst/>
            <a:ahLst/>
            <a:cxnLst/>
            <a:rect l="l" t="t" r="r" b="b"/>
            <a:pathLst>
              <a:path w="3403600" h="2989858">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1F7A78"/>
          </a:solidFill>
          <a:ln/>
        </p:spPr>
      </p:sp>
      <p:sp>
        <p:nvSpPr>
          <p:cNvPr id="5" name="Text 3"/>
          <p:cNvSpPr/>
          <p:nvPr/>
        </p:nvSpPr>
        <p:spPr>
          <a:xfrm>
            <a:off x="990600" y="186675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BFBC"/>
                </a:solidFill>
                <a:latin typeface="IBM Plex Sans" pitchFamily="34" charset="0"/>
                <a:ea typeface="IBM Plex Sans" pitchFamily="34" charset="-122"/>
                <a:cs typeface="IBM Plex Sans" pitchFamily="34" charset="-120"/>
              </a:rPr>
              <a:t>PROVED</a:t>
            </a:r>
            <a:endParaRPr lang="en-US" sz="1200" dirty="0"/>
          </a:p>
        </p:txBody>
      </p:sp>
      <p:sp>
        <p:nvSpPr>
          <p:cNvPr id="6" name="Text 4"/>
          <p:cNvSpPr/>
          <p:nvPr/>
        </p:nvSpPr>
        <p:spPr>
          <a:xfrm>
            <a:off x="1006475" y="2156271"/>
            <a:ext cx="3118231" cy="2382838"/>
          </a:xfrm>
          <a:prstGeom prst="rect">
            <a:avLst/>
          </a:prstGeom>
          <a:noFill/>
          <a:ln/>
        </p:spPr>
        <p:txBody>
          <a:bodyPr wrap="square" lIns="0" tIns="0" rIns="0" bIns="0" rtlCol="0" anchor="t">
            <a:normAutofit/>
          </a:bodyPr>
          <a:lstStyle/>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D1: no world-similarity relation in the clauses</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D2: not preferential, on finite fully supported models under the dual-peg reading</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Cut under branchwise nesting; its failure without</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Or; where Cautious Monotony fails, exactly</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No preferential relation on any superlanguage extends ⊢~</a:t>
            </a:r>
            <a:r>
              <a:rPr lang="en-US" sz="1250" i="1" dirty="0">
                <a:solidFill>
                  <a:srgbClr val="F5F2EA"/>
                </a:solidFill>
                <a:latin typeface="IBM Plex Sans" pitchFamily="34" charset="0"/>
                <a:ea typeface="IBM Plex Sans" pitchFamily="34" charset="-122"/>
                <a:cs typeface="IBM Plex Sans" pitchFamily="34" charset="-120"/>
              </a:rPr>
              <a:t>A</a:t>
            </a:r>
            <a:endParaRPr lang="en-US" sz="1250" dirty="0"/>
          </a:p>
        </p:txBody>
      </p:sp>
      <p:sp>
        <p:nvSpPr>
          <p:cNvPr id="7" name="Shape 5"/>
          <p:cNvSpPr/>
          <p:nvPr/>
        </p:nvSpPr>
        <p:spPr>
          <a:xfrm>
            <a:off x="4394200" y="1676251"/>
            <a:ext cx="3403600" cy="2989858"/>
          </a:xfrm>
          <a:prstGeom prst="roundRect">
            <a:avLst>
              <a:gd name="adj" fmla="val 2549"/>
            </a:avLst>
          </a:prstGeom>
          <a:solidFill>
            <a:srgbClr val="2B3A41"/>
          </a:solidFill>
          <a:ln/>
        </p:spPr>
      </p:sp>
      <p:sp>
        <p:nvSpPr>
          <p:cNvPr id="8" name="Shape 6"/>
          <p:cNvSpPr/>
          <p:nvPr/>
        </p:nvSpPr>
        <p:spPr>
          <a:xfrm>
            <a:off x="4394200" y="1676251"/>
            <a:ext cx="3403600" cy="2989858"/>
          </a:xfrm>
          <a:custGeom>
            <a:avLst/>
            <a:gdLst/>
            <a:ahLst/>
            <a:cxnLst/>
            <a:rect l="l" t="t" r="r" b="b"/>
            <a:pathLst>
              <a:path w="3403600" h="2989858">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C98A2B"/>
          </a:solidFill>
          <a:ln/>
        </p:spPr>
      </p:sp>
      <p:sp>
        <p:nvSpPr>
          <p:cNvPr id="9" name="Text 7"/>
          <p:cNvSpPr/>
          <p:nvPr/>
        </p:nvSpPr>
        <p:spPr>
          <a:xfrm>
            <a:off x="4572000" y="186675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B86A"/>
                </a:solidFill>
                <a:latin typeface="IBM Plex Sans" pitchFamily="34" charset="0"/>
                <a:ea typeface="IBM Plex Sans" pitchFamily="34" charset="-122"/>
                <a:cs typeface="IBM Plex Sans" pitchFamily="34" charset="-120"/>
              </a:rPr>
              <a:t>COMMITTED</a:t>
            </a:r>
            <a:endParaRPr lang="en-US" sz="1200" dirty="0"/>
          </a:p>
        </p:txBody>
      </p:sp>
      <p:sp>
        <p:nvSpPr>
          <p:cNvPr id="10" name="Text 8"/>
          <p:cNvSpPr/>
          <p:nvPr/>
        </p:nvSpPr>
        <p:spPr>
          <a:xfrm>
            <a:off x="4587875" y="2156271"/>
            <a:ext cx="3118231" cy="1739900"/>
          </a:xfrm>
          <a:prstGeom prst="rect">
            <a:avLst/>
          </a:prstGeom>
          <a:noFill/>
          <a:ln/>
        </p:spPr>
        <p:txBody>
          <a:bodyPr wrap="square" lIns="0" tIns="0" rIns="0" bIns="0" rtlCol="0" anchor="t">
            <a:normAutofit/>
          </a:bodyPr>
          <a:lstStyle/>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the dual-peg reading of "and" in an antecedent</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declared Dep, a scope family, antecedent-independent priorities</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a weight kernel, for the grades alone</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learning as transit, never overwrite: indices stand</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strong centering fails, and is meant to</a:t>
            </a:r>
            <a:endParaRPr lang="en-US" sz="1250" dirty="0"/>
          </a:p>
        </p:txBody>
      </p:sp>
      <p:sp>
        <p:nvSpPr>
          <p:cNvPr id="11" name="Shape 9"/>
          <p:cNvSpPr/>
          <p:nvPr/>
        </p:nvSpPr>
        <p:spPr>
          <a:xfrm>
            <a:off x="7975600" y="1676251"/>
            <a:ext cx="3403600" cy="2989858"/>
          </a:xfrm>
          <a:prstGeom prst="roundRect">
            <a:avLst>
              <a:gd name="adj" fmla="val 2549"/>
            </a:avLst>
          </a:prstGeom>
          <a:solidFill>
            <a:srgbClr val="2B3A41"/>
          </a:solidFill>
          <a:ln/>
        </p:spPr>
      </p:sp>
      <p:sp>
        <p:nvSpPr>
          <p:cNvPr id="12" name="Shape 10"/>
          <p:cNvSpPr/>
          <p:nvPr/>
        </p:nvSpPr>
        <p:spPr>
          <a:xfrm>
            <a:off x="7975600" y="1676251"/>
            <a:ext cx="3403600" cy="2989858"/>
          </a:xfrm>
          <a:custGeom>
            <a:avLst/>
            <a:gdLst/>
            <a:ahLst/>
            <a:cxnLst/>
            <a:rect l="l" t="t" r="r" b="b"/>
            <a:pathLst>
              <a:path w="3403600" h="2989858">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9E3B2F"/>
          </a:solidFill>
          <a:ln/>
        </p:spPr>
      </p:sp>
      <p:sp>
        <p:nvSpPr>
          <p:cNvPr id="13" name="Text 11"/>
          <p:cNvSpPr/>
          <p:nvPr/>
        </p:nvSpPr>
        <p:spPr>
          <a:xfrm>
            <a:off x="8153400" y="1866751"/>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9B8F"/>
                </a:solidFill>
                <a:latin typeface="IBM Plex Sans" pitchFamily="34" charset="0"/>
                <a:ea typeface="IBM Plex Sans" pitchFamily="34" charset="-122"/>
                <a:cs typeface="IBM Plex Sans" pitchFamily="34" charset="-120"/>
              </a:rPr>
              <a:t>OPEN</a:t>
            </a:r>
            <a:endParaRPr lang="en-US" sz="1200" dirty="0"/>
          </a:p>
        </p:txBody>
      </p:sp>
      <p:sp>
        <p:nvSpPr>
          <p:cNvPr id="14" name="Text 12"/>
          <p:cNvSpPr/>
          <p:nvPr/>
        </p:nvSpPr>
        <p:spPr>
          <a:xfrm>
            <a:off x="8169275" y="2156271"/>
            <a:ext cx="3118231" cy="1739900"/>
          </a:xfrm>
          <a:prstGeom prst="rect">
            <a:avLst/>
          </a:prstGeom>
          <a:noFill/>
          <a:ln/>
        </p:spPr>
        <p:txBody>
          <a:bodyPr wrap="square" lIns="0" tIns="0" rIns="0" bIns="0" rtlCol="0" anchor="t">
            <a:normAutofit/>
          </a:bodyPr>
          <a:lstStyle/>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D3: name the class outside D2 and test it on the graded, indexed verdicts</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the kernel's derivation; measure invariance</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completeness for the □→, ◇→ fragment</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priorities derived from closure</a:t>
            </a:r>
            <a:endParaRPr lang="en-US" sz="1250" dirty="0"/>
          </a:p>
          <a:p>
            <a:pPr algn="l" marL="161925" indent="-161925">
              <a:lnSpc>
                <a:spcPts val="1688"/>
              </a:lnSpc>
              <a:buSzPct val="100000"/>
              <a:buChar char="•"/>
            </a:pPr>
            <a:r>
              <a:rPr lang="en-US" sz="1250" dirty="0">
                <a:solidFill>
                  <a:srgbClr val="F5F2EA"/>
                </a:solidFill>
                <a:latin typeface="IBM Plex Sans" pitchFamily="34" charset="0"/>
                <a:ea typeface="IBM Plex Sans" pitchFamily="34" charset="-122"/>
                <a:cs typeface="IBM Plex Sans" pitchFamily="34" charset="-120"/>
              </a:rPr>
              <a:t>embedded conditionals; the Kratzer-side flavors</a:t>
            </a:r>
            <a:endParaRPr lang="en-US" sz="1250" dirty="0"/>
          </a:p>
        </p:txBody>
      </p:sp>
      <p:sp>
        <p:nvSpPr>
          <p:cNvPr id="15" name="Text 13"/>
          <p:cNvSpPr/>
          <p:nvPr/>
        </p:nvSpPr>
        <p:spPr>
          <a:xfrm>
            <a:off x="812800" y="5054600"/>
            <a:ext cx="811022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A"/>
                </a:solidFill>
                <a:latin typeface="EB Garamond" pitchFamily="18" charset="0"/>
                <a:ea typeface="EB Garamond" pitchFamily="18" charset="-122"/>
                <a:cs typeface="EB Garamond" pitchFamily="18" charset="-120"/>
              </a:rPr>
              <a:t>The ordering's absence is a fact about the relation, not a choice of notation. The reading it rests on is testable: run the gutter sentence through the two-switches paradigm.</a:t>
            </a:r>
            <a:endParaRPr lang="en-US" sz="2000" dirty="0"/>
          </a:p>
        </p:txBody>
      </p:sp>
      <p:sp>
        <p:nvSpPr>
          <p:cNvPr id="16" name="Text 14"/>
          <p:cNvSpPr/>
          <p:nvPr/>
        </p:nvSpPr>
        <p:spPr>
          <a:xfrm>
            <a:off x="10438904" y="5814070"/>
            <a:ext cx="940296" cy="25653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6D3"/>
                </a:solidFill>
                <a:latin typeface="IBM Plex Sans" pitchFamily="34" charset="0"/>
                <a:ea typeface="IBM Plex Sans" pitchFamily="34" charset="-122"/>
                <a:cs typeface="IBM Plex Sans" pitchFamily="34" charset="-120"/>
              </a:rPr>
              <a:t>aethus.org</a:t>
            </a:r>
            <a:endParaRPr lang="en-US" sz="1300" dirty="0"/>
          </a:p>
        </p:txBody>
      </p:sp>
    </p:spTree>
  </p:cSld>
  <p:clrMapOvr>
    <a:masterClrMapping/>
  </p:clrMapOvr>
</p:sld>
</file>

<file path=ppt/theme/theme1.xml><?xml version="1.0" encoding="utf-8"?>
<a:theme xmlns:a="http://schemas.openxmlformats.org/drawingml/2006/main" name="Counterfactuals Without the Ordering">
  <a:themeElements>
    <a:clrScheme name="Counterfactuals Without the Ordering">
      <a:dk1>
        <a:srgbClr val="1E2A2F"/>
      </a:dk1>
      <a:lt1>
        <a:srgbClr val="F5F2EA"/>
      </a:lt1>
      <a:dk2>
        <a:srgbClr val="545C5E"/>
      </a:dk2>
      <a:lt2>
        <a:srgbClr val="E0DED7"/>
      </a:lt2>
      <a:accent1>
        <a:srgbClr val="1F7A78"/>
      </a:accent1>
      <a:accent2>
        <a:srgbClr val="C98A2B"/>
      </a:accent2>
      <a:accent3>
        <a:srgbClr val="9E3B2F"/>
      </a:accent3>
      <a:accent4>
        <a:srgbClr val="7FBFBC"/>
      </a:accent4>
      <a:accent5>
        <a:srgbClr val="E3B86A"/>
      </a:accent5>
      <a:accent6>
        <a:srgbClr val="E09B8F"/>
      </a:accent6>
      <a:hlink>
        <a:srgbClr val="0563C1"/>
      </a:hlink>
      <a:folHlink>
        <a:srgbClr val="954F72"/>
      </a:folHlink>
    </a:clrScheme>
    <a:fontScheme name="Counterfactuals Without the Ordering">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Counterfactuals Without the Ordering</dc:title>
  <dc:subject/>
  <dc:creator/>
  <cp:lastModifiedBy/>
  <cp:revision>1</cp:revision>
  <dcterms:created xsi:type="dcterms:W3CDTF">2026-10-09T23:32:23Z</dcterms:created>
  <dcterms:modified xsi:type="dcterms:W3CDTF">2026-10-09T23:32:23Z</dcterms:modified>
</cp:coreProperties>
</file>