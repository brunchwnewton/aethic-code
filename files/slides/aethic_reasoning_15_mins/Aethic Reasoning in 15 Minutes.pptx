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here, then straight to the result: the next two slides show the theorem that replaces the Heisenberg cut with a partition, and only after that does the talk say what notion of determinacy produces it. Say up front that every claim will be graded: proved, conditional, or interpretive.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before any vocabulary: here is what the framework delivers, and the next ten minutes are where it comes from. Four slits, one detector that fires on A or B. Group the slits by which detectors they would trigger: A and B share a signature, C and D share another, so there are two classes. Now take every one of the sixteen possible claims of the form "the traversal is coherent over exactly these slits". The theorem says each is exactly one of three things, and the grid is the whole powerset: valid when the set is empty or a whole class, two cases; killed by one rule when it is a proper part of a class, the four singletons, because no record could ever draw a line inside a class, so the claim over-specifies; killed by a second rule when it spans two classes, nine cases, because the detector's outcome is obtainable in every future and whichever way it comes out it separates the slits, so the claim is dead now, before anyone reads anything. Two rules, no size, no mass, no observer: coherence survives within a class no record can tell apart and dies across any two classes some record separates. That is also Feynman's indistinguishability rule given a referent, amplitudes adding within a class and probabilities across, the boundary between the two additions being the partition itself. Counting for k classes: k valid nonempty claims, the sum over classes of two to the class size minus two for the first kind of failure, the rest for the second. The two rules are the framework's second and third postulates, stated exactly a few slides from now; the hypotheses, complete and persistent record structure, are real, and the next slide is what happens when they move. If the audience takes one slide home, it is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hook, then the pivot. Three configurations of the same four slits. No detector: one class, so the only valid nonempty claim is the full set, pure interference; singletons are second-postulate invalid, and the standard objection "but I can aim the beam at one slit" resolves in place, because the collimator is itself a record that splits the class, and the singleton is then a whole class of the new partition. Detector on A or B: two classes, interference within each pair, none across; note that nobody has to read the detector, its obtainability in every refinement is what checkmates ABCD. Record erased before any refinement could state it: the persistence clause fails for that record, the partition collapses back to one class, ABCD is valid again, which is the quantum eraser. Delayed choice adds nothing new, because the third postulate quantifies over refinements, not over times; blankness is tense-free; a record that will never be readable was never a record. If asked about the setting itself being open: when the eraser setting is blank relative to the classifying Aethus, the classification runs pocket-wise, one partition per setting pocket; Wheeler's family has a classical setting record, so the pockets are disagreeing; the quantum-control delayed-choice experiments leave the control uncorrelated with any record, so the pockets are agreeing and the partition itself stands in superposition, which is what the reported wave-particle intermediates look like on this accounting. Then the pivot: a theorem that sorts coherence claims by records alone needs a notion of determinacy that is relative to a record-bearing state. The next slide says what that notion is and why the standard responses never reached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question the hook raised: what kind of framework sorts coherence claims by records alone? One in which determinacy is relative to a record-bearing state. Say it in words: standard quantum mechanics is read as if "is the spin determinate?" were a one-place question with a yes-or-no answer, and every familiar response accepts that and pays for it by adding something: a collapse law, worlds, hidden variables, or an epistemic reading that Bell and Kochen–Specker already fence (no noncontextual assignment of values to every observable reproduces the statistics). The Aethic move changes the question: determinacy is a relation between an attribute and an information state, an Aethus. Relative to A1 the spin is stated; relative to A2 it is blank, and a blank is a superposition, not an unknown. Cheaper in inventory, more expensive in semantics. Spekkens's category-mistake reading of the quantum state is the nearest neighbor; the difference is that this framework then builds the logic of the index and lets it decide cases. The next slides have to show the two-place notion does work rather than relabel.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once, precisely, then move on. An Aethus is a deductively closed partial assignment of values to attributes; an attribute is a question with an answer space. Stated versus blank is a fact about the ledger, not about anyone's psychology: the index is any record-bearing structure, an instrument as readily as a person. Closure runs under the constraint layer, the declared joint invalidities that are the laws and are never retracted; an Aethus whose stated content meets one is invalid at the base. Children come only from declared splittings, never by arbitrary insertion, which is what later keeps "determinate but unaskable" out of the attribute space. The example is the double slit with no which-path detector: the slit attribute is blank, and its two proper children resolve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place to be pedantic, and the slide the earlier deck got wrong. The third postulate is an implication: valid implies the existence of a safe child, a proper child all of whose proper children are valid. The Fixed-Point Lemma shows the validity predicate is always a post-fixed point of the safety operator F, hence contained in its greatest fixed point; equality, V equal to nu F, needs the base-generation reading, on which every invalidity is a base case (a stated contradiction, or a violation of the second postulate's contrapositive) or propagates from base cases by the two-generation rule. That reading is the paper's standing hypothesis and the slide marks it as one. The working form is the contrapositive: if every child of A has an invalid child, A is invalid now. Collapse is checkmate, not an event. Close the loop with the hook: rule 2 of the opening grid was this second postulate read constructively, and rule 3 was this third postulate's checkmate; the next slide supplies the one further posit the sorting used. On the first postulate: content is indexed, the structure over Aethae (which are valid, how they refine) is not. On the second: a blank is a constructive superposition over the answer space, tense-free, an unlearned past as open as an unformed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posit the paper adds to the three postulates, the Union Principle: jointness is primitive and exclusion is an achievement. A classical "or" is a jointness whose alternatives carry declared mutual exclusions; a superposition is a jointness whose alternatives do not; the difference between them is written in the alternatives, not in the logic that composes them. So superposition splits into two regimes. Agreeing: cross content undeclared, the alternatives co-performed, interference. Disagreeing: each alternative states the negation of the others, weights over closed rooms, the classical or, what the coherent-versus-mixed contrast tracks physically. Observers hold agreeing superpositions of systems and stand relative to one another in disagreeing superposition; nothing ever collapses out of an agreeing one. Keep the two vocabularies at their levels: the regimes are categories of Aethic composition, definable before any kernel exists; coherence and decoherence are properties of a physical realization once the kernel is installed, and the paper never identifies the two by a biconditional. Grades of blankness, if asked: directly blank (not encoded anywhere in the Aethus) versus conceptually blank (retrieves the full answer space, the grade the second postulate names); a composite with one conjunct stated is directly blank but mixed, and the postulate reads a mixed attribute only by splitting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Wigner's friend is the cat with the box redesigned so that whether its records escape is the whole experiment. Two moves. The index: relative to Wigner the friend's laboratory stands in disagreeing superposition, one outcome holding and Wigner not in possession of which; relative to the friend, the outcome is stated. The records: the third postulate prunes an agreeing superposition over the friend's outcomes for the same reason it prunes cross-slit interference with a detector running, namely that every refinement retains an avenue to a separating record; sealing the lab now secures nothing, and "Wigner has not read it" is no better than "nobody has read the detector". The verdict is conditional on one physical premise, the record premise: an observer-grade record-bearing structure exports its records unblockably, so no admissible continuation both keeps the coherence and closes every record avenue. That is the sole structural divergence from universal unitarity and the place to press. Operationally: in the Frauchiger–Renner protocol the coin is heads one third, tails two thirds; the coherent assignment to the two labs is (h,down)+(t,down)+(t,up) over root three, the framework's assignment is the mixture of those three pockets at one third each. The superobservers measure in the ok/fail bases; joint distributions are one twelfth, one twelfth, one twelfth, three quarters against one quarter each. Under the coherent assignment ok-one implies spin up, which is the certainty step the paradox needs; under the mixture ok-one is compatible with both, so the chain does not start. The ok-ok cell, one twelfth versus one quarter, is the discriminator, and the paper's data package reproduces both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objection everyone raises first: isn't a "blank" just a value we don't know? The theorem says what that reading commits you to and shows the commitment is refuted. A lossless deflation supplies, for every Aethus in the refinement structure, a family of complete valuations: D1, noncontextual hidden values agreeing with stated entries; D2, no classical verdict changes on the declared fragment; D3, the framework's statistics are marginals of one probability measure, with measurement independence, the one premise external to the framework. By Fine's theorem the existence of such a joint distribution is equivalent to the CHSH inequalities, so S is at most 2; the singlet, from the framework's own kernel, saturates two root two, and experiment agrees. So no lossless deflation exists where Bell is violated. Part (b): where every correlation is Bell-bounded, the record-rich sector, the deflation does exist, the classical filtration. So the deflationist faces a dilemma: deflate everywhere and be refuted, or halt at the record-rich sector, conceding constructive blanks exactly where the statistics exceed the bounds, which is the agreeing sector. Grade: the theorem is conditional on Fine's theorem, measurement independence, and the Bell-violating statistics, all named on its face. The framework's own link is the identification of "blank as unknown" with D1 and D3.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postulates say collapse is. Stage one, agreeing superposition: cross content undeclared. Stage two, disagreeing: reached not by anything happening at a moment but by a separating record becoming obtainable in every refinement, which is the third postulate's checkmate; the framework calls this measurement, and it is indexed to accessibility over the whole declared future, not to proper time. Stage three: an index acquires the record and selects a pocket; that is observation, a transit between Aethae, and it is the only thing that ever "collapses", a selection along structure that was already disagreeing. Nothing coherent collapses, and no observer is ever in an agreeing superposition. The classical conflation of measurement with observation is what made the nested-observer cases feel paradoxical. "Aethically fixed" in stage two: the attribute is fixed in every pocket and the pockets agree wherever two observers could meet, by joint invalidity of the combinations in which they would disagree; this is not "truly determinate" relative to the outside index. And the tense claim: blankness is tense-free, so an unlearned past is exactly as open as an unformed future, which is why delayed choice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two-place notion, run outside physics. A counterfactual "if X were the case" is a perturbation of the Aethus: reopen the antecedent attribute to a blank intermediate, in the retrieval sense of the second postulate, with its supports cleared; restate the antecedent; let closure re-prune. The surviving pockets carry the would-consequences. The witness is four attributes: s stated, a law s implies y so y is in the closure with s as sole support, x and z blank, and the joint constraint that x, s and not-z is invalid. Perturb by x: s rests on nothing in the cleared scope so it stays, closure carries y, and x with s excludes not-z: so X gives y and X gives z. Perturb by x and y: the target is the composite, its intermediate is blank on both conjuncts so s is cleared; restating y does not bring s back; pockets with not-s have nothing for the constraint to bite on, and not-z survives. Cautious Monotony fails. Preferential consequence relations satisfy Cautious Monotony and ranked ones are preferential, so the would-clause is not representable by Lewis's or Stalnaker's semantics or by any smooth similarity ordering; rational monotony fails on the same instance. The one commitment is the dual-peg reading of "and" in an antecedent; whether bare English "if X and y" tracks it is an empirical question about English, not about the operator. The semantics paper has the model checked by script, including the comparison against the nearest Lewis-style model, and it is the subject of the companion ten-minute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so the audience can see the bill. Eight entries, in order of dependence. Three primitives: the index, the constructive blank, the primitive jointness of "or", each argued for on inductive ground and none claimed as proved. The quantifier form of the third postulate is derived by elimination within a stated class of refinement-based, weight-independent rules; that the rule lies in that class is the posit. One composition primitive gives the tree; one algebraic design choice, a commutative semiring without additive inverses, keeps validity separate from weight. One quantitative posit, the Feynman kernel over augmented paths, which the paper declines to derive from the logical postulates on the two-sectors ruling; given it, the observables axiom, the projection postulate, the state space and the Born rule are recovered on the finite path-kernel domain. And one bridge: a formally invalid Aethus is physically unrealizable, the single place the apparatus touches the world. The three absences are the central claim as an accounting fact: projection is entry four at work on a record, no-signaling is an identity of the recovery theorem, and the Born rule is the one weight law read at a record-restricted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would refute it, because a framework that changes a notion owes its critics a target. Four, each tied to a ledger entry. The third postulate: a valid Aethus with no safe child, an experiment in which a superposition survives a record every refinement can read. The Union Principle: an interference phenomenon in which the two composition laws fail to sort by record structure, a cross-term surviving a record or vanishing without one. The constructive blank: the deflationary reading succeeding where the reductio says it cannot, a single-sample-space model of the Bell statistics. The record premise, the one structural divergence from universal unitarity: an observer-grade system whose records can be coherently reversed, which the Frauchiger–Renner joint distribution would show in the ok-ok cell, one twelfth against one quarter. Then the one-sentence summary: not a new mechanism, a changed notion, with the bill itemized. Leave the ledger slide up for questions if there is time; the ten-minute companion talk takes the counterfactual semantics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B2A41"/>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B2A41"/>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slideLayout" Target="../slideLayouts/slideLayout2.xml"/><Relationship Id="rId2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8A2B"/>
                </a:solidFill>
                <a:latin typeface="IBM Plex Sans" pitchFamily="34" charset="0"/>
                <a:ea typeface="IBM Plex Sans" pitchFamily="34" charset="-122"/>
                <a:cs typeface="IBM Plex Sans" pitchFamily="34" charset="-120"/>
              </a:rPr>
              <a:t>A FIFTEEN-MINUTE INTRODUCTION</a:t>
            </a:r>
            <a:endParaRPr lang="en-US" sz="1200" dirty="0"/>
          </a:p>
        </p:txBody>
      </p:sp>
      <p:sp>
        <p:nvSpPr>
          <p:cNvPr id="3" name="Text 1"/>
          <p:cNvSpPr/>
          <p:nvPr>
            <p:ph type="title"/>
          </p:nvPr>
        </p:nvSpPr>
        <p:spPr>
          <a:xfrm>
            <a:off x="812800" y="256416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3EC"/>
                </a:solidFill>
                <a:latin typeface="Source Serif 4" pitchFamily="18" charset="0"/>
                <a:ea typeface="Source Serif 4" pitchFamily="18" charset="-122"/>
                <a:cs typeface="Source Serif 4" pitchFamily="18" charset="-120"/>
              </a:rPr>
              <a:t>Aethic Reasoning</a:t>
            </a:r>
            <a:endParaRPr lang="en-US" sz="5600" dirty="0"/>
          </a:p>
        </p:txBody>
      </p:sp>
      <p:sp>
        <p:nvSpPr>
          <p:cNvPr id="4" name="Text 2"/>
          <p:cNvSpPr/>
          <p:nvPr/>
        </p:nvSpPr>
        <p:spPr>
          <a:xfrm>
            <a:off x="812800" y="3514080"/>
            <a:ext cx="98107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2DC"/>
                </a:solidFill>
                <a:latin typeface="Source Serif 4" pitchFamily="18" charset="0"/>
                <a:ea typeface="Source Serif 4" pitchFamily="18" charset="-122"/>
                <a:cs typeface="Source Serif 4" pitchFamily="18" charset="-120"/>
              </a:rPr>
              <a:t>Determinacy as a relation to an information state, and what the quantum measurement problem looks like once it is.</a:t>
            </a:r>
            <a:endParaRPr lang="en-US" sz="2200" dirty="0"/>
          </a:p>
        </p:txBody>
      </p:sp>
      <p:sp>
        <p:nvSpPr>
          <p:cNvPr id="5" name="Text 3"/>
          <p:cNvSpPr/>
          <p:nvPr/>
        </p:nvSpPr>
        <p:spPr>
          <a:xfrm>
            <a:off x="812800" y="5778500"/>
            <a:ext cx="26271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2DC"/>
                </a:solidFill>
                <a:latin typeface="IBM Plex Sans" pitchFamily="34" charset="0"/>
                <a:ea typeface="IBM Plex Sans" pitchFamily="34" charset="-122"/>
                <a:cs typeface="IBM Plex Sans" pitchFamily="34" charset="-120"/>
              </a:rPr>
              <a:t>Ajax Benander  ·  aethus.org</a:t>
            </a:r>
            <a:endParaRPr lang="en-US" sz="1500" dirty="0"/>
          </a:p>
        </p:txBody>
      </p:sp>
      <p:sp>
        <p:nvSpPr>
          <p:cNvPr id="6" name="Text 4"/>
          <p:cNvSpPr/>
          <p:nvPr/>
        </p:nvSpPr>
        <p:spPr>
          <a:xfrm>
            <a:off x="3439914" y="5831880"/>
            <a:ext cx="793928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2DC"/>
                </a:solidFill>
                <a:latin typeface="IBM Plex Sans" pitchFamily="34" charset="0"/>
                <a:ea typeface="IBM Plex Sans" pitchFamily="34" charset="-122"/>
                <a:cs typeface="IBM Plex Sans" pitchFamily="34" charset="-120"/>
              </a:rPr>
              <a:t>Framework: </a:t>
            </a:r>
            <a:r>
              <a:rPr lang="en-US" sz="1200" i="1" dirty="0">
                <a:solidFill>
                  <a:srgbClr val="C9D2DC"/>
                </a:solidFill>
                <a:latin typeface="IBM Plex Sans" pitchFamily="34" charset="0"/>
                <a:ea typeface="IBM Plex Sans" pitchFamily="34" charset="-122"/>
                <a:cs typeface="IBM Plex Sans" pitchFamily="34" charset="-120"/>
              </a:rPr>
              <a:t>Aethic Reasoning</a:t>
            </a:r>
            <a:r>
              <a:rPr lang="en-US" sz="1200" dirty="0">
                <a:solidFill>
                  <a:srgbClr val="C9D2DC"/>
                </a:solidFill>
                <a:latin typeface="IBM Plex Sans" pitchFamily="34" charset="0"/>
                <a:ea typeface="IBM Plex Sans" pitchFamily="34" charset="-122"/>
                <a:cs typeface="IBM Plex Sans" pitchFamily="34" charset="-120"/>
              </a:rPr>
              <a:t>, with the extraction papers on determinacy, counterfactuals, causality and decision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THE RESULT FIRST: THE POWERSET INVALIDATION THEOREM</a:t>
            </a:r>
            <a:endParaRPr lang="en-US" sz="1200" dirty="0"/>
          </a:p>
        </p:txBody>
      </p:sp>
      <p:sp>
        <p:nvSpPr>
          <p:cNvPr id="3" name="Text 1"/>
          <p:cNvSpPr/>
          <p:nvPr>
            <p:ph type="title"/>
          </p:nvPr>
        </p:nvSpPr>
        <p:spPr>
          <a:xfrm>
            <a:off x="812800" y="1076920"/>
            <a:ext cx="10883392" cy="97532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The quantum–classical boundary is a partition, not a scale</a:t>
            </a:r>
            <a:endParaRPr lang="en-US" sz="3400" dirty="0"/>
          </a:p>
        </p:txBody>
      </p:sp>
      <p:sp>
        <p:nvSpPr>
          <p:cNvPr id="4" name="Shape 2"/>
          <p:cNvSpPr/>
          <p:nvPr/>
        </p:nvSpPr>
        <p:spPr>
          <a:xfrm>
            <a:off x="939800" y="3474641"/>
            <a:ext cx="279400" cy="279400"/>
          </a:xfrm>
          <a:prstGeom prst="roundRect">
            <a:avLst>
              <a:gd name="adj" fmla="val 50000"/>
            </a:avLst>
          </a:prstGeom>
          <a:solidFill>
            <a:srgbClr val="2E6F95"/>
          </a:solidFill>
          <a:ln/>
        </p:spPr>
      </p:sp>
      <p:sp>
        <p:nvSpPr>
          <p:cNvPr id="5" name="Text 3"/>
          <p:cNvSpPr/>
          <p:nvPr/>
        </p:nvSpPr>
        <p:spPr>
          <a:xfrm>
            <a:off x="787400" y="3792141"/>
            <a:ext cx="58420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source</a:t>
            </a:r>
            <a:endParaRPr lang="en-US" sz="1100" dirty="0"/>
          </a:p>
        </p:txBody>
      </p:sp>
      <p:pic>
        <p:nvPicPr>
          <p:cNvPr id="6" name="Image 0" descr="connector">    </p:cNvPr>
          <p:cNvPicPr>
            <a:picLocks noChangeAspect="1"/>
          </p:cNvPicPr>
          <p:nvPr/>
        </p:nvPicPr>
        <p:blipFill>
          <a:blip r:embed="rId1"/>
          <a:srcRect l="0" r="0" t="0" b="0"/>
          <a:stretch/>
        </p:blipFill>
        <p:spPr>
          <a:xfrm>
            <a:off x="1168400" y="2433241"/>
            <a:ext cx="1155700" cy="1231900"/>
          </a:xfrm>
          <a:prstGeom prst="rect">
            <a:avLst/>
          </a:prstGeom>
        </p:spPr>
      </p:pic>
      <p:pic>
        <p:nvPicPr>
          <p:cNvPr id="7" name="Image 1" descr="connector">    </p:cNvPr>
          <p:cNvPicPr>
            <a:picLocks noChangeAspect="1"/>
          </p:cNvPicPr>
          <p:nvPr/>
        </p:nvPicPr>
        <p:blipFill>
          <a:blip r:embed="rId2"/>
          <a:srcRect l="0" r="0" t="0" b="0"/>
          <a:stretch/>
        </p:blipFill>
        <p:spPr>
          <a:xfrm>
            <a:off x="1168400" y="3068241"/>
            <a:ext cx="1155700" cy="596900"/>
          </a:xfrm>
          <a:prstGeom prst="rect">
            <a:avLst/>
          </a:prstGeom>
        </p:spPr>
      </p:pic>
      <p:pic>
        <p:nvPicPr>
          <p:cNvPr id="8" name="Image 2" descr="connector">    </p:cNvPr>
          <p:cNvPicPr>
            <a:picLocks noChangeAspect="1"/>
          </p:cNvPicPr>
          <p:nvPr/>
        </p:nvPicPr>
        <p:blipFill>
          <a:blip r:embed="rId3"/>
          <a:srcRect l="0" r="0" t="0" b="0"/>
          <a:stretch/>
        </p:blipFill>
        <p:spPr>
          <a:xfrm>
            <a:off x="1168400" y="3563541"/>
            <a:ext cx="1155700" cy="241300"/>
          </a:xfrm>
          <a:prstGeom prst="rect">
            <a:avLst/>
          </a:prstGeom>
        </p:spPr>
      </p:pic>
      <p:pic>
        <p:nvPicPr>
          <p:cNvPr id="9" name="Image 3" descr="connector">    </p:cNvPr>
          <p:cNvPicPr>
            <a:picLocks noChangeAspect="1"/>
          </p:cNvPicPr>
          <p:nvPr/>
        </p:nvPicPr>
        <p:blipFill>
          <a:blip r:embed="rId4"/>
          <a:srcRect l="0" r="0" t="0" b="0"/>
          <a:stretch/>
        </p:blipFill>
        <p:spPr>
          <a:xfrm>
            <a:off x="1168400" y="3563541"/>
            <a:ext cx="1155700" cy="876300"/>
          </a:xfrm>
          <a:prstGeom prst="rect">
            <a:avLst/>
          </a:prstGeom>
        </p:spPr>
      </p:pic>
      <p:sp>
        <p:nvSpPr>
          <p:cNvPr id="10" name="Shape 4"/>
          <p:cNvSpPr/>
          <p:nvPr/>
        </p:nvSpPr>
        <p:spPr>
          <a:xfrm>
            <a:off x="2181225" y="2214166"/>
            <a:ext cx="641350" cy="1174750"/>
          </a:xfrm>
          <a:prstGeom prst="roundRect">
            <a:avLst>
              <a:gd name="adj" fmla="val 10396"/>
            </a:avLst>
          </a:prstGeom>
          <a:noFill/>
          <a:ln w="19050">
            <a:solidFill>
              <a:srgbClr val="C98A2B"/>
            </a:solidFill>
            <a:prstDash val="dash"/>
          </a:ln>
        </p:spPr>
      </p:sp>
      <p:sp>
        <p:nvSpPr>
          <p:cNvPr id="11" name="Text 5"/>
          <p:cNvSpPr/>
          <p:nvPr/>
        </p:nvSpPr>
        <p:spPr>
          <a:xfrm>
            <a:off x="2279650" y="2312591"/>
            <a:ext cx="444500" cy="342900"/>
          </a:xfrm>
          <a:prstGeom prst="roundRect">
            <a:avLst>
              <a:gd name="adj" fmla="val 12963"/>
            </a:avLst>
          </a:prstGeom>
          <a:solidFill>
            <a:srgbClr val="FBFAF6"/>
          </a:solidFill>
          <a:ln w="12700">
            <a:solidFill>
              <a:srgbClr val="1B2A41"/>
            </a:solidFill>
            <a:prstDash val="solid"/>
          </a:ln>
        </p:spPr>
        <p:txBody>
          <a:bodyPr wrap="square" lIns="0" tIns="0" rIns="0" bIns="0" rtlCol="0" anchor="ctr">
            <a:normAutofit/>
          </a:bodyPr>
          <a:lstStyle/>
          <a:p>
            <a:pPr algn="ctr"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A</a:t>
            </a:r>
            <a:endParaRPr lang="en-US" sz="1400" dirty="0"/>
          </a:p>
        </p:txBody>
      </p:sp>
      <p:sp>
        <p:nvSpPr>
          <p:cNvPr id="12" name="Text 6"/>
          <p:cNvSpPr/>
          <p:nvPr/>
        </p:nvSpPr>
        <p:spPr>
          <a:xfrm>
            <a:off x="2279650" y="2947591"/>
            <a:ext cx="444500" cy="342900"/>
          </a:xfrm>
          <a:prstGeom prst="roundRect">
            <a:avLst>
              <a:gd name="adj" fmla="val 12963"/>
            </a:avLst>
          </a:prstGeom>
          <a:solidFill>
            <a:srgbClr val="FBFAF6"/>
          </a:solidFill>
          <a:ln w="12700">
            <a:solidFill>
              <a:srgbClr val="1B2A41"/>
            </a:solidFill>
            <a:prstDash val="solid"/>
          </a:ln>
        </p:spPr>
        <p:txBody>
          <a:bodyPr wrap="square" lIns="0" tIns="0" rIns="0" bIns="0" rtlCol="0" anchor="ctr">
            <a:normAutofit/>
          </a:bodyPr>
          <a:lstStyle/>
          <a:p>
            <a:pPr algn="ctr"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B</a:t>
            </a:r>
            <a:endParaRPr lang="en-US" sz="1400" dirty="0"/>
          </a:p>
        </p:txBody>
      </p:sp>
      <p:sp>
        <p:nvSpPr>
          <p:cNvPr id="13" name="Text 7"/>
          <p:cNvSpPr/>
          <p:nvPr/>
        </p:nvSpPr>
        <p:spPr>
          <a:xfrm>
            <a:off x="2279650" y="3582591"/>
            <a:ext cx="444500" cy="342900"/>
          </a:xfrm>
          <a:prstGeom prst="roundRect">
            <a:avLst>
              <a:gd name="adj" fmla="val 12963"/>
            </a:avLst>
          </a:prstGeom>
          <a:solidFill>
            <a:srgbClr val="FBFAF6"/>
          </a:solidFill>
          <a:ln w="12700">
            <a:solidFill>
              <a:srgbClr val="1B2A41"/>
            </a:solidFill>
            <a:prstDash val="solid"/>
          </a:ln>
        </p:spPr>
        <p:txBody>
          <a:bodyPr wrap="square" lIns="0" tIns="0" rIns="0" bIns="0" rtlCol="0" anchor="ctr">
            <a:normAutofit/>
          </a:bodyPr>
          <a:lstStyle/>
          <a:p>
            <a:pPr algn="ctr"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C</a:t>
            </a:r>
            <a:endParaRPr lang="en-US" sz="1400" dirty="0"/>
          </a:p>
        </p:txBody>
      </p:sp>
      <p:sp>
        <p:nvSpPr>
          <p:cNvPr id="14" name="Text 8"/>
          <p:cNvSpPr/>
          <p:nvPr/>
        </p:nvSpPr>
        <p:spPr>
          <a:xfrm>
            <a:off x="2279650" y="4217591"/>
            <a:ext cx="444500" cy="342900"/>
          </a:xfrm>
          <a:prstGeom prst="roundRect">
            <a:avLst>
              <a:gd name="adj" fmla="val 12963"/>
            </a:avLst>
          </a:prstGeom>
          <a:solidFill>
            <a:srgbClr val="FBFAF6"/>
          </a:solidFill>
          <a:ln w="12700">
            <a:solidFill>
              <a:srgbClr val="1B2A41"/>
            </a:solidFill>
            <a:prstDash val="solid"/>
          </a:ln>
        </p:spPr>
        <p:txBody>
          <a:bodyPr wrap="square" lIns="0" tIns="0" rIns="0" bIns="0" rtlCol="0" anchor="ctr">
            <a:normAutofit/>
          </a:bodyPr>
          <a:lstStyle/>
          <a:p>
            <a:pPr algn="ctr"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D</a:t>
            </a:r>
            <a:endParaRPr lang="en-US" sz="1400" dirty="0"/>
          </a:p>
        </p:txBody>
      </p:sp>
      <p:sp>
        <p:nvSpPr>
          <p:cNvPr id="15" name="Text 9"/>
          <p:cNvSpPr/>
          <p:nvPr/>
        </p:nvSpPr>
        <p:spPr>
          <a:xfrm>
            <a:off x="2908300" y="2230041"/>
            <a:ext cx="1066800" cy="41652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98A2B"/>
                </a:solidFill>
                <a:latin typeface="IBM Plex Sans" pitchFamily="34" charset="0"/>
                <a:ea typeface="IBM Plex Sans" pitchFamily="34" charset="-122"/>
                <a:cs typeface="IBM Plex Sans" pitchFamily="34" charset="-120"/>
              </a:rPr>
              <a:t>detector d fires on A ∨ B</a:t>
            </a:r>
            <a:endParaRPr lang="en-US" sz="1100" dirty="0"/>
          </a:p>
        </p:txBody>
      </p:sp>
      <p:sp>
        <p:nvSpPr>
          <p:cNvPr id="16" name="Text 10"/>
          <p:cNvSpPr/>
          <p:nvPr/>
        </p:nvSpPr>
        <p:spPr>
          <a:xfrm>
            <a:off x="2908300" y="2788841"/>
            <a:ext cx="1066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A41"/>
                </a:solidFill>
                <a:latin typeface="IBM Plex Sans" pitchFamily="34" charset="0"/>
                <a:ea typeface="IBM Plex Sans" pitchFamily="34" charset="-122"/>
                <a:cs typeface="IBM Plex Sans" pitchFamily="34" charset="-120"/>
              </a:rPr>
              <a:t>E₁ = {A, B}</a:t>
            </a:r>
            <a:endParaRPr lang="en-US" sz="1200" dirty="0"/>
          </a:p>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σ = (1)</a:t>
            </a:r>
            <a:endParaRPr lang="en-US" sz="1200" dirty="0"/>
          </a:p>
        </p:txBody>
      </p:sp>
      <p:sp>
        <p:nvSpPr>
          <p:cNvPr id="17" name="Text 11"/>
          <p:cNvSpPr/>
          <p:nvPr/>
        </p:nvSpPr>
        <p:spPr>
          <a:xfrm>
            <a:off x="2908300" y="3855641"/>
            <a:ext cx="1066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A41"/>
                </a:solidFill>
                <a:latin typeface="IBM Plex Sans" pitchFamily="34" charset="0"/>
                <a:ea typeface="IBM Plex Sans" pitchFamily="34" charset="-122"/>
                <a:cs typeface="IBM Plex Sans" pitchFamily="34" charset="-120"/>
              </a:rPr>
              <a:t>E₂ = {C, D}</a:t>
            </a:r>
            <a:endParaRPr lang="en-US" sz="1200" dirty="0"/>
          </a:p>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σ = (0)</a:t>
            </a:r>
            <a:endParaRPr lang="en-US" sz="1200" dirty="0"/>
          </a:p>
        </p:txBody>
      </p:sp>
      <p:sp>
        <p:nvSpPr>
          <p:cNvPr id="18" name="Shape 12"/>
          <p:cNvSpPr/>
          <p:nvPr/>
        </p:nvSpPr>
        <p:spPr>
          <a:xfrm>
            <a:off x="3987800" y="2204641"/>
            <a:ext cx="76200" cy="2463800"/>
          </a:xfrm>
          <a:prstGeom prst="roundRect">
            <a:avLst>
              <a:gd name="adj" fmla="val 33333"/>
            </a:avLst>
          </a:prstGeom>
          <a:solidFill>
            <a:srgbClr val="1B2A41"/>
          </a:solidFill>
          <a:ln/>
        </p:spPr>
      </p:sp>
      <p:sp>
        <p:nvSpPr>
          <p:cNvPr id="19" name="Text 13"/>
          <p:cNvSpPr/>
          <p:nvPr/>
        </p:nvSpPr>
        <p:spPr>
          <a:xfrm>
            <a:off x="3708400" y="4706541"/>
            <a:ext cx="55880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screen</a:t>
            </a:r>
            <a:endParaRPr lang="en-US" sz="1100" dirty="0"/>
          </a:p>
        </p:txBody>
      </p:sp>
      <p:sp>
        <p:nvSpPr>
          <p:cNvPr id="20" name="Text 14"/>
          <p:cNvSpPr/>
          <p:nvPr/>
        </p:nvSpPr>
        <p:spPr>
          <a:xfrm>
            <a:off x="4470400" y="2284661"/>
            <a:ext cx="7493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 = 0</a:t>
            </a:r>
            <a:endParaRPr lang="en-US" sz="1100" dirty="0"/>
          </a:p>
        </p:txBody>
      </p:sp>
      <p:sp>
        <p:nvSpPr>
          <p:cNvPr id="21" name="Text 15"/>
          <p:cNvSpPr/>
          <p:nvPr/>
        </p:nvSpPr>
        <p:spPr>
          <a:xfrm>
            <a:off x="5295900" y="2204641"/>
            <a:ext cx="711200" cy="355600"/>
          </a:xfrm>
          <a:prstGeom prst="roundRect">
            <a:avLst>
              <a:gd name="adj" fmla="val 14286"/>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t>
            </a:r>
            <a:endParaRPr lang="en-US" sz="1300" dirty="0"/>
          </a:p>
        </p:txBody>
      </p:sp>
      <p:sp>
        <p:nvSpPr>
          <p:cNvPr id="22" name="Text 16"/>
          <p:cNvSpPr/>
          <p:nvPr/>
        </p:nvSpPr>
        <p:spPr>
          <a:xfrm>
            <a:off x="4470400" y="2729161"/>
            <a:ext cx="7493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 = 1</a:t>
            </a:r>
            <a:endParaRPr lang="en-US" sz="1100" dirty="0"/>
          </a:p>
        </p:txBody>
      </p:sp>
      <p:sp>
        <p:nvSpPr>
          <p:cNvPr id="23" name="Text 17"/>
          <p:cNvSpPr/>
          <p:nvPr/>
        </p:nvSpPr>
        <p:spPr>
          <a:xfrm>
            <a:off x="5295900" y="2649141"/>
            <a:ext cx="711200" cy="355600"/>
          </a:xfrm>
          <a:prstGeom prst="roundRect">
            <a:avLst>
              <a:gd name="adj" fmla="val 14286"/>
            </a:avLst>
          </a:prstGeom>
          <a:solidFill>
            <a:srgbClr val="C98A2B"/>
          </a:solidFill>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A</a:t>
            </a:r>
            <a:endParaRPr lang="en-US" sz="1300" dirty="0"/>
          </a:p>
        </p:txBody>
      </p:sp>
      <p:sp>
        <p:nvSpPr>
          <p:cNvPr id="24" name="Text 18"/>
          <p:cNvSpPr/>
          <p:nvPr/>
        </p:nvSpPr>
        <p:spPr>
          <a:xfrm>
            <a:off x="6134100" y="2649141"/>
            <a:ext cx="711200" cy="355600"/>
          </a:xfrm>
          <a:prstGeom prst="roundRect">
            <a:avLst>
              <a:gd name="adj" fmla="val 14286"/>
            </a:avLst>
          </a:prstGeom>
          <a:solidFill>
            <a:srgbClr val="C98A2B"/>
          </a:solidFill>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B</a:t>
            </a:r>
            <a:endParaRPr lang="en-US" sz="1300" dirty="0"/>
          </a:p>
        </p:txBody>
      </p:sp>
      <p:sp>
        <p:nvSpPr>
          <p:cNvPr id="25" name="Text 19"/>
          <p:cNvSpPr/>
          <p:nvPr/>
        </p:nvSpPr>
        <p:spPr>
          <a:xfrm>
            <a:off x="6972300" y="2649141"/>
            <a:ext cx="711200" cy="355600"/>
          </a:xfrm>
          <a:prstGeom prst="roundRect">
            <a:avLst>
              <a:gd name="adj" fmla="val 14286"/>
            </a:avLst>
          </a:prstGeom>
          <a:solidFill>
            <a:srgbClr val="C98A2B"/>
          </a:solidFill>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C</a:t>
            </a:r>
            <a:endParaRPr lang="en-US" sz="1300" dirty="0"/>
          </a:p>
        </p:txBody>
      </p:sp>
      <p:sp>
        <p:nvSpPr>
          <p:cNvPr id="26" name="Text 20"/>
          <p:cNvSpPr/>
          <p:nvPr/>
        </p:nvSpPr>
        <p:spPr>
          <a:xfrm>
            <a:off x="7810500" y="2649141"/>
            <a:ext cx="711200" cy="355600"/>
          </a:xfrm>
          <a:prstGeom prst="roundRect">
            <a:avLst>
              <a:gd name="adj" fmla="val 14286"/>
            </a:avLst>
          </a:prstGeom>
          <a:solidFill>
            <a:srgbClr val="C98A2B"/>
          </a:solidFill>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D</a:t>
            </a:r>
            <a:endParaRPr lang="en-US" sz="1300" dirty="0"/>
          </a:p>
        </p:txBody>
      </p:sp>
      <p:sp>
        <p:nvSpPr>
          <p:cNvPr id="27" name="Text 21"/>
          <p:cNvSpPr/>
          <p:nvPr/>
        </p:nvSpPr>
        <p:spPr>
          <a:xfrm>
            <a:off x="4470400" y="3173661"/>
            <a:ext cx="7493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 = 2</a:t>
            </a:r>
            <a:endParaRPr lang="en-US" sz="1100" dirty="0"/>
          </a:p>
        </p:txBody>
      </p:sp>
      <p:sp>
        <p:nvSpPr>
          <p:cNvPr id="28" name="Text 22"/>
          <p:cNvSpPr/>
          <p:nvPr/>
        </p:nvSpPr>
        <p:spPr>
          <a:xfrm>
            <a:off x="5295900" y="3093641"/>
            <a:ext cx="711200" cy="355600"/>
          </a:xfrm>
          <a:prstGeom prst="roundRect">
            <a:avLst>
              <a:gd name="adj" fmla="val 14286"/>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AB</a:t>
            </a:r>
            <a:endParaRPr lang="en-US" sz="1300" dirty="0"/>
          </a:p>
        </p:txBody>
      </p:sp>
      <p:sp>
        <p:nvSpPr>
          <p:cNvPr id="29" name="Text 23"/>
          <p:cNvSpPr/>
          <p:nvPr/>
        </p:nvSpPr>
        <p:spPr>
          <a:xfrm>
            <a:off x="6134100" y="3093641"/>
            <a:ext cx="711200" cy="355600"/>
          </a:xfrm>
          <a:prstGeom prst="roundRect">
            <a:avLst>
              <a:gd name="adj" fmla="val 14286"/>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CD</a:t>
            </a:r>
            <a:endParaRPr lang="en-US" sz="1300" dirty="0"/>
          </a:p>
        </p:txBody>
      </p:sp>
      <p:sp>
        <p:nvSpPr>
          <p:cNvPr id="30" name="Text 24"/>
          <p:cNvSpPr/>
          <p:nvPr/>
        </p:nvSpPr>
        <p:spPr>
          <a:xfrm>
            <a:off x="6972300" y="30936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AC</a:t>
            </a:r>
            <a:endParaRPr lang="en-US" sz="1300" dirty="0"/>
          </a:p>
        </p:txBody>
      </p:sp>
      <p:sp>
        <p:nvSpPr>
          <p:cNvPr id="31" name="Text 25"/>
          <p:cNvSpPr/>
          <p:nvPr/>
        </p:nvSpPr>
        <p:spPr>
          <a:xfrm>
            <a:off x="7810500" y="30936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AD</a:t>
            </a:r>
            <a:endParaRPr lang="en-US" sz="1300" dirty="0"/>
          </a:p>
        </p:txBody>
      </p:sp>
      <p:sp>
        <p:nvSpPr>
          <p:cNvPr id="32" name="Text 26"/>
          <p:cNvSpPr/>
          <p:nvPr/>
        </p:nvSpPr>
        <p:spPr>
          <a:xfrm>
            <a:off x="8648700" y="30936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BC</a:t>
            </a:r>
            <a:endParaRPr lang="en-US" sz="1300" dirty="0"/>
          </a:p>
        </p:txBody>
      </p:sp>
      <p:sp>
        <p:nvSpPr>
          <p:cNvPr id="33" name="Text 27"/>
          <p:cNvSpPr/>
          <p:nvPr/>
        </p:nvSpPr>
        <p:spPr>
          <a:xfrm>
            <a:off x="9486900" y="30936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BD</a:t>
            </a:r>
            <a:endParaRPr lang="en-US" sz="1300" dirty="0"/>
          </a:p>
        </p:txBody>
      </p:sp>
      <p:sp>
        <p:nvSpPr>
          <p:cNvPr id="34" name="Text 28"/>
          <p:cNvSpPr/>
          <p:nvPr/>
        </p:nvSpPr>
        <p:spPr>
          <a:xfrm>
            <a:off x="4470400" y="3618161"/>
            <a:ext cx="7493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 = 3</a:t>
            </a:r>
            <a:endParaRPr lang="en-US" sz="1100" dirty="0"/>
          </a:p>
        </p:txBody>
      </p:sp>
      <p:sp>
        <p:nvSpPr>
          <p:cNvPr id="35" name="Text 29"/>
          <p:cNvSpPr/>
          <p:nvPr/>
        </p:nvSpPr>
        <p:spPr>
          <a:xfrm>
            <a:off x="5295900" y="35381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ABC</a:t>
            </a:r>
            <a:endParaRPr lang="en-US" sz="1300" dirty="0"/>
          </a:p>
        </p:txBody>
      </p:sp>
      <p:sp>
        <p:nvSpPr>
          <p:cNvPr id="36" name="Text 30"/>
          <p:cNvSpPr/>
          <p:nvPr/>
        </p:nvSpPr>
        <p:spPr>
          <a:xfrm>
            <a:off x="6134100" y="35381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ABD</a:t>
            </a:r>
            <a:endParaRPr lang="en-US" sz="1300" dirty="0"/>
          </a:p>
        </p:txBody>
      </p:sp>
      <p:sp>
        <p:nvSpPr>
          <p:cNvPr id="37" name="Text 31"/>
          <p:cNvSpPr/>
          <p:nvPr/>
        </p:nvSpPr>
        <p:spPr>
          <a:xfrm>
            <a:off x="6972300" y="35381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ACD</a:t>
            </a:r>
            <a:endParaRPr lang="en-US" sz="1300" dirty="0"/>
          </a:p>
        </p:txBody>
      </p:sp>
      <p:sp>
        <p:nvSpPr>
          <p:cNvPr id="38" name="Text 32"/>
          <p:cNvSpPr/>
          <p:nvPr/>
        </p:nvSpPr>
        <p:spPr>
          <a:xfrm>
            <a:off x="7810500" y="35381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BCD</a:t>
            </a:r>
            <a:endParaRPr lang="en-US" sz="1300" dirty="0"/>
          </a:p>
        </p:txBody>
      </p:sp>
      <p:sp>
        <p:nvSpPr>
          <p:cNvPr id="39" name="Text 33"/>
          <p:cNvSpPr/>
          <p:nvPr/>
        </p:nvSpPr>
        <p:spPr>
          <a:xfrm>
            <a:off x="4470400" y="4062661"/>
            <a:ext cx="7493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 = 4</a:t>
            </a:r>
            <a:endParaRPr lang="en-US" sz="1100" dirty="0"/>
          </a:p>
        </p:txBody>
      </p:sp>
      <p:sp>
        <p:nvSpPr>
          <p:cNvPr id="40" name="Text 34"/>
          <p:cNvSpPr/>
          <p:nvPr/>
        </p:nvSpPr>
        <p:spPr>
          <a:xfrm>
            <a:off x="5295900" y="3982641"/>
            <a:ext cx="711200" cy="355600"/>
          </a:xfrm>
          <a:prstGeom prst="roundRect">
            <a:avLst>
              <a:gd name="adj" fmla="val 14286"/>
            </a:avLst>
          </a:prstGeom>
          <a:solidFill>
            <a:srgbClr val="9E3B2F"/>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ABCD</a:t>
            </a:r>
            <a:endParaRPr lang="en-US" sz="1300" dirty="0"/>
          </a:p>
        </p:txBody>
      </p:sp>
      <p:sp>
        <p:nvSpPr>
          <p:cNvPr id="41" name="Text 35"/>
          <p:cNvSpPr/>
          <p:nvPr/>
        </p:nvSpPr>
        <p:spPr>
          <a:xfrm>
            <a:off x="4470400" y="4465241"/>
            <a:ext cx="71160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All 16 claims "the traversal is coherent over exactly T", sorted by two rules and nothing else: no size, no mass, no observer.</a:t>
            </a:r>
            <a:endParaRPr lang="en-US" sz="1200" dirty="0"/>
          </a:p>
        </p:txBody>
      </p:sp>
      <p:sp>
        <p:nvSpPr>
          <p:cNvPr id="42" name="Shape 36"/>
          <p:cNvSpPr/>
          <p:nvPr/>
        </p:nvSpPr>
        <p:spPr>
          <a:xfrm>
            <a:off x="812800" y="5069681"/>
            <a:ext cx="3420517" cy="932111"/>
          </a:xfrm>
          <a:prstGeom prst="roundRect">
            <a:avLst>
              <a:gd name="adj" fmla="val 8175"/>
            </a:avLst>
          </a:prstGeom>
          <a:solidFill>
            <a:srgbClr val="2E6F95"/>
          </a:solidFill>
          <a:ln/>
        </p:spPr>
      </p:sp>
      <p:sp>
        <p:nvSpPr>
          <p:cNvPr id="43" name="Text 37"/>
          <p:cNvSpPr/>
          <p:nvPr/>
        </p:nvSpPr>
        <p:spPr>
          <a:xfrm>
            <a:off x="977900" y="5196681"/>
            <a:ext cx="318302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 valid: T = ∅ or T = one whole class</a:t>
            </a:r>
            <a:endParaRPr lang="en-US" sz="1300" dirty="0"/>
          </a:p>
        </p:txBody>
      </p:sp>
      <p:sp>
        <p:nvSpPr>
          <p:cNvPr id="44" name="Text 38"/>
          <p:cNvSpPr/>
          <p:nvPr/>
        </p:nvSpPr>
        <p:spPr>
          <a:xfrm>
            <a:off x="977900" y="5465911"/>
            <a:ext cx="3183026"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DCE6EE"/>
                </a:solidFill>
                <a:latin typeface="IBM Plex Sans" pitchFamily="34" charset="0"/>
                <a:ea typeface="IBM Plex Sans" pitchFamily="34" charset="-122"/>
                <a:cs typeface="IBM Plex Sans" pitchFamily="34" charset="-120"/>
              </a:rPr>
              <a:t>no refinement can expose a contradiction</a:t>
            </a:r>
            <a:endParaRPr lang="en-US" sz="1150" dirty="0"/>
          </a:p>
        </p:txBody>
      </p:sp>
      <p:sp>
        <p:nvSpPr>
          <p:cNvPr id="45" name="Shape 39"/>
          <p:cNvSpPr/>
          <p:nvPr/>
        </p:nvSpPr>
        <p:spPr>
          <a:xfrm>
            <a:off x="4385717" y="5069681"/>
            <a:ext cx="3420566" cy="932111"/>
          </a:xfrm>
          <a:prstGeom prst="roundRect">
            <a:avLst>
              <a:gd name="adj" fmla="val 8175"/>
            </a:avLst>
          </a:prstGeom>
          <a:solidFill>
            <a:srgbClr val="C98A2B"/>
          </a:solidFill>
          <a:ln/>
        </p:spPr>
      </p:sp>
      <p:sp>
        <p:nvSpPr>
          <p:cNvPr id="46" name="Text 40"/>
          <p:cNvSpPr/>
          <p:nvPr/>
        </p:nvSpPr>
        <p:spPr>
          <a:xfrm>
            <a:off x="4550817" y="5196681"/>
            <a:ext cx="318307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 rule 2: a proper part of a class</a:t>
            </a:r>
            <a:endParaRPr lang="en-US" sz="1300" dirty="0"/>
          </a:p>
        </p:txBody>
      </p:sp>
      <p:sp>
        <p:nvSpPr>
          <p:cNvPr id="47" name="Text 41"/>
          <p:cNvSpPr/>
          <p:nvPr/>
        </p:nvSpPr>
        <p:spPr>
          <a:xfrm>
            <a:off x="4550817" y="5465911"/>
            <a:ext cx="3183077"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B2A41"/>
                </a:solidFill>
                <a:latin typeface="IBM Plex Sans" pitchFamily="34" charset="0"/>
                <a:ea typeface="IBM Plex Sans" pitchFamily="34" charset="-122"/>
                <a:cs typeface="IBM Plex Sans" pitchFamily="34" charset="-120"/>
              </a:rPr>
              <a:t>a line drawn where no record ever could; over-specification</a:t>
            </a:r>
            <a:endParaRPr lang="en-US" sz="1150" dirty="0"/>
          </a:p>
        </p:txBody>
      </p:sp>
      <p:sp>
        <p:nvSpPr>
          <p:cNvPr id="48" name="Shape 42"/>
          <p:cNvSpPr/>
          <p:nvPr/>
        </p:nvSpPr>
        <p:spPr>
          <a:xfrm>
            <a:off x="7958683" y="5069681"/>
            <a:ext cx="3420517" cy="932111"/>
          </a:xfrm>
          <a:prstGeom prst="roundRect">
            <a:avLst>
              <a:gd name="adj" fmla="val 8175"/>
            </a:avLst>
          </a:prstGeom>
          <a:solidFill>
            <a:srgbClr val="9E3B2F"/>
          </a:solidFill>
          <a:ln/>
        </p:spPr>
      </p:sp>
      <p:sp>
        <p:nvSpPr>
          <p:cNvPr id="49" name="Text 43"/>
          <p:cNvSpPr/>
          <p:nvPr/>
        </p:nvSpPr>
        <p:spPr>
          <a:xfrm>
            <a:off x="8123783" y="5196681"/>
            <a:ext cx="318302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 rule 3: spans two classes</a:t>
            </a:r>
            <a:endParaRPr lang="en-US" sz="1300" dirty="0"/>
          </a:p>
        </p:txBody>
      </p:sp>
      <p:sp>
        <p:nvSpPr>
          <p:cNvPr id="50" name="Text 44"/>
          <p:cNvSpPr/>
          <p:nvPr/>
        </p:nvSpPr>
        <p:spPr>
          <a:xfrm>
            <a:off x="8123783" y="5465911"/>
            <a:ext cx="3183026"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1DDD8"/>
                </a:solidFill>
                <a:latin typeface="IBM Plex Sans" pitchFamily="34" charset="0"/>
                <a:ea typeface="IBM Plex Sans" pitchFamily="34" charset="-122"/>
                <a:cs typeface="IBM Plex Sans" pitchFamily="34" charset="-120"/>
              </a:rPr>
              <a:t>some record separates them in every future; dead now, not later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7D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Move a record, move the boundary</a:t>
            </a:r>
            <a:endParaRPr lang="en-US" sz="3400" dirty="0"/>
          </a:p>
        </p:txBody>
      </p:sp>
      <p:sp>
        <p:nvSpPr>
          <p:cNvPr id="3" name="Shape 1"/>
          <p:cNvSpPr/>
          <p:nvPr/>
        </p:nvSpPr>
        <p:spPr>
          <a:xfrm>
            <a:off x="812800" y="1541760"/>
            <a:ext cx="3352800" cy="3169642"/>
          </a:xfrm>
          <a:prstGeom prst="roundRect">
            <a:avLst>
              <a:gd name="adj" fmla="val 3205"/>
            </a:avLst>
          </a:prstGeom>
          <a:solidFill>
            <a:srgbClr val="FBFAF6"/>
          </a:solidFill>
          <a:ln/>
        </p:spPr>
      </p:sp>
      <p:sp>
        <p:nvSpPr>
          <p:cNvPr id="4" name="Text 2"/>
          <p:cNvSpPr/>
          <p:nvPr/>
        </p:nvSpPr>
        <p:spPr>
          <a:xfrm>
            <a:off x="1016000" y="171956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NO DETECTOR</a:t>
            </a:r>
            <a:endParaRPr lang="en-US" sz="1200" dirty="0"/>
          </a:p>
        </p:txBody>
      </p:sp>
      <p:sp>
        <p:nvSpPr>
          <p:cNvPr id="5" name="Shape 3"/>
          <p:cNvSpPr/>
          <p:nvPr/>
        </p:nvSpPr>
        <p:spPr>
          <a:xfrm>
            <a:off x="1025525" y="2082105"/>
            <a:ext cx="2254250" cy="552450"/>
          </a:xfrm>
          <a:prstGeom prst="roundRect">
            <a:avLst>
              <a:gd name="adj" fmla="val 12069"/>
            </a:avLst>
          </a:prstGeom>
          <a:noFill/>
          <a:ln w="19050">
            <a:solidFill>
              <a:srgbClr val="2E6F95"/>
            </a:solidFill>
            <a:prstDash val="dash"/>
          </a:ln>
        </p:spPr>
      </p:sp>
      <p:sp>
        <p:nvSpPr>
          <p:cNvPr id="6" name="Text 4"/>
          <p:cNvSpPr/>
          <p:nvPr/>
        </p:nvSpPr>
        <p:spPr>
          <a:xfrm>
            <a:off x="11303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A</a:t>
            </a:r>
            <a:endParaRPr lang="en-US" sz="1300" dirty="0"/>
          </a:p>
        </p:txBody>
      </p:sp>
      <p:sp>
        <p:nvSpPr>
          <p:cNvPr id="7" name="Text 5"/>
          <p:cNvSpPr/>
          <p:nvPr/>
        </p:nvSpPr>
        <p:spPr>
          <a:xfrm>
            <a:off x="16637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B</a:t>
            </a:r>
            <a:endParaRPr lang="en-US" sz="1300" dirty="0"/>
          </a:p>
        </p:txBody>
      </p:sp>
      <p:sp>
        <p:nvSpPr>
          <p:cNvPr id="8" name="Text 6"/>
          <p:cNvSpPr/>
          <p:nvPr/>
        </p:nvSpPr>
        <p:spPr>
          <a:xfrm>
            <a:off x="21971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C</a:t>
            </a:r>
            <a:endParaRPr lang="en-US" sz="1300" dirty="0"/>
          </a:p>
        </p:txBody>
      </p:sp>
      <p:sp>
        <p:nvSpPr>
          <p:cNvPr id="9" name="Text 7"/>
          <p:cNvSpPr/>
          <p:nvPr/>
        </p:nvSpPr>
        <p:spPr>
          <a:xfrm>
            <a:off x="27305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D</a:t>
            </a:r>
            <a:endParaRPr lang="en-US" sz="1300" dirty="0"/>
          </a:p>
        </p:txBody>
      </p:sp>
      <p:sp>
        <p:nvSpPr>
          <p:cNvPr id="10" name="Text 8"/>
          <p:cNvSpPr/>
          <p:nvPr/>
        </p:nvSpPr>
        <p:spPr>
          <a:xfrm>
            <a:off x="1016000" y="2783780"/>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class</a:t>
            </a:r>
            <a:endParaRPr lang="en-US" sz="1200" dirty="0"/>
          </a:p>
        </p:txBody>
      </p:sp>
      <p:sp>
        <p:nvSpPr>
          <p:cNvPr id="11" name="Text 9"/>
          <p:cNvSpPr/>
          <p:nvPr/>
        </p:nvSpPr>
        <p:spPr>
          <a:xfrm>
            <a:off x="1016000" y="3187601"/>
            <a:ext cx="4409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valid:</a:t>
            </a:r>
            <a:endParaRPr lang="en-US" sz="1200" dirty="0"/>
          </a:p>
        </p:txBody>
      </p:sp>
      <p:sp>
        <p:nvSpPr>
          <p:cNvPr id="12" name="Text 10"/>
          <p:cNvSpPr/>
          <p:nvPr/>
        </p:nvSpPr>
        <p:spPr>
          <a:xfrm>
            <a:off x="1472357" y="3136801"/>
            <a:ext cx="635000" cy="314920"/>
          </a:xfrm>
          <a:prstGeom prst="roundRect">
            <a:avLst>
              <a:gd name="adj" fmla="val 16131"/>
            </a:avLst>
          </a:prstGeom>
          <a:solidFill>
            <a:srgbClr val="2E6F95"/>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ABCD</a:t>
            </a:r>
            <a:endParaRPr lang="en-US" sz="1200" dirty="0"/>
          </a:p>
        </p:txBody>
      </p:sp>
      <p:sp>
        <p:nvSpPr>
          <p:cNvPr id="13" name="Text 11"/>
          <p:cNvSpPr/>
          <p:nvPr/>
        </p:nvSpPr>
        <p:spPr>
          <a:xfrm>
            <a:off x="2196257" y="3187601"/>
            <a:ext cx="1939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fringes across all four</a:t>
            </a:r>
            <a:endParaRPr lang="en-US" sz="1200" dirty="0"/>
          </a:p>
        </p:txBody>
      </p:sp>
      <p:sp>
        <p:nvSpPr>
          <p:cNvPr id="14" name="Text 12"/>
          <p:cNvSpPr/>
          <p:nvPr/>
        </p:nvSpPr>
        <p:spPr>
          <a:xfrm>
            <a:off x="1016000" y="3591421"/>
            <a:ext cx="30347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"But I can aim the beam at A." Yes: the collimator is a record, and {A} becomes a class of the new partition.</a:t>
            </a:r>
            <a:endParaRPr lang="en-US" sz="1200" dirty="0"/>
          </a:p>
        </p:txBody>
      </p:sp>
      <p:sp>
        <p:nvSpPr>
          <p:cNvPr id="15" name="Shape 13"/>
          <p:cNvSpPr/>
          <p:nvPr/>
        </p:nvSpPr>
        <p:spPr>
          <a:xfrm>
            <a:off x="4419600" y="1541760"/>
            <a:ext cx="3352800" cy="3169642"/>
          </a:xfrm>
          <a:prstGeom prst="roundRect">
            <a:avLst>
              <a:gd name="adj" fmla="val 3205"/>
            </a:avLst>
          </a:prstGeom>
          <a:solidFill>
            <a:srgbClr val="FBFAF6"/>
          </a:solidFill>
          <a:ln/>
        </p:spPr>
      </p:sp>
      <p:sp>
        <p:nvSpPr>
          <p:cNvPr id="16" name="Text 14"/>
          <p:cNvSpPr/>
          <p:nvPr/>
        </p:nvSpPr>
        <p:spPr>
          <a:xfrm>
            <a:off x="4622800" y="171956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DETECTOR ON A ∨ B</a:t>
            </a:r>
            <a:endParaRPr lang="en-US" sz="1200" dirty="0"/>
          </a:p>
        </p:txBody>
      </p:sp>
      <p:sp>
        <p:nvSpPr>
          <p:cNvPr id="17" name="Shape 15"/>
          <p:cNvSpPr/>
          <p:nvPr/>
        </p:nvSpPr>
        <p:spPr>
          <a:xfrm>
            <a:off x="4632325" y="2082105"/>
            <a:ext cx="1187450" cy="552450"/>
          </a:xfrm>
          <a:prstGeom prst="roundRect">
            <a:avLst>
              <a:gd name="adj" fmla="val 12069"/>
            </a:avLst>
          </a:prstGeom>
          <a:noFill/>
          <a:ln w="19050">
            <a:solidFill>
              <a:srgbClr val="C98A2B"/>
            </a:solidFill>
            <a:prstDash val="dash"/>
          </a:ln>
        </p:spPr>
      </p:sp>
      <p:sp>
        <p:nvSpPr>
          <p:cNvPr id="18" name="Text 16"/>
          <p:cNvSpPr/>
          <p:nvPr/>
        </p:nvSpPr>
        <p:spPr>
          <a:xfrm>
            <a:off x="47371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A</a:t>
            </a:r>
            <a:endParaRPr lang="en-US" sz="1300" dirty="0"/>
          </a:p>
        </p:txBody>
      </p:sp>
      <p:sp>
        <p:nvSpPr>
          <p:cNvPr id="19" name="Text 17"/>
          <p:cNvSpPr/>
          <p:nvPr/>
        </p:nvSpPr>
        <p:spPr>
          <a:xfrm>
            <a:off x="52705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B</a:t>
            </a:r>
            <a:endParaRPr lang="en-US" sz="1300" dirty="0"/>
          </a:p>
        </p:txBody>
      </p:sp>
      <p:sp>
        <p:nvSpPr>
          <p:cNvPr id="20" name="Shape 18"/>
          <p:cNvSpPr/>
          <p:nvPr/>
        </p:nvSpPr>
        <p:spPr>
          <a:xfrm>
            <a:off x="5940425" y="2082105"/>
            <a:ext cx="1187450" cy="552450"/>
          </a:xfrm>
          <a:prstGeom prst="roundRect">
            <a:avLst>
              <a:gd name="adj" fmla="val 12069"/>
            </a:avLst>
          </a:prstGeom>
          <a:noFill/>
          <a:ln w="19050">
            <a:solidFill>
              <a:srgbClr val="2E6F95"/>
            </a:solidFill>
            <a:prstDash val="dash"/>
          </a:ln>
        </p:spPr>
      </p:sp>
      <p:sp>
        <p:nvSpPr>
          <p:cNvPr id="21" name="Text 19"/>
          <p:cNvSpPr/>
          <p:nvPr/>
        </p:nvSpPr>
        <p:spPr>
          <a:xfrm>
            <a:off x="60452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C</a:t>
            </a:r>
            <a:endParaRPr lang="en-US" sz="1300" dirty="0"/>
          </a:p>
        </p:txBody>
      </p:sp>
      <p:sp>
        <p:nvSpPr>
          <p:cNvPr id="22" name="Text 20"/>
          <p:cNvSpPr/>
          <p:nvPr/>
        </p:nvSpPr>
        <p:spPr>
          <a:xfrm>
            <a:off x="65786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D</a:t>
            </a:r>
            <a:endParaRPr lang="en-US" sz="1300" dirty="0"/>
          </a:p>
        </p:txBody>
      </p:sp>
      <p:sp>
        <p:nvSpPr>
          <p:cNvPr id="23" name="Text 21"/>
          <p:cNvSpPr/>
          <p:nvPr/>
        </p:nvSpPr>
        <p:spPr>
          <a:xfrm>
            <a:off x="4622800" y="2783780"/>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two classes</a:t>
            </a:r>
            <a:endParaRPr lang="en-US" sz="1200" dirty="0"/>
          </a:p>
        </p:txBody>
      </p:sp>
      <p:sp>
        <p:nvSpPr>
          <p:cNvPr id="24" name="Text 22"/>
          <p:cNvSpPr/>
          <p:nvPr/>
        </p:nvSpPr>
        <p:spPr>
          <a:xfrm>
            <a:off x="4622800" y="3187601"/>
            <a:ext cx="4409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valid:</a:t>
            </a:r>
            <a:endParaRPr lang="en-US" sz="1200" dirty="0"/>
          </a:p>
        </p:txBody>
      </p:sp>
      <p:sp>
        <p:nvSpPr>
          <p:cNvPr id="25" name="Text 23"/>
          <p:cNvSpPr/>
          <p:nvPr/>
        </p:nvSpPr>
        <p:spPr>
          <a:xfrm>
            <a:off x="5079157" y="3136801"/>
            <a:ext cx="432048" cy="314920"/>
          </a:xfrm>
          <a:prstGeom prst="roundRect">
            <a:avLst>
              <a:gd name="adj" fmla="val 16131"/>
            </a:avLst>
          </a:prstGeom>
          <a:solidFill>
            <a:srgbClr val="2E6F95"/>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AB</a:t>
            </a:r>
            <a:endParaRPr lang="en-US" sz="1200" dirty="0"/>
          </a:p>
        </p:txBody>
      </p:sp>
      <p:sp>
        <p:nvSpPr>
          <p:cNvPr id="26" name="Text 24"/>
          <p:cNvSpPr/>
          <p:nvPr/>
        </p:nvSpPr>
        <p:spPr>
          <a:xfrm>
            <a:off x="5600105" y="3136801"/>
            <a:ext cx="431552" cy="314920"/>
          </a:xfrm>
          <a:prstGeom prst="roundRect">
            <a:avLst>
              <a:gd name="adj" fmla="val 16131"/>
            </a:avLst>
          </a:prstGeom>
          <a:solidFill>
            <a:srgbClr val="2E6F95"/>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CD</a:t>
            </a:r>
            <a:endParaRPr lang="en-US" sz="1200" dirty="0"/>
          </a:p>
        </p:txBody>
      </p:sp>
      <p:sp>
        <p:nvSpPr>
          <p:cNvPr id="27" name="Text 25"/>
          <p:cNvSpPr/>
          <p:nvPr/>
        </p:nvSpPr>
        <p:spPr>
          <a:xfrm>
            <a:off x="4622800" y="3540621"/>
            <a:ext cx="2479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fringes within each pair only</a:t>
            </a:r>
            <a:endParaRPr lang="en-US" sz="1200" dirty="0"/>
          </a:p>
        </p:txBody>
      </p:sp>
      <p:sp>
        <p:nvSpPr>
          <p:cNvPr id="28" name="Text 26"/>
          <p:cNvSpPr/>
          <p:nvPr/>
        </p:nvSpPr>
        <p:spPr>
          <a:xfrm>
            <a:off x="4622800" y="3893641"/>
            <a:ext cx="30347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record need not have been read. Its obtainability in every refinement kills ABCD now.</a:t>
            </a:r>
            <a:endParaRPr lang="en-US" sz="1200" dirty="0"/>
          </a:p>
        </p:txBody>
      </p:sp>
      <p:sp>
        <p:nvSpPr>
          <p:cNvPr id="29" name="Shape 27"/>
          <p:cNvSpPr/>
          <p:nvPr/>
        </p:nvSpPr>
        <p:spPr>
          <a:xfrm>
            <a:off x="8026400" y="1541760"/>
            <a:ext cx="3352800" cy="3169642"/>
          </a:xfrm>
          <a:prstGeom prst="roundRect">
            <a:avLst>
              <a:gd name="adj" fmla="val 3205"/>
            </a:avLst>
          </a:prstGeom>
          <a:solidFill>
            <a:srgbClr val="FBFAF6"/>
          </a:solidFill>
          <a:ln/>
        </p:spPr>
      </p:sp>
      <p:sp>
        <p:nvSpPr>
          <p:cNvPr id="30" name="Text 28"/>
          <p:cNvSpPr/>
          <p:nvPr/>
        </p:nvSpPr>
        <p:spPr>
          <a:xfrm>
            <a:off x="8229600" y="171956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F95"/>
                </a:solidFill>
                <a:latin typeface="IBM Plex Sans" pitchFamily="34" charset="0"/>
                <a:ea typeface="IBM Plex Sans" pitchFamily="34" charset="-122"/>
                <a:cs typeface="IBM Plex Sans" pitchFamily="34" charset="-120"/>
              </a:rPr>
              <a:t>RECORD ERASED</a:t>
            </a:r>
            <a:endParaRPr lang="en-US" sz="1200" dirty="0"/>
          </a:p>
        </p:txBody>
      </p:sp>
      <p:sp>
        <p:nvSpPr>
          <p:cNvPr id="31" name="Shape 29"/>
          <p:cNvSpPr/>
          <p:nvPr/>
        </p:nvSpPr>
        <p:spPr>
          <a:xfrm>
            <a:off x="8239125" y="2082105"/>
            <a:ext cx="2254250" cy="552450"/>
          </a:xfrm>
          <a:prstGeom prst="roundRect">
            <a:avLst>
              <a:gd name="adj" fmla="val 12069"/>
            </a:avLst>
          </a:prstGeom>
          <a:noFill/>
          <a:ln w="19050">
            <a:solidFill>
              <a:srgbClr val="2E6F95"/>
            </a:solidFill>
            <a:prstDash val="dash"/>
          </a:ln>
        </p:spPr>
      </p:sp>
      <p:sp>
        <p:nvSpPr>
          <p:cNvPr id="32" name="Text 30"/>
          <p:cNvSpPr/>
          <p:nvPr/>
        </p:nvSpPr>
        <p:spPr>
          <a:xfrm>
            <a:off x="83439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A</a:t>
            </a:r>
            <a:endParaRPr lang="en-US" sz="1300" dirty="0"/>
          </a:p>
        </p:txBody>
      </p:sp>
      <p:sp>
        <p:nvSpPr>
          <p:cNvPr id="33" name="Text 31"/>
          <p:cNvSpPr/>
          <p:nvPr/>
        </p:nvSpPr>
        <p:spPr>
          <a:xfrm>
            <a:off x="88773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B</a:t>
            </a:r>
            <a:endParaRPr lang="en-US" sz="1300" dirty="0"/>
          </a:p>
        </p:txBody>
      </p:sp>
      <p:sp>
        <p:nvSpPr>
          <p:cNvPr id="34" name="Text 32"/>
          <p:cNvSpPr/>
          <p:nvPr/>
        </p:nvSpPr>
        <p:spPr>
          <a:xfrm>
            <a:off x="94107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C</a:t>
            </a:r>
            <a:endParaRPr lang="en-US" sz="1300" dirty="0"/>
          </a:p>
        </p:txBody>
      </p:sp>
      <p:sp>
        <p:nvSpPr>
          <p:cNvPr id="35" name="Text 33"/>
          <p:cNvSpPr/>
          <p:nvPr/>
        </p:nvSpPr>
        <p:spPr>
          <a:xfrm>
            <a:off x="9944100" y="2186880"/>
            <a:ext cx="444500" cy="342900"/>
          </a:xfrm>
          <a:prstGeom prst="roundRect">
            <a:avLst>
              <a:gd name="adj" fmla="val 12963"/>
            </a:avLst>
          </a:prstGeom>
          <a:solidFill>
            <a:srgbClr val="F6F3EC"/>
          </a:solidFill>
          <a:ln w="12700">
            <a:solidFill>
              <a:srgbClr val="1B2A41"/>
            </a:solidFill>
            <a:prstDash val="solid"/>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D</a:t>
            </a:r>
            <a:endParaRPr lang="en-US" sz="1300" dirty="0"/>
          </a:p>
        </p:txBody>
      </p:sp>
      <p:sp>
        <p:nvSpPr>
          <p:cNvPr id="36" name="Text 34"/>
          <p:cNvSpPr/>
          <p:nvPr/>
        </p:nvSpPr>
        <p:spPr>
          <a:xfrm>
            <a:off x="8229600" y="2783780"/>
            <a:ext cx="30347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class again: no refinement can ever state the which-way record</a:t>
            </a:r>
            <a:endParaRPr lang="en-US" sz="1200" dirty="0"/>
          </a:p>
        </p:txBody>
      </p:sp>
      <p:sp>
        <p:nvSpPr>
          <p:cNvPr id="37" name="Text 35"/>
          <p:cNvSpPr/>
          <p:nvPr/>
        </p:nvSpPr>
        <p:spPr>
          <a:xfrm>
            <a:off x="8229600" y="3400921"/>
            <a:ext cx="4409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valid:</a:t>
            </a:r>
            <a:endParaRPr lang="en-US" sz="1200" dirty="0"/>
          </a:p>
        </p:txBody>
      </p:sp>
      <p:sp>
        <p:nvSpPr>
          <p:cNvPr id="38" name="Text 36"/>
          <p:cNvSpPr/>
          <p:nvPr/>
        </p:nvSpPr>
        <p:spPr>
          <a:xfrm>
            <a:off x="8685957" y="3350121"/>
            <a:ext cx="635000" cy="314920"/>
          </a:xfrm>
          <a:prstGeom prst="roundRect">
            <a:avLst>
              <a:gd name="adj" fmla="val 16131"/>
            </a:avLst>
          </a:prstGeom>
          <a:solidFill>
            <a:srgbClr val="2E6F95"/>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ABCD</a:t>
            </a:r>
            <a:endParaRPr lang="en-US" sz="1200" dirty="0"/>
          </a:p>
        </p:txBody>
      </p:sp>
      <p:sp>
        <p:nvSpPr>
          <p:cNvPr id="39" name="Text 37"/>
          <p:cNvSpPr/>
          <p:nvPr/>
        </p:nvSpPr>
        <p:spPr>
          <a:xfrm>
            <a:off x="9409857" y="3400921"/>
            <a:ext cx="10184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the eraser</a:t>
            </a:r>
            <a:endParaRPr lang="en-US" sz="1200" dirty="0"/>
          </a:p>
        </p:txBody>
      </p:sp>
      <p:sp>
        <p:nvSpPr>
          <p:cNvPr id="40" name="Text 38"/>
          <p:cNvSpPr/>
          <p:nvPr/>
        </p:nvSpPr>
        <p:spPr>
          <a:xfrm>
            <a:off x="8229600" y="3804741"/>
            <a:ext cx="30347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Decided after traversal? Irrelevant: the classification is tense-free. A record that will never be readable was never a record.</a:t>
            </a:r>
            <a:endParaRPr lang="en-US" sz="1200" dirty="0"/>
          </a:p>
        </p:txBody>
      </p:sp>
      <p:sp>
        <p:nvSpPr>
          <p:cNvPr id="41" name="Text 39"/>
          <p:cNvSpPr/>
          <p:nvPr/>
        </p:nvSpPr>
        <p:spPr>
          <a:xfrm>
            <a:off x="812800" y="496540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41"/>
                </a:solidFill>
                <a:latin typeface="IBM Plex Sans" pitchFamily="34" charset="0"/>
                <a:ea typeface="IBM Plex Sans" pitchFamily="34" charset="-122"/>
                <a:cs typeface="IBM Plex Sans" pitchFamily="34" charset="-120"/>
              </a:rPr>
              <a:t>Double slit, quantum eraser, delayed choice: </a:t>
            </a:r>
            <a:r>
              <a:rPr lang="en-US" sz="1400" b="1" dirty="0">
                <a:solidFill>
                  <a:srgbClr val="1B2A41"/>
                </a:solidFill>
                <a:latin typeface="IBM Plex Sans" pitchFamily="34" charset="0"/>
                <a:ea typeface="IBM Plex Sans" pitchFamily="34" charset="-122"/>
                <a:cs typeface="IBM Plex Sans" pitchFamily="34" charset="-120"/>
              </a:rPr>
              <a:t>one theorem, re-run on three partitions.</a:t>
            </a:r>
            <a:r>
              <a:rPr lang="en-US" sz="1400" dirty="0">
                <a:solidFill>
                  <a:srgbClr val="1B2A41"/>
                </a:solidFill>
                <a:latin typeface="IBM Plex Sans" pitchFamily="34" charset="0"/>
                <a:ea typeface="IBM Plex Sans" pitchFamily="34" charset="-122"/>
                <a:cs typeface="IBM Plex Sans" pitchFamily="34" charset="-120"/>
              </a:rPr>
              <a:t>  So where do the two rules come from?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The measurement problem is a category mistake</a:t>
            </a:r>
            <a:endParaRPr lang="en-US" sz="3400" dirty="0"/>
          </a:p>
        </p:txBody>
      </p:sp>
      <p:sp>
        <p:nvSpPr>
          <p:cNvPr id="3" name="Text 1"/>
          <p:cNvSpPr/>
          <p:nvPr/>
        </p:nvSpPr>
        <p:spPr>
          <a:xfrm>
            <a:off x="812800" y="154176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STANDARD READING: DETERMINACY IS ONE-PLACE</a:t>
            </a:r>
            <a:endParaRPr lang="en-US" sz="1200" dirty="0"/>
          </a:p>
        </p:txBody>
      </p:sp>
      <p:sp>
        <p:nvSpPr>
          <p:cNvPr id="4" name="Text 2"/>
          <p:cNvSpPr/>
          <p:nvPr/>
        </p:nvSpPr>
        <p:spPr>
          <a:xfrm>
            <a:off x="2406650" y="1863030"/>
            <a:ext cx="1892300" cy="431800"/>
          </a:xfrm>
          <a:prstGeom prst="roundRect">
            <a:avLst>
              <a:gd name="adj" fmla="val 13235"/>
            </a:avLst>
          </a:prstGeom>
          <a:solidFill>
            <a:srgbClr val="FBFAF6"/>
          </a:solidFill>
          <a:ln w="12700">
            <a:solidFill>
              <a:srgbClr val="1B2A41"/>
            </a:solidFill>
            <a:prstDash val="solid"/>
          </a:ln>
        </p:spPr>
        <p:txBody>
          <a:bodyPr wrap="square" lIns="0" tIns="0" rIns="0" bIns="0" rtlCol="0" anchor="ctr">
            <a:normAutofit/>
          </a:bodyPr>
          <a:lstStyle/>
          <a:p>
            <a:pPr algn="ctr"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spin along z</a:t>
            </a:r>
            <a:endParaRPr lang="en-US" sz="1400" dirty="0"/>
          </a:p>
        </p:txBody>
      </p:sp>
      <p:pic>
        <p:nvPicPr>
          <p:cNvPr id="5" name="Image 0" descr="connector">    </p:cNvPr>
          <p:cNvPicPr>
            <a:picLocks noChangeAspect="1"/>
          </p:cNvPicPr>
          <p:nvPr/>
        </p:nvPicPr>
        <p:blipFill>
          <a:blip r:embed="rId1"/>
          <a:srcRect l="0" r="0" t="0" b="0"/>
          <a:stretch/>
        </p:blipFill>
        <p:spPr>
          <a:xfrm>
            <a:off x="3302000" y="2250380"/>
            <a:ext cx="101600" cy="419100"/>
          </a:xfrm>
          <a:prstGeom prst="rect">
            <a:avLst/>
          </a:prstGeom>
        </p:spPr>
      </p:pic>
      <p:sp>
        <p:nvSpPr>
          <p:cNvPr id="6" name="Text 3"/>
          <p:cNvSpPr/>
          <p:nvPr/>
        </p:nvSpPr>
        <p:spPr>
          <a:xfrm>
            <a:off x="1962150" y="2625030"/>
            <a:ext cx="2781300" cy="431800"/>
          </a:xfrm>
          <a:prstGeom prst="roundRect">
            <a:avLst>
              <a:gd name="adj" fmla="val 13235"/>
            </a:avLst>
          </a:prstGeom>
          <a:solidFill>
            <a:srgbClr val="FBFAF6"/>
          </a:solidFill>
          <a:ln w="12700">
            <a:solidFill>
              <a:srgbClr val="C98A2B"/>
            </a:solidFill>
            <a:prstDash val="solid"/>
          </a:ln>
        </p:spPr>
        <p:txBody>
          <a:bodyPr wrap="square" lIns="0" tIns="0" rIns="0" bIns="0" rtlCol="0" anchor="ctr">
            <a:normAutofit/>
          </a:bodyPr>
          <a:lstStyle/>
          <a:p>
            <a:pPr algn="ctr" indent="0" marL="0">
              <a:lnSpc>
                <a:spcPts val="1960"/>
              </a:lnSpc>
              <a:buNone/>
            </a:pPr>
            <a:r>
              <a:rPr lang="en-US" sz="1400" dirty="0">
                <a:solidFill>
                  <a:srgbClr val="1B2A41"/>
                </a:solidFill>
                <a:latin typeface="IBM Plex Sans" pitchFamily="34" charset="0"/>
                <a:ea typeface="IBM Plex Sans" pitchFamily="34" charset="-122"/>
                <a:cs typeface="IBM Plex Sans" pitchFamily="34" charset="-120"/>
              </a:rPr>
              <a:t>determinate, or not. Full stop.</a:t>
            </a:r>
            <a:endParaRPr lang="en-US" sz="1400" dirty="0"/>
          </a:p>
        </p:txBody>
      </p:sp>
      <p:pic>
        <p:nvPicPr>
          <p:cNvPr id="7" name="Image 1" descr="connector">    </p:cNvPr>
          <p:cNvPicPr>
            <a:picLocks noChangeAspect="1"/>
          </p:cNvPicPr>
          <p:nvPr/>
        </p:nvPicPr>
        <p:blipFill>
          <a:blip r:embed="rId2"/>
          <a:srcRect l="0" r="0" t="0" b="0"/>
          <a:stretch/>
        </p:blipFill>
        <p:spPr>
          <a:xfrm>
            <a:off x="3302000" y="3012380"/>
            <a:ext cx="101600" cy="419100"/>
          </a:xfrm>
          <a:prstGeom prst="rect">
            <a:avLst/>
          </a:prstGeom>
        </p:spPr>
      </p:pic>
      <p:pic>
        <p:nvPicPr>
          <p:cNvPr id="8" name="Image 2" descr="connector">    </p:cNvPr>
          <p:cNvPicPr>
            <a:picLocks noChangeAspect="1"/>
          </p:cNvPicPr>
          <p:nvPr/>
        </p:nvPicPr>
        <p:blipFill>
          <a:blip r:embed="rId3"/>
          <a:srcRect l="0" r="0" t="0" b="0"/>
          <a:stretch/>
        </p:blipFill>
        <p:spPr>
          <a:xfrm>
            <a:off x="1333500" y="3329880"/>
            <a:ext cx="4038600" cy="101600"/>
          </a:xfrm>
          <a:prstGeom prst="rect">
            <a:avLst/>
          </a:prstGeom>
        </p:spPr>
      </p:pic>
      <p:pic>
        <p:nvPicPr>
          <p:cNvPr id="9" name="Image 3" descr="connector">    </p:cNvPr>
          <p:cNvPicPr>
            <a:picLocks noChangeAspect="1"/>
          </p:cNvPicPr>
          <p:nvPr/>
        </p:nvPicPr>
        <p:blipFill>
          <a:blip r:embed="rId4"/>
          <a:srcRect l="0" r="0" t="0" b="0"/>
          <a:stretch/>
        </p:blipFill>
        <p:spPr>
          <a:xfrm>
            <a:off x="1333500" y="3329880"/>
            <a:ext cx="101600" cy="355600"/>
          </a:xfrm>
          <a:prstGeom prst="rect">
            <a:avLst/>
          </a:prstGeom>
        </p:spPr>
      </p:pic>
      <p:pic>
        <p:nvPicPr>
          <p:cNvPr id="10" name="Image 4" descr="connector">    </p:cNvPr>
          <p:cNvPicPr>
            <a:picLocks noChangeAspect="1"/>
          </p:cNvPicPr>
          <p:nvPr/>
        </p:nvPicPr>
        <p:blipFill>
          <a:blip r:embed="rId5"/>
          <a:srcRect l="0" r="0" t="0" b="0"/>
          <a:stretch/>
        </p:blipFill>
        <p:spPr>
          <a:xfrm>
            <a:off x="2647950" y="3329880"/>
            <a:ext cx="101600" cy="355600"/>
          </a:xfrm>
          <a:prstGeom prst="rect">
            <a:avLst/>
          </a:prstGeom>
        </p:spPr>
      </p:pic>
      <p:pic>
        <p:nvPicPr>
          <p:cNvPr id="11" name="Image 5" descr="connector">    </p:cNvPr>
          <p:cNvPicPr>
            <a:picLocks noChangeAspect="1"/>
          </p:cNvPicPr>
          <p:nvPr/>
        </p:nvPicPr>
        <p:blipFill>
          <a:blip r:embed="rId6"/>
          <a:srcRect l="0" r="0" t="0" b="0"/>
          <a:stretch/>
        </p:blipFill>
        <p:spPr>
          <a:xfrm>
            <a:off x="3956050" y="3329880"/>
            <a:ext cx="101600" cy="355600"/>
          </a:xfrm>
          <a:prstGeom prst="rect">
            <a:avLst/>
          </a:prstGeom>
        </p:spPr>
      </p:pic>
      <p:pic>
        <p:nvPicPr>
          <p:cNvPr id="12" name="Image 6" descr="connector">    </p:cNvPr>
          <p:cNvPicPr>
            <a:picLocks noChangeAspect="1"/>
          </p:cNvPicPr>
          <p:nvPr/>
        </p:nvPicPr>
        <p:blipFill>
          <a:blip r:embed="rId7"/>
          <a:srcRect l="0" r="0" t="0" b="0"/>
          <a:stretch/>
        </p:blipFill>
        <p:spPr>
          <a:xfrm>
            <a:off x="5270500" y="3329880"/>
            <a:ext cx="101600" cy="355600"/>
          </a:xfrm>
          <a:prstGeom prst="rect">
            <a:avLst/>
          </a:prstGeom>
        </p:spPr>
      </p:pic>
      <p:sp>
        <p:nvSpPr>
          <p:cNvPr id="13" name="Shape 4"/>
          <p:cNvSpPr/>
          <p:nvPr/>
        </p:nvSpPr>
        <p:spPr>
          <a:xfrm>
            <a:off x="812800" y="3634680"/>
            <a:ext cx="1143000" cy="762000"/>
          </a:xfrm>
          <a:prstGeom prst="roundRect">
            <a:avLst>
              <a:gd name="adj" fmla="val 8333"/>
            </a:avLst>
          </a:prstGeom>
          <a:solidFill>
            <a:srgbClr val="ECE7DB"/>
          </a:solidFill>
          <a:ln/>
        </p:spPr>
      </p:sp>
      <p:sp>
        <p:nvSpPr>
          <p:cNvPr id="14" name="Text 5"/>
          <p:cNvSpPr/>
          <p:nvPr/>
        </p:nvSpPr>
        <p:spPr>
          <a:xfrm>
            <a:off x="914400" y="3736280"/>
            <a:ext cx="1041400" cy="400248"/>
          </a:xfrm>
          <a:prstGeom prst="rect">
            <a:avLst/>
          </a:prstGeom>
          <a:noFill/>
          <a:ln/>
        </p:spPr>
        <p:txBody>
          <a:bodyPr wrap="square" lIns="0" tIns="0" rIns="0" bIns="0" rtlCol="0" anchor="t">
            <a:normAutofit/>
          </a:bodyPr>
          <a:lstStyle/>
          <a:p>
            <a:pPr algn="l" indent="0" marL="0">
              <a:lnSpc>
                <a:spcPts val="1604"/>
              </a:lnSpc>
              <a:buNone/>
            </a:pPr>
            <a:r>
              <a:rPr lang="en-US" sz="1146" b="1" dirty="0">
                <a:solidFill>
                  <a:srgbClr val="1B2A41"/>
                </a:solidFill>
                <a:latin typeface="IBM Plex Sans" pitchFamily="34" charset="0"/>
                <a:ea typeface="IBM Plex Sans" pitchFamily="34" charset="-122"/>
                <a:cs typeface="IBM Plex Sans" pitchFamily="34" charset="-120"/>
              </a:rPr>
              <a:t>add dynamics</a:t>
            </a:r>
            <a:endParaRPr lang="en-US" sz="1146" dirty="0"/>
          </a:p>
        </p:txBody>
      </p:sp>
      <p:sp>
        <p:nvSpPr>
          <p:cNvPr id="15" name="Text 6"/>
          <p:cNvSpPr/>
          <p:nvPr/>
        </p:nvSpPr>
        <p:spPr>
          <a:xfrm>
            <a:off x="914400" y="4136529"/>
            <a:ext cx="990600" cy="183952"/>
          </a:xfrm>
          <a:prstGeom prst="rect">
            <a:avLst/>
          </a:prstGeom>
          <a:noFill/>
          <a:ln/>
        </p:spPr>
        <p:txBody>
          <a:bodyPr wrap="square" lIns="0" tIns="0" rIns="0" bIns="0" rtlCol="0" anchor="t">
            <a:normAutofit/>
          </a:bodyPr>
          <a:lstStyle/>
          <a:p>
            <a:pPr algn="l" indent="0" marL="0">
              <a:lnSpc>
                <a:spcPts val="1271"/>
              </a:lnSpc>
              <a:buNone/>
            </a:pPr>
            <a:r>
              <a:rPr lang="en-US" sz="908" dirty="0">
                <a:solidFill>
                  <a:srgbClr val="4A5568"/>
                </a:solidFill>
                <a:latin typeface="IBM Plex Sans" pitchFamily="34" charset="0"/>
                <a:ea typeface="IBM Plex Sans" pitchFamily="34" charset="-122"/>
                <a:cs typeface="IBM Plex Sans" pitchFamily="34" charset="-120"/>
              </a:rPr>
              <a:t>a collapse law</a:t>
            </a:r>
            <a:endParaRPr lang="en-US" sz="908" dirty="0"/>
          </a:p>
        </p:txBody>
      </p:sp>
      <p:sp>
        <p:nvSpPr>
          <p:cNvPr id="16" name="Shape 7"/>
          <p:cNvSpPr/>
          <p:nvPr/>
        </p:nvSpPr>
        <p:spPr>
          <a:xfrm>
            <a:off x="2127250" y="3634680"/>
            <a:ext cx="1143000" cy="762000"/>
          </a:xfrm>
          <a:prstGeom prst="roundRect">
            <a:avLst>
              <a:gd name="adj" fmla="val 8333"/>
            </a:avLst>
          </a:prstGeom>
          <a:solidFill>
            <a:srgbClr val="ECE7DB"/>
          </a:solidFill>
          <a:ln/>
        </p:spPr>
      </p:sp>
      <p:sp>
        <p:nvSpPr>
          <p:cNvPr id="17" name="Text 8"/>
          <p:cNvSpPr/>
          <p:nvPr/>
        </p:nvSpPr>
        <p:spPr>
          <a:xfrm>
            <a:off x="2228850" y="3736280"/>
            <a:ext cx="990600" cy="223490"/>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B2A41"/>
                </a:solidFill>
                <a:latin typeface="IBM Plex Sans" pitchFamily="34" charset="0"/>
                <a:ea typeface="IBM Plex Sans" pitchFamily="34" charset="-122"/>
                <a:cs typeface="IBM Plex Sans" pitchFamily="34" charset="-120"/>
              </a:rPr>
              <a:t>add worlds</a:t>
            </a:r>
            <a:endParaRPr lang="en-US" sz="1121" dirty="0"/>
          </a:p>
        </p:txBody>
      </p:sp>
      <p:sp>
        <p:nvSpPr>
          <p:cNvPr id="18" name="Text 9"/>
          <p:cNvSpPr/>
          <p:nvPr/>
        </p:nvSpPr>
        <p:spPr>
          <a:xfrm>
            <a:off x="2228850" y="3959771"/>
            <a:ext cx="990600" cy="360710"/>
          </a:xfrm>
          <a:prstGeom prst="rect">
            <a:avLst/>
          </a:prstGeom>
          <a:noFill/>
          <a:ln/>
        </p:spPr>
        <p:txBody>
          <a:bodyPr wrap="square" lIns="0" tIns="0" rIns="0" bIns="0" rtlCol="0" anchor="t">
            <a:normAutofit/>
          </a:bodyPr>
          <a:lstStyle/>
          <a:p>
            <a:pPr algn="l" indent="0" marL="0">
              <a:lnSpc>
                <a:spcPts val="1333"/>
              </a:lnSpc>
              <a:buNone/>
            </a:pPr>
            <a:r>
              <a:rPr lang="en-US" sz="952" dirty="0">
                <a:solidFill>
                  <a:srgbClr val="4A5568"/>
                </a:solidFill>
                <a:latin typeface="IBM Plex Sans" pitchFamily="34" charset="0"/>
                <a:ea typeface="IBM Plex Sans" pitchFamily="34" charset="-122"/>
                <a:cs typeface="IBM Plex Sans" pitchFamily="34" charset="-120"/>
              </a:rPr>
              <a:t>every value, somewhere</a:t>
            </a:r>
            <a:endParaRPr lang="en-US" sz="952" dirty="0"/>
          </a:p>
        </p:txBody>
      </p:sp>
      <p:sp>
        <p:nvSpPr>
          <p:cNvPr id="19" name="Shape 10"/>
          <p:cNvSpPr/>
          <p:nvPr/>
        </p:nvSpPr>
        <p:spPr>
          <a:xfrm>
            <a:off x="3435350" y="3634680"/>
            <a:ext cx="1143000" cy="762000"/>
          </a:xfrm>
          <a:prstGeom prst="roundRect">
            <a:avLst>
              <a:gd name="adj" fmla="val 8333"/>
            </a:avLst>
          </a:prstGeom>
          <a:solidFill>
            <a:srgbClr val="ECE7DB"/>
          </a:solidFill>
          <a:ln/>
        </p:spPr>
      </p:sp>
      <p:sp>
        <p:nvSpPr>
          <p:cNvPr id="20" name="Text 11"/>
          <p:cNvSpPr/>
          <p:nvPr/>
        </p:nvSpPr>
        <p:spPr>
          <a:xfrm>
            <a:off x="3536950" y="3736280"/>
            <a:ext cx="1041400" cy="314325"/>
          </a:xfrm>
          <a:prstGeom prst="rect">
            <a:avLst/>
          </a:prstGeom>
          <a:noFill/>
          <a:ln/>
        </p:spPr>
        <p:txBody>
          <a:bodyPr wrap="square" lIns="0" tIns="0" rIns="0" bIns="0" rtlCol="0" anchor="t">
            <a:normAutofit/>
          </a:bodyPr>
          <a:lstStyle/>
          <a:p>
            <a:pPr algn="l" indent="0" marL="0">
              <a:lnSpc>
                <a:spcPts val="1655"/>
              </a:lnSpc>
              <a:buNone/>
            </a:pPr>
            <a:r>
              <a:rPr lang="en-US" sz="1182" b="1" dirty="0">
                <a:solidFill>
                  <a:srgbClr val="1B2A41"/>
                </a:solidFill>
                <a:latin typeface="IBM Plex Sans" pitchFamily="34" charset="0"/>
                <a:ea typeface="IBM Plex Sans" pitchFamily="34" charset="-122"/>
                <a:cs typeface="IBM Plex Sans" pitchFamily="34" charset="-120"/>
              </a:rPr>
              <a:t>add variables</a:t>
            </a:r>
            <a:endParaRPr lang="en-US" sz="1182" dirty="0"/>
          </a:p>
        </p:txBody>
      </p:sp>
      <p:sp>
        <p:nvSpPr>
          <p:cNvPr id="21" name="Text 12"/>
          <p:cNvSpPr/>
          <p:nvPr/>
        </p:nvSpPr>
        <p:spPr>
          <a:xfrm>
            <a:off x="3536950" y="4050605"/>
            <a:ext cx="1041400" cy="269875"/>
          </a:xfrm>
          <a:prstGeom prst="rect">
            <a:avLst/>
          </a:prstGeom>
          <a:noFill/>
          <a:ln/>
        </p:spPr>
        <p:txBody>
          <a:bodyPr wrap="square" lIns="0" tIns="0" rIns="0" bIns="0" rtlCol="0" anchor="t">
            <a:normAutofit/>
          </a:bodyPr>
          <a:lstStyle/>
          <a:p>
            <a:pPr algn="l" indent="0" marL="0">
              <a:lnSpc>
                <a:spcPts val="1439"/>
              </a:lnSpc>
              <a:buNone/>
            </a:pPr>
            <a:r>
              <a:rPr lang="en-US" sz="1028" dirty="0">
                <a:solidFill>
                  <a:srgbClr val="4A5568"/>
                </a:solidFill>
                <a:latin typeface="IBM Plex Sans" pitchFamily="34" charset="0"/>
                <a:ea typeface="IBM Plex Sans" pitchFamily="34" charset="-122"/>
                <a:cs typeface="IBM Plex Sans" pitchFamily="34" charset="-120"/>
              </a:rPr>
              <a:t>a value all along</a:t>
            </a:r>
            <a:endParaRPr lang="en-US" sz="1028" dirty="0"/>
          </a:p>
        </p:txBody>
      </p:sp>
      <p:sp>
        <p:nvSpPr>
          <p:cNvPr id="22" name="Shape 13"/>
          <p:cNvSpPr/>
          <p:nvPr/>
        </p:nvSpPr>
        <p:spPr>
          <a:xfrm>
            <a:off x="4749800" y="3634680"/>
            <a:ext cx="1143000" cy="762000"/>
          </a:xfrm>
          <a:prstGeom prst="roundRect">
            <a:avLst>
              <a:gd name="adj" fmla="val 8333"/>
            </a:avLst>
          </a:prstGeom>
          <a:solidFill>
            <a:srgbClr val="ECE7DB"/>
          </a:solidFill>
          <a:ln/>
        </p:spPr>
      </p:sp>
      <p:sp>
        <p:nvSpPr>
          <p:cNvPr id="23" name="Text 14"/>
          <p:cNvSpPr/>
          <p:nvPr/>
        </p:nvSpPr>
        <p:spPr>
          <a:xfrm>
            <a:off x="4851400" y="3736280"/>
            <a:ext cx="1041400" cy="314325"/>
          </a:xfrm>
          <a:prstGeom prst="rect">
            <a:avLst/>
          </a:prstGeom>
          <a:noFill/>
          <a:ln/>
        </p:spPr>
        <p:txBody>
          <a:bodyPr wrap="square" lIns="0" tIns="0" rIns="0" bIns="0" rtlCol="0" anchor="t">
            <a:normAutofit/>
          </a:bodyPr>
          <a:lstStyle/>
          <a:p>
            <a:pPr algn="l" indent="0" marL="0">
              <a:lnSpc>
                <a:spcPts val="1467"/>
              </a:lnSpc>
              <a:buNone/>
            </a:pPr>
            <a:r>
              <a:rPr lang="en-US" sz="1048" b="1" dirty="0">
                <a:solidFill>
                  <a:srgbClr val="1B2A41"/>
                </a:solidFill>
                <a:latin typeface="IBM Plex Sans" pitchFamily="34" charset="0"/>
                <a:ea typeface="IBM Plex Sans" pitchFamily="34" charset="-122"/>
                <a:cs typeface="IBM Plex Sans" pitchFamily="34" charset="-120"/>
              </a:rPr>
              <a:t>keep ignorance</a:t>
            </a:r>
            <a:endParaRPr lang="en-US" sz="1048" dirty="0"/>
          </a:p>
        </p:txBody>
      </p:sp>
      <p:sp>
        <p:nvSpPr>
          <p:cNvPr id="24" name="Text 15"/>
          <p:cNvSpPr/>
          <p:nvPr/>
        </p:nvSpPr>
        <p:spPr>
          <a:xfrm>
            <a:off x="4851400" y="4050605"/>
            <a:ext cx="1041400" cy="269875"/>
          </a:xfrm>
          <a:prstGeom prst="rect">
            <a:avLst/>
          </a:prstGeom>
          <a:noFill/>
          <a:ln/>
        </p:spPr>
        <p:txBody>
          <a:bodyPr wrap="square" lIns="0" tIns="0" rIns="0" bIns="0" rtlCol="0" anchor="t">
            <a:normAutofit/>
          </a:bodyPr>
          <a:lstStyle/>
          <a:p>
            <a:pPr algn="l" indent="0" marL="0">
              <a:lnSpc>
                <a:spcPts val="1280"/>
              </a:lnSpc>
              <a:buNone/>
            </a:pPr>
            <a:r>
              <a:rPr lang="en-US" sz="914" dirty="0">
                <a:solidFill>
                  <a:srgbClr val="4A5568"/>
                </a:solidFill>
                <a:latin typeface="IBM Plex Sans" pitchFamily="34" charset="0"/>
                <a:ea typeface="IBM Plex Sans" pitchFamily="34" charset="-122"/>
                <a:cs typeface="IBM Plex Sans" pitchFamily="34" charset="-120"/>
              </a:rPr>
              <a:t>fenced by Bell, KS</a:t>
            </a:r>
            <a:endParaRPr lang="en-US" sz="914" dirty="0"/>
          </a:p>
        </p:txBody>
      </p:sp>
      <p:sp>
        <p:nvSpPr>
          <p:cNvPr id="25" name="Text 16"/>
          <p:cNvSpPr/>
          <p:nvPr/>
        </p:nvSpPr>
        <p:spPr>
          <a:xfrm>
            <a:off x="812800" y="4625280"/>
            <a:ext cx="5232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 answer keeps the notion and adds inventory.</a:t>
            </a:r>
            <a:endParaRPr lang="en-US" sz="1300" dirty="0"/>
          </a:p>
        </p:txBody>
      </p:sp>
      <p:sp>
        <p:nvSpPr>
          <p:cNvPr id="26" name="Text 17"/>
          <p:cNvSpPr/>
          <p:nvPr/>
        </p:nvSpPr>
        <p:spPr>
          <a:xfrm>
            <a:off x="6299200" y="154176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F95"/>
                </a:solidFill>
                <a:latin typeface="IBM Plex Sans" pitchFamily="34" charset="0"/>
                <a:ea typeface="IBM Plex Sans" pitchFamily="34" charset="-122"/>
                <a:cs typeface="IBM Plex Sans" pitchFamily="34" charset="-120"/>
              </a:rPr>
              <a:t>AETHIC READING: DETERMINACY IS TWO-PLACE</a:t>
            </a:r>
            <a:endParaRPr lang="en-US" sz="1200" dirty="0"/>
          </a:p>
        </p:txBody>
      </p:sp>
      <p:sp>
        <p:nvSpPr>
          <p:cNvPr id="27" name="Text 18"/>
          <p:cNvSpPr/>
          <p:nvPr/>
        </p:nvSpPr>
        <p:spPr>
          <a:xfrm>
            <a:off x="6305550" y="2974280"/>
            <a:ext cx="1638300" cy="431800"/>
          </a:xfrm>
          <a:prstGeom prst="roundRect">
            <a:avLst>
              <a:gd name="adj" fmla="val 13235"/>
            </a:avLst>
          </a:prstGeom>
          <a:solidFill>
            <a:srgbClr val="FBFAF6"/>
          </a:solidFill>
          <a:ln w="12700">
            <a:solidFill>
              <a:srgbClr val="1B2A41"/>
            </a:solidFill>
            <a:prstDash val="solid"/>
          </a:ln>
        </p:spPr>
        <p:txBody>
          <a:bodyPr wrap="square" lIns="0" tIns="0" rIns="0" bIns="0" rtlCol="0" anchor="ctr">
            <a:normAutofit/>
          </a:bodyPr>
          <a:lstStyle/>
          <a:p>
            <a:pPr algn="ctr"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spin along z</a:t>
            </a:r>
            <a:endParaRPr lang="en-US" sz="1400" dirty="0"/>
          </a:p>
        </p:txBody>
      </p:sp>
      <p:pic>
        <p:nvPicPr>
          <p:cNvPr id="28" name="Image 7" descr="connector">    </p:cNvPr>
          <p:cNvPicPr>
            <a:picLocks noChangeAspect="1"/>
          </p:cNvPicPr>
          <p:nvPr/>
        </p:nvPicPr>
        <p:blipFill>
          <a:blip r:embed="rId8"/>
          <a:srcRect l="0" r="0" t="0" b="0"/>
          <a:stretch/>
        </p:blipFill>
        <p:spPr>
          <a:xfrm>
            <a:off x="7899400" y="2440880"/>
            <a:ext cx="1117600" cy="800100"/>
          </a:xfrm>
          <a:prstGeom prst="rect">
            <a:avLst/>
          </a:prstGeom>
        </p:spPr>
      </p:pic>
      <p:pic>
        <p:nvPicPr>
          <p:cNvPr id="29" name="Image 8" descr="connector">    </p:cNvPr>
          <p:cNvPicPr>
            <a:picLocks noChangeAspect="1"/>
          </p:cNvPicPr>
          <p:nvPr/>
        </p:nvPicPr>
        <p:blipFill>
          <a:blip r:embed="rId9"/>
          <a:srcRect l="0" r="0" t="0" b="0"/>
          <a:stretch/>
        </p:blipFill>
        <p:spPr>
          <a:xfrm>
            <a:off x="7899400" y="3139380"/>
            <a:ext cx="1117600" cy="800100"/>
          </a:xfrm>
          <a:prstGeom prst="rect">
            <a:avLst/>
          </a:prstGeom>
        </p:spPr>
      </p:pic>
      <p:sp>
        <p:nvSpPr>
          <p:cNvPr id="30" name="Shape 19"/>
          <p:cNvSpPr/>
          <p:nvPr/>
        </p:nvSpPr>
        <p:spPr>
          <a:xfrm>
            <a:off x="8966200" y="2110680"/>
            <a:ext cx="2413000" cy="762000"/>
          </a:xfrm>
          <a:prstGeom prst="roundRect">
            <a:avLst>
              <a:gd name="adj" fmla="val 8333"/>
            </a:avLst>
          </a:prstGeom>
          <a:solidFill>
            <a:srgbClr val="2E6F95"/>
          </a:solidFill>
          <a:ln/>
        </p:spPr>
      </p:sp>
      <p:sp>
        <p:nvSpPr>
          <p:cNvPr id="31" name="Text 20"/>
          <p:cNvSpPr/>
          <p:nvPr/>
        </p:nvSpPr>
        <p:spPr>
          <a:xfrm>
            <a:off x="9118600" y="2224980"/>
            <a:ext cx="2171446"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DCE6EE"/>
                </a:solidFill>
                <a:latin typeface="IBM Plex Sans" pitchFamily="34" charset="0"/>
                <a:ea typeface="IBM Plex Sans" pitchFamily="34" charset="-122"/>
                <a:cs typeface="IBM Plex Sans" pitchFamily="34" charset="-120"/>
              </a:rPr>
              <a:t>AETHUS A₁</a:t>
            </a:r>
            <a:endParaRPr lang="en-US" sz="1100" dirty="0"/>
          </a:p>
        </p:txBody>
      </p:sp>
      <p:sp>
        <p:nvSpPr>
          <p:cNvPr id="32" name="Text 21"/>
          <p:cNvSpPr/>
          <p:nvPr/>
        </p:nvSpPr>
        <p:spPr>
          <a:xfrm>
            <a:off x="9118600" y="2445941"/>
            <a:ext cx="21714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spin = up  </a:t>
            </a:r>
            <a:r>
              <a:rPr lang="en-US" sz="1400" b="1" dirty="0">
                <a:solidFill>
                  <a:srgbClr val="F6F3EC"/>
                </a:solidFill>
                <a:latin typeface="IBM Plex Sans" pitchFamily="34" charset="0"/>
                <a:ea typeface="IBM Plex Sans" pitchFamily="34" charset="-122"/>
                <a:cs typeface="IBM Plex Sans" pitchFamily="34" charset="-120"/>
              </a:rPr>
              <a:t>stated</a:t>
            </a:r>
            <a:endParaRPr lang="en-US" sz="1400" dirty="0"/>
          </a:p>
        </p:txBody>
      </p:sp>
      <p:sp>
        <p:nvSpPr>
          <p:cNvPr id="33" name="Shape 22"/>
          <p:cNvSpPr/>
          <p:nvPr/>
        </p:nvSpPr>
        <p:spPr>
          <a:xfrm>
            <a:off x="8972550" y="3514030"/>
            <a:ext cx="2400300" cy="749300"/>
          </a:xfrm>
          <a:prstGeom prst="roundRect">
            <a:avLst>
              <a:gd name="adj" fmla="val 7627"/>
            </a:avLst>
          </a:prstGeom>
          <a:solidFill>
            <a:srgbClr val="FBFAF6"/>
          </a:solidFill>
          <a:ln w="12700">
            <a:solidFill>
              <a:srgbClr val="2E6F95"/>
            </a:solidFill>
            <a:prstDash val="solid"/>
          </a:ln>
        </p:spPr>
      </p:sp>
      <p:sp>
        <p:nvSpPr>
          <p:cNvPr id="34" name="Text 23"/>
          <p:cNvSpPr/>
          <p:nvPr/>
        </p:nvSpPr>
        <p:spPr>
          <a:xfrm>
            <a:off x="9131300" y="3634680"/>
            <a:ext cx="2145284" cy="161528"/>
          </a:xfrm>
          <a:prstGeom prst="rect">
            <a:avLst/>
          </a:prstGeom>
          <a:noFill/>
          <a:ln/>
        </p:spPr>
        <p:txBody>
          <a:bodyPr wrap="square" lIns="0" tIns="0" rIns="0" bIns="0" rtlCol="0" anchor="t">
            <a:normAutofit/>
          </a:bodyPr>
          <a:lstStyle/>
          <a:p>
            <a:pPr algn="l" indent="0" marL="0">
              <a:lnSpc>
                <a:spcPts val="1073"/>
              </a:lnSpc>
              <a:buNone/>
            </a:pPr>
            <a:r>
              <a:rPr lang="en-US" sz="767" b="1" spc="100" kern="0" dirty="0">
                <a:solidFill>
                  <a:srgbClr val="2E6F95"/>
                </a:solidFill>
                <a:latin typeface="IBM Plex Sans" pitchFamily="34" charset="0"/>
                <a:ea typeface="IBM Plex Sans" pitchFamily="34" charset="-122"/>
                <a:cs typeface="IBM Plex Sans" pitchFamily="34" charset="-120"/>
              </a:rPr>
              <a:t>AETHUS A₂</a:t>
            </a:r>
            <a:endParaRPr lang="en-US" sz="767" dirty="0"/>
          </a:p>
        </p:txBody>
      </p:sp>
      <p:sp>
        <p:nvSpPr>
          <p:cNvPr id="35" name="Text 24"/>
          <p:cNvSpPr/>
          <p:nvPr/>
        </p:nvSpPr>
        <p:spPr>
          <a:xfrm>
            <a:off x="9131300" y="3796209"/>
            <a:ext cx="2235200" cy="371872"/>
          </a:xfrm>
          <a:prstGeom prst="rect">
            <a:avLst/>
          </a:prstGeom>
          <a:noFill/>
          <a:ln/>
        </p:spPr>
        <p:txBody>
          <a:bodyPr wrap="square" lIns="0" tIns="0" rIns="0" bIns="0" rtlCol="0" anchor="t">
            <a:normAutofit/>
          </a:bodyPr>
          <a:lstStyle/>
          <a:p>
            <a:pPr algn="l" indent="0" marL="0">
              <a:lnSpc>
                <a:spcPts val="1703"/>
              </a:lnSpc>
              <a:buNone/>
            </a:pPr>
            <a:r>
              <a:rPr lang="en-US" sz="1216" dirty="0">
                <a:solidFill>
                  <a:srgbClr val="C98A2B"/>
                </a:solidFill>
                <a:latin typeface="IBM Plex Sans" pitchFamily="34" charset="0"/>
                <a:ea typeface="IBM Plex Sans" pitchFamily="34" charset="-122"/>
                <a:cs typeface="IBM Plex Sans" pitchFamily="34" charset="-120"/>
              </a:rPr>
              <a:t>spin  </a:t>
            </a:r>
            <a:r>
              <a:rPr lang="en-US" sz="1216" b="1" dirty="0">
                <a:solidFill>
                  <a:srgbClr val="C98A2B"/>
                </a:solidFill>
                <a:latin typeface="IBM Plex Sans" pitchFamily="34" charset="0"/>
                <a:ea typeface="IBM Plex Sans" pitchFamily="34" charset="-122"/>
                <a:cs typeface="IBM Plex Sans" pitchFamily="34" charset="-120"/>
              </a:rPr>
              <a:t>blank</a:t>
            </a:r>
            <a:r>
              <a:rPr lang="en-US" sz="1216" dirty="0">
                <a:solidFill>
                  <a:srgbClr val="C98A2B"/>
                </a:solidFill>
                <a:latin typeface="IBM Plex Sans" pitchFamily="34" charset="0"/>
                <a:ea typeface="IBM Plex Sans" pitchFamily="34" charset="-122"/>
                <a:cs typeface="IBM Plex Sans" pitchFamily="34" charset="-120"/>
              </a:rPr>
              <a:t>  = in superposition</a:t>
            </a:r>
            <a:endParaRPr lang="en-US" sz="1216" dirty="0"/>
          </a:p>
        </p:txBody>
      </p:sp>
      <p:sp>
        <p:nvSpPr>
          <p:cNvPr id="36" name="Text 25"/>
          <p:cNvSpPr/>
          <p:nvPr/>
        </p:nvSpPr>
        <p:spPr>
          <a:xfrm>
            <a:off x="6299200" y="4015680"/>
            <a:ext cx="23545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attribute, two indices, two verdicts</a:t>
            </a:r>
            <a:endParaRPr lang="en-US" sz="1200" dirty="0"/>
          </a:p>
        </p:txBody>
      </p:sp>
      <p:sp>
        <p:nvSpPr>
          <p:cNvPr id="37" name="Text 26"/>
          <p:cNvSpPr/>
          <p:nvPr/>
        </p:nvSpPr>
        <p:spPr>
          <a:xfrm>
            <a:off x="6299200" y="4625280"/>
            <a:ext cx="52324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Change the notion instead: a value is </a:t>
            </a:r>
            <a:r>
              <a:rPr lang="en-US" sz="1300" b="1" dirty="0">
                <a:solidFill>
                  <a:srgbClr val="1B2A41"/>
                </a:solidFill>
                <a:latin typeface="IBM Plex Sans" pitchFamily="34" charset="0"/>
                <a:ea typeface="IBM Plex Sans" pitchFamily="34" charset="-122"/>
                <a:cs typeface="IBM Plex Sans" pitchFamily="34" charset="-120"/>
              </a:rPr>
              <a:t>relative to an information state</a:t>
            </a:r>
            <a:r>
              <a:rPr lang="en-US" sz="1300" dirty="0">
                <a:solidFill>
                  <a:srgbClr val="1B2A41"/>
                </a:solidFill>
                <a:latin typeface="IBM Plex Sans" pitchFamily="34" charset="0"/>
                <a:ea typeface="IBM Plex Sans" pitchFamily="34" charset="-122"/>
                <a:cs typeface="IBM Plex Sans" pitchFamily="34" charset="-120"/>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7532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An Aethus: a closed partial ledger, with a tree beneath it</a:t>
            </a:r>
            <a:endParaRPr lang="en-US" sz="3400" dirty="0"/>
          </a:p>
        </p:txBody>
      </p:sp>
      <p:sp>
        <p:nvSpPr>
          <p:cNvPr id="3" name="Shape 1"/>
          <p:cNvSpPr/>
          <p:nvPr/>
        </p:nvSpPr>
        <p:spPr>
          <a:xfrm>
            <a:off x="831850" y="2092920"/>
            <a:ext cx="0" cy="505420"/>
          </a:xfrm>
          <a:prstGeom prst="line">
            <a:avLst/>
          </a:prstGeom>
          <a:noFill/>
          <a:ln w="38100">
            <a:solidFill>
              <a:srgbClr val="2E6F95"/>
            </a:solidFill>
            <a:prstDash val="solid"/>
          </a:ln>
        </p:spPr>
      </p:sp>
      <p:sp>
        <p:nvSpPr>
          <p:cNvPr id="4" name="Text 2"/>
          <p:cNvSpPr/>
          <p:nvPr/>
        </p:nvSpPr>
        <p:spPr>
          <a:xfrm>
            <a:off x="990600" y="2092920"/>
            <a:ext cx="374116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stated</a:t>
            </a:r>
            <a:endParaRPr lang="en-US" sz="1400" dirty="0"/>
          </a:p>
        </p:txBody>
      </p:sp>
      <p:sp>
        <p:nvSpPr>
          <p:cNvPr id="5" name="Text 3"/>
          <p:cNvSpPr/>
          <p:nvPr/>
        </p:nvSpPr>
        <p:spPr>
          <a:xfrm>
            <a:off x="990600" y="2367211"/>
            <a:ext cx="37411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record fixes the value</a:t>
            </a:r>
            <a:endParaRPr lang="en-US" sz="1300" dirty="0"/>
          </a:p>
        </p:txBody>
      </p:sp>
      <p:sp>
        <p:nvSpPr>
          <p:cNvPr id="6" name="Shape 4"/>
          <p:cNvSpPr/>
          <p:nvPr/>
        </p:nvSpPr>
        <p:spPr>
          <a:xfrm>
            <a:off x="831850" y="2776141"/>
            <a:ext cx="0" cy="505420"/>
          </a:xfrm>
          <a:prstGeom prst="line">
            <a:avLst/>
          </a:prstGeom>
          <a:noFill/>
          <a:ln w="38100">
            <a:solidFill>
              <a:srgbClr val="C98A2B"/>
            </a:solidFill>
            <a:prstDash val="solid"/>
          </a:ln>
        </p:spPr>
      </p:sp>
      <p:sp>
        <p:nvSpPr>
          <p:cNvPr id="7" name="Text 5"/>
          <p:cNvSpPr/>
          <p:nvPr/>
        </p:nvSpPr>
        <p:spPr>
          <a:xfrm>
            <a:off x="990600" y="2776141"/>
            <a:ext cx="374116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blank</a:t>
            </a:r>
            <a:endParaRPr lang="en-US" sz="1400" dirty="0"/>
          </a:p>
        </p:txBody>
      </p:sp>
      <p:sp>
        <p:nvSpPr>
          <p:cNvPr id="8" name="Text 6"/>
          <p:cNvSpPr/>
          <p:nvPr/>
        </p:nvSpPr>
        <p:spPr>
          <a:xfrm>
            <a:off x="990600" y="3050431"/>
            <a:ext cx="37411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 record; open, not unknown</a:t>
            </a:r>
            <a:endParaRPr lang="en-US" sz="1300" dirty="0"/>
          </a:p>
        </p:txBody>
      </p:sp>
      <p:sp>
        <p:nvSpPr>
          <p:cNvPr id="9" name="Shape 7"/>
          <p:cNvSpPr/>
          <p:nvPr/>
        </p:nvSpPr>
        <p:spPr>
          <a:xfrm>
            <a:off x="831850" y="3459361"/>
            <a:ext cx="0" cy="736550"/>
          </a:xfrm>
          <a:prstGeom prst="line">
            <a:avLst/>
          </a:prstGeom>
          <a:noFill/>
          <a:ln w="38100">
            <a:solidFill>
              <a:srgbClr val="1B2A41"/>
            </a:solidFill>
            <a:prstDash val="solid"/>
          </a:ln>
        </p:spPr>
      </p:sp>
      <p:sp>
        <p:nvSpPr>
          <p:cNvPr id="10" name="Text 8"/>
          <p:cNvSpPr/>
          <p:nvPr/>
        </p:nvSpPr>
        <p:spPr>
          <a:xfrm>
            <a:off x="990600" y="3459361"/>
            <a:ext cx="374116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closed</a:t>
            </a:r>
            <a:endParaRPr lang="en-US" sz="1400" dirty="0"/>
          </a:p>
        </p:txBody>
      </p:sp>
      <p:sp>
        <p:nvSpPr>
          <p:cNvPr id="11" name="Text 9"/>
          <p:cNvSpPr/>
          <p:nvPr/>
        </p:nvSpPr>
        <p:spPr>
          <a:xfrm>
            <a:off x="990600" y="3733651"/>
            <a:ext cx="374116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carries its own consequences under the standing laws</a:t>
            </a:r>
            <a:endParaRPr lang="en-US" sz="1300" dirty="0"/>
          </a:p>
        </p:txBody>
      </p:sp>
      <p:sp>
        <p:nvSpPr>
          <p:cNvPr id="12" name="Shape 10"/>
          <p:cNvSpPr/>
          <p:nvPr/>
        </p:nvSpPr>
        <p:spPr>
          <a:xfrm>
            <a:off x="831850" y="4373711"/>
            <a:ext cx="0" cy="505420"/>
          </a:xfrm>
          <a:prstGeom prst="line">
            <a:avLst/>
          </a:prstGeom>
          <a:noFill/>
          <a:ln w="38100">
            <a:solidFill>
              <a:srgbClr val="1B2A41"/>
            </a:solidFill>
            <a:prstDash val="solid"/>
          </a:ln>
        </p:spPr>
      </p:sp>
      <p:sp>
        <p:nvSpPr>
          <p:cNvPr id="13" name="Text 11"/>
          <p:cNvSpPr/>
          <p:nvPr/>
        </p:nvSpPr>
        <p:spPr>
          <a:xfrm>
            <a:off x="990600" y="4373711"/>
            <a:ext cx="374116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proper child</a:t>
            </a:r>
            <a:endParaRPr lang="en-US" sz="1400" dirty="0"/>
          </a:p>
        </p:txBody>
      </p:sp>
      <p:sp>
        <p:nvSpPr>
          <p:cNvPr id="14" name="Text 12"/>
          <p:cNvSpPr/>
          <p:nvPr/>
        </p:nvSpPr>
        <p:spPr>
          <a:xfrm>
            <a:off x="990600" y="4648002"/>
            <a:ext cx="37411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blank resolved along a declared split</a:t>
            </a:r>
            <a:endParaRPr lang="en-US" sz="1300" dirty="0"/>
          </a:p>
        </p:txBody>
      </p:sp>
      <p:sp>
        <p:nvSpPr>
          <p:cNvPr id="15" name="Shape 13"/>
          <p:cNvSpPr/>
          <p:nvPr/>
        </p:nvSpPr>
        <p:spPr>
          <a:xfrm>
            <a:off x="831850" y="5056932"/>
            <a:ext cx="0" cy="505420"/>
          </a:xfrm>
          <a:prstGeom prst="line">
            <a:avLst/>
          </a:prstGeom>
          <a:noFill/>
          <a:ln w="38100">
            <a:solidFill>
              <a:srgbClr val="9E3B2F"/>
            </a:solidFill>
            <a:prstDash val="solid"/>
          </a:ln>
        </p:spPr>
      </p:sp>
      <p:sp>
        <p:nvSpPr>
          <p:cNvPr id="16" name="Text 14"/>
          <p:cNvSpPr/>
          <p:nvPr/>
        </p:nvSpPr>
        <p:spPr>
          <a:xfrm>
            <a:off x="990600" y="5056932"/>
            <a:ext cx="374116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invalid (base)</a:t>
            </a:r>
            <a:endParaRPr lang="en-US" sz="1400" dirty="0"/>
          </a:p>
        </p:txBody>
      </p:sp>
      <p:sp>
        <p:nvSpPr>
          <p:cNvPr id="17" name="Text 15"/>
          <p:cNvSpPr/>
          <p:nvPr/>
        </p:nvSpPr>
        <p:spPr>
          <a:xfrm>
            <a:off x="990600" y="5331222"/>
            <a:ext cx="37411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stated content meets a declared joint invalidity</a:t>
            </a:r>
            <a:endParaRPr lang="en-US" sz="1300" dirty="0"/>
          </a:p>
        </p:txBody>
      </p:sp>
      <p:sp>
        <p:nvSpPr>
          <p:cNvPr id="18" name="Shape 16"/>
          <p:cNvSpPr/>
          <p:nvPr/>
        </p:nvSpPr>
        <p:spPr>
          <a:xfrm>
            <a:off x="6813550" y="2023070"/>
            <a:ext cx="2781300" cy="1384300"/>
          </a:xfrm>
          <a:prstGeom prst="roundRect">
            <a:avLst>
              <a:gd name="adj" fmla="val 5046"/>
            </a:avLst>
          </a:prstGeom>
          <a:solidFill>
            <a:srgbClr val="FBFAF6"/>
          </a:solidFill>
          <a:ln w="12700">
            <a:solidFill>
              <a:srgbClr val="2E6F95"/>
            </a:solidFill>
            <a:prstDash val="solid"/>
          </a:ln>
        </p:spPr>
      </p:sp>
      <p:sp>
        <p:nvSpPr>
          <p:cNvPr id="19" name="Text 17"/>
          <p:cNvSpPr/>
          <p:nvPr/>
        </p:nvSpPr>
        <p:spPr>
          <a:xfrm>
            <a:off x="6997700" y="2169120"/>
            <a:ext cx="2485390" cy="220464"/>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E6F95"/>
                </a:solidFill>
                <a:latin typeface="IBM Plex Sans" pitchFamily="34" charset="0"/>
                <a:ea typeface="IBM Plex Sans" pitchFamily="34" charset="-122"/>
                <a:cs typeface="IBM Plex Sans" pitchFamily="34" charset="-120"/>
              </a:rPr>
              <a:t>AETHUS A</a:t>
            </a:r>
            <a:endParaRPr lang="en-US" sz="1100" dirty="0"/>
          </a:p>
        </p:txBody>
      </p:sp>
      <p:sp>
        <p:nvSpPr>
          <p:cNvPr id="20" name="Text 18"/>
          <p:cNvSpPr/>
          <p:nvPr/>
        </p:nvSpPr>
        <p:spPr>
          <a:xfrm>
            <a:off x="6997700" y="2414984"/>
            <a:ext cx="2485390" cy="2736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41"/>
                </a:solidFill>
                <a:latin typeface="IBM Plex Sans" pitchFamily="34" charset="0"/>
                <a:ea typeface="IBM Plex Sans" pitchFamily="34" charset="-122"/>
                <a:cs typeface="IBM Plex Sans" pitchFamily="34" charset="-120"/>
              </a:rPr>
              <a:t>detector fired?  </a:t>
            </a:r>
            <a:r>
              <a:rPr lang="en-US" sz="1400" b="1" dirty="0">
                <a:solidFill>
                  <a:srgbClr val="1B2A41"/>
                </a:solidFill>
                <a:latin typeface="IBM Plex Sans" pitchFamily="34" charset="0"/>
                <a:ea typeface="IBM Plex Sans" pitchFamily="34" charset="-122"/>
                <a:cs typeface="IBM Plex Sans" pitchFamily="34" charset="-120"/>
              </a:rPr>
              <a:t>no</a:t>
            </a:r>
            <a:endParaRPr lang="en-US" sz="1400" dirty="0"/>
          </a:p>
        </p:txBody>
      </p:sp>
      <p:sp>
        <p:nvSpPr>
          <p:cNvPr id="21" name="Text 19"/>
          <p:cNvSpPr/>
          <p:nvPr/>
        </p:nvSpPr>
        <p:spPr>
          <a:xfrm>
            <a:off x="6997700" y="2714030"/>
            <a:ext cx="2485390" cy="2736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41"/>
                </a:solidFill>
                <a:latin typeface="IBM Plex Sans" pitchFamily="34" charset="0"/>
                <a:ea typeface="IBM Plex Sans" pitchFamily="34" charset="-122"/>
                <a:cs typeface="IBM Plex Sans" pitchFamily="34" charset="-120"/>
              </a:rPr>
              <a:t>screen position  </a:t>
            </a:r>
            <a:r>
              <a:rPr lang="en-US" sz="1400" b="1" dirty="0">
                <a:solidFill>
                  <a:srgbClr val="1B2A41"/>
                </a:solidFill>
                <a:latin typeface="IBM Plex Sans" pitchFamily="34" charset="0"/>
                <a:ea typeface="IBM Plex Sans" pitchFamily="34" charset="-122"/>
                <a:cs typeface="IBM Plex Sans" pitchFamily="34" charset="-120"/>
              </a:rPr>
              <a:t>x = 3.1</a:t>
            </a:r>
            <a:endParaRPr lang="en-US" sz="1400" dirty="0"/>
          </a:p>
        </p:txBody>
      </p:sp>
      <p:sp>
        <p:nvSpPr>
          <p:cNvPr id="22" name="Text 20"/>
          <p:cNvSpPr/>
          <p:nvPr/>
        </p:nvSpPr>
        <p:spPr>
          <a:xfrm>
            <a:off x="6997700" y="3013075"/>
            <a:ext cx="2485390" cy="2736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8A2B"/>
                </a:solidFill>
                <a:latin typeface="IBM Plex Sans" pitchFamily="34" charset="0"/>
                <a:ea typeface="IBM Plex Sans" pitchFamily="34" charset="-122"/>
                <a:cs typeface="IBM Plex Sans" pitchFamily="34" charset="-120"/>
              </a:rPr>
              <a:t>slit traversed  </a:t>
            </a:r>
            <a:r>
              <a:rPr lang="en-US" sz="1400" b="1" dirty="0">
                <a:solidFill>
                  <a:srgbClr val="C98A2B"/>
                </a:solidFill>
                <a:latin typeface="IBM Plex Sans" pitchFamily="34" charset="0"/>
                <a:ea typeface="IBM Plex Sans" pitchFamily="34" charset="-122"/>
                <a:cs typeface="IBM Plex Sans" pitchFamily="34" charset="-120"/>
              </a:rPr>
              <a:t>blank</a:t>
            </a:r>
            <a:endParaRPr lang="en-US" sz="1400" dirty="0"/>
          </a:p>
        </p:txBody>
      </p:sp>
      <p:pic>
        <p:nvPicPr>
          <p:cNvPr id="23" name="Image 0" descr="connector">    </p:cNvPr>
          <p:cNvPicPr>
            <a:picLocks noChangeAspect="1"/>
          </p:cNvPicPr>
          <p:nvPr/>
        </p:nvPicPr>
        <p:blipFill>
          <a:blip r:embed="rId1"/>
          <a:srcRect l="0" r="0" t="0" b="0"/>
          <a:stretch/>
        </p:blipFill>
        <p:spPr>
          <a:xfrm>
            <a:off x="8153400" y="3362920"/>
            <a:ext cx="101600" cy="609600"/>
          </a:xfrm>
          <a:prstGeom prst="rect">
            <a:avLst/>
          </a:prstGeom>
        </p:spPr>
      </p:pic>
      <p:pic>
        <p:nvPicPr>
          <p:cNvPr id="24" name="Image 1" descr="connector">    </p:cNvPr>
          <p:cNvPicPr>
            <a:picLocks noChangeAspect="1"/>
          </p:cNvPicPr>
          <p:nvPr/>
        </p:nvPicPr>
        <p:blipFill>
          <a:blip r:embed="rId2"/>
          <a:srcRect l="0" r="0" t="0" b="0"/>
          <a:stretch/>
        </p:blipFill>
        <p:spPr>
          <a:xfrm>
            <a:off x="6438900" y="3870920"/>
            <a:ext cx="3530600" cy="101600"/>
          </a:xfrm>
          <a:prstGeom prst="rect">
            <a:avLst/>
          </a:prstGeom>
        </p:spPr>
      </p:pic>
      <p:pic>
        <p:nvPicPr>
          <p:cNvPr id="25" name="Image 2" descr="connector">    </p:cNvPr>
          <p:cNvPicPr>
            <a:picLocks noChangeAspect="1"/>
          </p:cNvPicPr>
          <p:nvPr/>
        </p:nvPicPr>
        <p:blipFill>
          <a:blip r:embed="rId3"/>
          <a:srcRect l="0" r="0" t="0" b="0"/>
          <a:stretch/>
        </p:blipFill>
        <p:spPr>
          <a:xfrm>
            <a:off x="6438900" y="3870920"/>
            <a:ext cx="101600" cy="609600"/>
          </a:xfrm>
          <a:prstGeom prst="rect">
            <a:avLst/>
          </a:prstGeom>
        </p:spPr>
      </p:pic>
      <p:pic>
        <p:nvPicPr>
          <p:cNvPr id="26" name="Image 3" descr="connector">    </p:cNvPr>
          <p:cNvPicPr>
            <a:picLocks noChangeAspect="1"/>
          </p:cNvPicPr>
          <p:nvPr/>
        </p:nvPicPr>
        <p:blipFill>
          <a:blip r:embed="rId4"/>
          <a:srcRect l="0" r="0" t="0" b="0"/>
          <a:stretch/>
        </p:blipFill>
        <p:spPr>
          <a:xfrm>
            <a:off x="9867900" y="3870920"/>
            <a:ext cx="101600" cy="609600"/>
          </a:xfrm>
          <a:prstGeom prst="rect">
            <a:avLst/>
          </a:prstGeom>
        </p:spPr>
      </p:pic>
      <p:sp>
        <p:nvSpPr>
          <p:cNvPr id="27" name="Text 21"/>
          <p:cNvSpPr/>
          <p:nvPr/>
        </p:nvSpPr>
        <p:spPr>
          <a:xfrm>
            <a:off x="8331200" y="3655020"/>
            <a:ext cx="22860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declared splitting of the blank</a:t>
            </a:r>
            <a:endParaRPr lang="en-US" sz="1100" dirty="0"/>
          </a:p>
        </p:txBody>
      </p:sp>
      <p:sp>
        <p:nvSpPr>
          <p:cNvPr id="28" name="Shape 22"/>
          <p:cNvSpPr/>
          <p:nvPr/>
        </p:nvSpPr>
        <p:spPr>
          <a:xfrm>
            <a:off x="5035550" y="4436070"/>
            <a:ext cx="2908300" cy="939800"/>
          </a:xfrm>
          <a:prstGeom prst="roundRect">
            <a:avLst>
              <a:gd name="adj" fmla="val 7432"/>
            </a:avLst>
          </a:prstGeom>
          <a:solidFill>
            <a:srgbClr val="FBFAF6"/>
          </a:solidFill>
          <a:ln w="12700">
            <a:solidFill>
              <a:srgbClr val="2E6F95"/>
            </a:solidFill>
            <a:prstDash val="solid"/>
          </a:ln>
        </p:spPr>
      </p:sp>
      <p:sp>
        <p:nvSpPr>
          <p:cNvPr id="29" name="Text 23"/>
          <p:cNvSpPr/>
          <p:nvPr/>
        </p:nvSpPr>
        <p:spPr>
          <a:xfrm>
            <a:off x="5219700" y="4569420"/>
            <a:ext cx="261620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E6F95"/>
                </a:solidFill>
                <a:latin typeface="IBM Plex Sans" pitchFamily="34" charset="0"/>
                <a:ea typeface="IBM Plex Sans" pitchFamily="34" charset="-122"/>
                <a:cs typeface="IBM Plex Sans" pitchFamily="34" charset="-120"/>
              </a:rPr>
              <a:t>PROPER CHILD B₁</a:t>
            </a:r>
            <a:endParaRPr lang="en-US" sz="1100" dirty="0"/>
          </a:p>
        </p:txBody>
      </p:sp>
      <p:sp>
        <p:nvSpPr>
          <p:cNvPr id="30" name="Text 24"/>
          <p:cNvSpPr/>
          <p:nvPr/>
        </p:nvSpPr>
        <p:spPr>
          <a:xfrm>
            <a:off x="5219700" y="4815780"/>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41"/>
                </a:solidFill>
                <a:latin typeface="IBM Plex Sans" pitchFamily="34" charset="0"/>
                <a:ea typeface="IBM Plex Sans" pitchFamily="34" charset="-122"/>
                <a:cs typeface="IBM Plex Sans" pitchFamily="34" charset="-120"/>
              </a:rPr>
              <a:t>slit traversed  </a:t>
            </a:r>
            <a:r>
              <a:rPr lang="en-US" sz="1400" b="1" dirty="0">
                <a:solidFill>
                  <a:srgbClr val="1B2A41"/>
                </a:solidFill>
                <a:latin typeface="IBM Plex Sans" pitchFamily="34" charset="0"/>
                <a:ea typeface="IBM Plex Sans" pitchFamily="34" charset="-122"/>
                <a:cs typeface="IBM Plex Sans" pitchFamily="34" charset="-120"/>
              </a:rPr>
              <a:t>left</a:t>
            </a:r>
            <a:endParaRPr lang="en-US" sz="1400" dirty="0"/>
          </a:p>
        </p:txBody>
      </p:sp>
      <p:sp>
        <p:nvSpPr>
          <p:cNvPr id="31" name="Shape 25"/>
          <p:cNvSpPr/>
          <p:nvPr/>
        </p:nvSpPr>
        <p:spPr>
          <a:xfrm>
            <a:off x="8464550" y="4436070"/>
            <a:ext cx="2908300" cy="939800"/>
          </a:xfrm>
          <a:prstGeom prst="roundRect">
            <a:avLst>
              <a:gd name="adj" fmla="val 7432"/>
            </a:avLst>
          </a:prstGeom>
          <a:solidFill>
            <a:srgbClr val="FBFAF6"/>
          </a:solidFill>
          <a:ln w="12700">
            <a:solidFill>
              <a:srgbClr val="2E6F95"/>
            </a:solidFill>
            <a:prstDash val="solid"/>
          </a:ln>
        </p:spPr>
      </p:sp>
      <p:sp>
        <p:nvSpPr>
          <p:cNvPr id="32" name="Text 26"/>
          <p:cNvSpPr/>
          <p:nvPr/>
        </p:nvSpPr>
        <p:spPr>
          <a:xfrm>
            <a:off x="8648700" y="4569420"/>
            <a:ext cx="261620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E6F95"/>
                </a:solidFill>
                <a:latin typeface="IBM Plex Sans" pitchFamily="34" charset="0"/>
                <a:ea typeface="IBM Plex Sans" pitchFamily="34" charset="-122"/>
                <a:cs typeface="IBM Plex Sans" pitchFamily="34" charset="-120"/>
              </a:rPr>
              <a:t>PROPER CHILD B₂</a:t>
            </a:r>
            <a:endParaRPr lang="en-US" sz="1100" dirty="0"/>
          </a:p>
        </p:txBody>
      </p:sp>
      <p:sp>
        <p:nvSpPr>
          <p:cNvPr id="33" name="Text 27"/>
          <p:cNvSpPr/>
          <p:nvPr/>
        </p:nvSpPr>
        <p:spPr>
          <a:xfrm>
            <a:off x="8648700" y="4815780"/>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41"/>
                </a:solidFill>
                <a:latin typeface="IBM Plex Sans" pitchFamily="34" charset="0"/>
                <a:ea typeface="IBM Plex Sans" pitchFamily="34" charset="-122"/>
                <a:cs typeface="IBM Plex Sans" pitchFamily="34" charset="-120"/>
              </a:rPr>
              <a:t>slit traversed  </a:t>
            </a:r>
            <a:r>
              <a:rPr lang="en-US" sz="1400" b="1" dirty="0">
                <a:solidFill>
                  <a:srgbClr val="1B2A41"/>
                </a:solidFill>
                <a:latin typeface="IBM Plex Sans" pitchFamily="34" charset="0"/>
                <a:ea typeface="IBM Plex Sans" pitchFamily="34" charset="-122"/>
                <a:cs typeface="IBM Plex Sans" pitchFamily="34" charset="-120"/>
              </a:rPr>
              <a:t>right</a:t>
            </a:r>
            <a:endParaRPr lang="en-US" sz="1400" dirty="0"/>
          </a:p>
        </p:txBody>
      </p:sp>
      <p:sp>
        <p:nvSpPr>
          <p:cNvPr id="34" name="Text 28"/>
          <p:cNvSpPr/>
          <p:nvPr/>
        </p:nvSpPr>
        <p:spPr>
          <a:xfrm>
            <a:off x="5029200" y="554732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 ≤ A, the Aethic tree: the order the third postulate quantifies over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7D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Three postulates, stated exactly</a:t>
            </a:r>
            <a:endParaRPr lang="en-US" sz="3400" dirty="0"/>
          </a:p>
        </p:txBody>
      </p:sp>
      <p:sp>
        <p:nvSpPr>
          <p:cNvPr id="3" name="Shape 1"/>
          <p:cNvSpPr/>
          <p:nvPr/>
        </p:nvSpPr>
        <p:spPr>
          <a:xfrm>
            <a:off x="812800" y="1516360"/>
            <a:ext cx="4318000" cy="933351"/>
          </a:xfrm>
          <a:prstGeom prst="roundRect">
            <a:avLst>
              <a:gd name="adj" fmla="val 5443"/>
            </a:avLst>
          </a:prstGeom>
          <a:solidFill>
            <a:srgbClr val="FBFAF6"/>
          </a:solidFill>
          <a:ln/>
        </p:spPr>
      </p:sp>
      <p:sp>
        <p:nvSpPr>
          <p:cNvPr id="4" name="Shape 2"/>
          <p:cNvSpPr/>
          <p:nvPr/>
        </p:nvSpPr>
        <p:spPr>
          <a:xfrm>
            <a:off x="812800" y="1516360"/>
            <a:ext cx="4318000" cy="933351"/>
          </a:xfrm>
          <a:custGeom>
            <a:avLst/>
            <a:gdLst/>
            <a:ahLst/>
            <a:cxnLst/>
            <a:rect l="l" t="t" r="r" b="b"/>
            <a:pathLst>
              <a:path w="4318000" h="933351">
                <a:moveTo>
                  <a:pt x="50800" y="933351"/>
                </a:moveTo>
                <a:lnTo>
                  <a:pt x="50800" y="933351"/>
                </a:lnTo>
                <a:arcTo hR="50800" wR="50800" stAng="5400000" swAng="5400000"/>
                <a:lnTo>
                  <a:pt x="0" y="50800"/>
                </a:lnTo>
                <a:arcTo hR="50800" wR="50800" stAng="10800000" swAng="5400000"/>
                <a:lnTo>
                  <a:pt x="50800" y="0"/>
                </a:lnTo>
                <a:arcTo hR="50800" wR="12700" stAng="16200000" swAng="-5400000"/>
                <a:lnTo>
                  <a:pt x="38100" y="882551"/>
                </a:lnTo>
                <a:arcTo hR="50800" wR="12700" stAng="10800000" swAng="-5400000"/>
                <a:close/>
              </a:path>
            </a:pathLst>
          </a:custGeom>
          <a:solidFill>
            <a:srgbClr val="2E6F95"/>
          </a:solidFill>
          <a:ln/>
        </p:spPr>
      </p:sp>
      <p:sp>
        <p:nvSpPr>
          <p:cNvPr id="5" name="Text 3"/>
          <p:cNvSpPr/>
          <p:nvPr/>
        </p:nvSpPr>
        <p:spPr>
          <a:xfrm>
            <a:off x="1016000" y="1643360"/>
            <a:ext cx="4068191"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E6F95"/>
                </a:solidFill>
                <a:latin typeface="IBM Plex Sans" pitchFamily="34" charset="0"/>
                <a:ea typeface="IBM Plex Sans" pitchFamily="34" charset="-122"/>
                <a:cs typeface="IBM Plex Sans" pitchFamily="34" charset="-120"/>
              </a:rPr>
              <a:t>FIRST</a:t>
            </a:r>
            <a:endParaRPr lang="en-US" sz="1100" dirty="0"/>
          </a:p>
        </p:txBody>
      </p:sp>
      <p:sp>
        <p:nvSpPr>
          <p:cNvPr id="6" name="Text 4"/>
          <p:cNvSpPr/>
          <p:nvPr/>
        </p:nvSpPr>
        <p:spPr>
          <a:xfrm>
            <a:off x="1016000" y="1877020"/>
            <a:ext cx="4068191" cy="471091"/>
          </a:xfrm>
          <a:prstGeom prst="rect">
            <a:avLst/>
          </a:prstGeom>
          <a:noFill/>
          <a:ln/>
        </p:spPr>
        <p:txBody>
          <a:bodyPr wrap="square" lIns="0" tIns="0" rIns="0" bIns="0" rtlCol="0" anchor="t">
            <a:normAutofit/>
          </a:bodyPr>
          <a:lstStyle/>
          <a:p>
            <a:pPr algn="l" indent="0" marL="0">
              <a:lnSpc>
                <a:spcPts val="1755"/>
              </a:lnSpc>
              <a:buNone/>
            </a:pPr>
            <a:r>
              <a:rPr lang="en-US" sz="1350" dirty="0">
                <a:solidFill>
                  <a:srgbClr val="1B2A41"/>
                </a:solidFill>
                <a:latin typeface="IBM Plex Sans" pitchFamily="34" charset="0"/>
                <a:ea typeface="IBM Plex Sans" pitchFamily="34" charset="-122"/>
                <a:cs typeface="IBM Plex Sans" pitchFamily="34" charset="-120"/>
              </a:rPr>
              <a:t>Any attribution of reality is a statement of relation to a particular Aethus.</a:t>
            </a:r>
            <a:endParaRPr lang="en-US" sz="1350" dirty="0"/>
          </a:p>
        </p:txBody>
      </p:sp>
      <p:sp>
        <p:nvSpPr>
          <p:cNvPr id="7" name="Shape 5"/>
          <p:cNvSpPr/>
          <p:nvPr/>
        </p:nvSpPr>
        <p:spPr>
          <a:xfrm>
            <a:off x="812800" y="2576711"/>
            <a:ext cx="4318000" cy="1156196"/>
          </a:xfrm>
          <a:prstGeom prst="roundRect">
            <a:avLst>
              <a:gd name="adj" fmla="val 4394"/>
            </a:avLst>
          </a:prstGeom>
          <a:solidFill>
            <a:srgbClr val="FBFAF6"/>
          </a:solidFill>
          <a:ln/>
        </p:spPr>
      </p:sp>
      <p:sp>
        <p:nvSpPr>
          <p:cNvPr id="8" name="Shape 6"/>
          <p:cNvSpPr/>
          <p:nvPr/>
        </p:nvSpPr>
        <p:spPr>
          <a:xfrm>
            <a:off x="812800" y="2576711"/>
            <a:ext cx="4318000" cy="1156196"/>
          </a:xfrm>
          <a:custGeom>
            <a:avLst/>
            <a:gdLst/>
            <a:ahLst/>
            <a:cxnLst/>
            <a:rect l="l" t="t" r="r" b="b"/>
            <a:pathLst>
              <a:path w="4318000" h="1156196">
                <a:moveTo>
                  <a:pt x="50800" y="1156196"/>
                </a:moveTo>
                <a:lnTo>
                  <a:pt x="50800" y="1156196"/>
                </a:lnTo>
                <a:arcTo hR="50800" wR="50800" stAng="5400000" swAng="5400000"/>
                <a:lnTo>
                  <a:pt x="0" y="50800"/>
                </a:lnTo>
                <a:arcTo hR="50800" wR="50800" stAng="10800000" swAng="5400000"/>
                <a:lnTo>
                  <a:pt x="50800" y="0"/>
                </a:lnTo>
                <a:arcTo hR="50800" wR="12700" stAng="16200000" swAng="-5400000"/>
                <a:lnTo>
                  <a:pt x="38100" y="1105396"/>
                </a:lnTo>
                <a:arcTo hR="50800" wR="12700" stAng="10800000" swAng="-5400000"/>
                <a:close/>
              </a:path>
            </a:pathLst>
          </a:custGeom>
          <a:solidFill>
            <a:srgbClr val="2E6F95"/>
          </a:solidFill>
          <a:ln/>
        </p:spPr>
      </p:sp>
      <p:sp>
        <p:nvSpPr>
          <p:cNvPr id="9" name="Text 7"/>
          <p:cNvSpPr/>
          <p:nvPr/>
        </p:nvSpPr>
        <p:spPr>
          <a:xfrm>
            <a:off x="1016000" y="2703711"/>
            <a:ext cx="4068191"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E6F95"/>
                </a:solidFill>
                <a:latin typeface="IBM Plex Sans" pitchFamily="34" charset="0"/>
                <a:ea typeface="IBM Plex Sans" pitchFamily="34" charset="-122"/>
                <a:cs typeface="IBM Plex Sans" pitchFamily="34" charset="-120"/>
              </a:rPr>
              <a:t>SECOND</a:t>
            </a:r>
            <a:endParaRPr lang="en-US" sz="1100" dirty="0"/>
          </a:p>
        </p:txBody>
      </p:sp>
      <p:sp>
        <p:nvSpPr>
          <p:cNvPr id="10" name="Text 8"/>
          <p:cNvSpPr/>
          <p:nvPr/>
        </p:nvSpPr>
        <p:spPr>
          <a:xfrm>
            <a:off x="1016000" y="2937371"/>
            <a:ext cx="4068191" cy="693936"/>
          </a:xfrm>
          <a:prstGeom prst="rect">
            <a:avLst/>
          </a:prstGeom>
          <a:noFill/>
          <a:ln/>
        </p:spPr>
        <p:txBody>
          <a:bodyPr wrap="square" lIns="0" tIns="0" rIns="0" bIns="0" rtlCol="0" anchor="t">
            <a:normAutofit/>
          </a:bodyPr>
          <a:lstStyle/>
          <a:p>
            <a:pPr algn="l" indent="0" marL="0">
              <a:lnSpc>
                <a:spcPts val="1755"/>
              </a:lnSpc>
              <a:buNone/>
            </a:pPr>
            <a:r>
              <a:rPr lang="en-US" sz="1350" dirty="0">
                <a:solidFill>
                  <a:srgbClr val="1B2A41"/>
                </a:solidFill>
                <a:latin typeface="IBM Plex Sans" pitchFamily="34" charset="0"/>
                <a:ea typeface="IBM Plex Sans" pitchFamily="34" charset="-122"/>
                <a:cs typeface="IBM Plex Sans" pitchFamily="34" charset="-120"/>
              </a:rPr>
              <a:t>If an Aethus is valid, then any given attribute will be in Aethic superposition relative to it if and only if it is nonpresent to it.</a:t>
            </a:r>
            <a:endParaRPr lang="en-US" sz="1350" dirty="0"/>
          </a:p>
        </p:txBody>
      </p:sp>
      <p:sp>
        <p:nvSpPr>
          <p:cNvPr id="11" name="Shape 9"/>
          <p:cNvSpPr/>
          <p:nvPr/>
        </p:nvSpPr>
        <p:spPr>
          <a:xfrm>
            <a:off x="812800" y="3859907"/>
            <a:ext cx="4318000" cy="1934666"/>
          </a:xfrm>
          <a:prstGeom prst="roundRect">
            <a:avLst>
              <a:gd name="adj" fmla="val 2626"/>
            </a:avLst>
          </a:prstGeom>
          <a:solidFill>
            <a:srgbClr val="FBFAF6"/>
          </a:solidFill>
          <a:ln/>
        </p:spPr>
      </p:sp>
      <p:sp>
        <p:nvSpPr>
          <p:cNvPr id="12" name="Shape 10"/>
          <p:cNvSpPr/>
          <p:nvPr/>
        </p:nvSpPr>
        <p:spPr>
          <a:xfrm>
            <a:off x="812800" y="3859907"/>
            <a:ext cx="4318000" cy="1934666"/>
          </a:xfrm>
          <a:custGeom>
            <a:avLst/>
            <a:gdLst/>
            <a:ahLst/>
            <a:cxnLst/>
            <a:rect l="l" t="t" r="r" b="b"/>
            <a:pathLst>
              <a:path w="4318000" h="1934666">
                <a:moveTo>
                  <a:pt x="50800" y="1934666"/>
                </a:moveTo>
                <a:lnTo>
                  <a:pt x="50800" y="1934666"/>
                </a:lnTo>
                <a:arcTo hR="50800" wR="50800" stAng="5400000" swAng="5400000"/>
                <a:lnTo>
                  <a:pt x="0" y="50800"/>
                </a:lnTo>
                <a:arcTo hR="50800" wR="50800" stAng="10800000" swAng="5400000"/>
                <a:lnTo>
                  <a:pt x="50800" y="0"/>
                </a:lnTo>
                <a:arcTo hR="50800" wR="12700" stAng="16200000" swAng="-5400000"/>
                <a:lnTo>
                  <a:pt x="38100" y="1883866"/>
                </a:lnTo>
                <a:arcTo hR="50800" wR="12700" stAng="10800000" swAng="-5400000"/>
                <a:close/>
              </a:path>
            </a:pathLst>
          </a:custGeom>
          <a:solidFill>
            <a:srgbClr val="C98A2B"/>
          </a:solidFill>
          <a:ln/>
        </p:spPr>
      </p:sp>
      <p:sp>
        <p:nvSpPr>
          <p:cNvPr id="13" name="Text 11"/>
          <p:cNvSpPr/>
          <p:nvPr/>
        </p:nvSpPr>
        <p:spPr>
          <a:xfrm>
            <a:off x="1016000" y="3986907"/>
            <a:ext cx="4068191"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98A2B"/>
                </a:solidFill>
                <a:latin typeface="IBM Plex Sans" pitchFamily="34" charset="0"/>
                <a:ea typeface="IBM Plex Sans" pitchFamily="34" charset="-122"/>
                <a:cs typeface="IBM Plex Sans" pitchFamily="34" charset="-120"/>
              </a:rPr>
              <a:t>THIRD</a:t>
            </a:r>
            <a:endParaRPr lang="en-US" sz="1100" dirty="0"/>
          </a:p>
        </p:txBody>
      </p:sp>
      <p:sp>
        <p:nvSpPr>
          <p:cNvPr id="14" name="Text 12"/>
          <p:cNvSpPr/>
          <p:nvPr/>
        </p:nvSpPr>
        <p:spPr>
          <a:xfrm>
            <a:off x="1016000" y="4233267"/>
            <a:ext cx="4068191" cy="693936"/>
          </a:xfrm>
          <a:prstGeom prst="rect">
            <a:avLst/>
          </a:prstGeom>
          <a:noFill/>
          <a:ln/>
        </p:spPr>
        <p:txBody>
          <a:bodyPr wrap="square" lIns="0" tIns="0" rIns="0" bIns="0" rtlCol="0" anchor="t">
            <a:normAutofit/>
          </a:bodyPr>
          <a:lstStyle/>
          <a:p>
            <a:pPr algn="l" indent="0" marL="0">
              <a:lnSpc>
                <a:spcPts val="1755"/>
              </a:lnSpc>
              <a:buNone/>
            </a:pPr>
            <a:r>
              <a:rPr lang="en-US" sz="1350" dirty="0">
                <a:solidFill>
                  <a:srgbClr val="1B2A41"/>
                </a:solidFill>
                <a:latin typeface="IBM Plex Sans" pitchFamily="34" charset="0"/>
                <a:ea typeface="IBM Plex Sans" pitchFamily="34" charset="-122"/>
                <a:cs typeface="IBM Plex Sans" pitchFamily="34" charset="-120"/>
              </a:rPr>
              <a:t>If some Aethus is valid, then there exists a proper child Aethus to it for which every one of its own proper child Aethae are valid.</a:t>
            </a:r>
            <a:endParaRPr lang="en-US" sz="1350" dirty="0"/>
          </a:p>
        </p:txBody>
      </p:sp>
      <p:sp>
        <p:nvSpPr>
          <p:cNvPr id="15" name="Text 13"/>
          <p:cNvSpPr/>
          <p:nvPr/>
        </p:nvSpPr>
        <p:spPr>
          <a:xfrm>
            <a:off x="1016000" y="4952603"/>
            <a:ext cx="406819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E6F95"/>
                </a:solidFill>
                <a:latin typeface="IBM Plex Sans" pitchFamily="34" charset="0"/>
                <a:ea typeface="IBM Plex Sans" pitchFamily="34" charset="-122"/>
                <a:cs typeface="IBM Plex Sans" pitchFamily="34" charset="-120"/>
              </a:rPr>
              <a:t>V[A]  ⇒  ∃B ≤ A  ∀C ≤ B : V[C]</a:t>
            </a:r>
            <a:endParaRPr lang="en-US" sz="1600" dirty="0"/>
          </a:p>
        </p:txBody>
      </p:sp>
      <p:sp>
        <p:nvSpPr>
          <p:cNvPr id="16" name="Text 14"/>
          <p:cNvSpPr/>
          <p:nvPr/>
        </p:nvSpPr>
        <p:spPr>
          <a:xfrm>
            <a:off x="1016000" y="5287863"/>
            <a:ext cx="4068191" cy="405110"/>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4A5568"/>
                </a:solidFill>
                <a:latin typeface="IBM Plex Sans" pitchFamily="34" charset="0"/>
                <a:ea typeface="IBM Plex Sans" pitchFamily="34" charset="-122"/>
                <a:cs typeface="IBM Plex Sans" pitchFamily="34" charset="-120"/>
              </a:rPr>
              <a:t>An implication, not a biconditional: V ⊆ νF always; V = νF only on base generation.</a:t>
            </a:r>
            <a:endParaRPr lang="en-US" sz="1150" dirty="0"/>
          </a:p>
        </p:txBody>
      </p:sp>
      <p:sp>
        <p:nvSpPr>
          <p:cNvPr id="17" name="Text 15"/>
          <p:cNvSpPr/>
          <p:nvPr/>
        </p:nvSpPr>
        <p:spPr>
          <a:xfrm>
            <a:off x="5486400" y="1516360"/>
            <a:ext cx="60695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 A SAFE CHILD, ∀ ITS CHILDREN VALID</a:t>
            </a:r>
            <a:endParaRPr lang="en-US" sz="1200" dirty="0"/>
          </a:p>
        </p:txBody>
      </p:sp>
      <p:sp>
        <p:nvSpPr>
          <p:cNvPr id="18" name="Text 16"/>
          <p:cNvSpPr/>
          <p:nvPr/>
        </p:nvSpPr>
        <p:spPr>
          <a:xfrm>
            <a:off x="6502400" y="1818580"/>
            <a:ext cx="762000" cy="381000"/>
          </a:xfrm>
          <a:prstGeom prst="roundRect">
            <a:avLst>
              <a:gd name="adj" fmla="val 13333"/>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a:t>
            </a:r>
            <a:endParaRPr lang="en-US" sz="1300" dirty="0"/>
          </a:p>
        </p:txBody>
      </p:sp>
      <p:pic>
        <p:nvPicPr>
          <p:cNvPr id="19" name="Image 0" descr="connector">    </p:cNvPr>
          <p:cNvPicPr>
            <a:picLocks noChangeAspect="1"/>
          </p:cNvPicPr>
          <p:nvPr/>
        </p:nvPicPr>
        <p:blipFill>
          <a:blip r:embed="rId1"/>
          <a:srcRect l="0" r="0" t="0" b="0"/>
          <a:stretch/>
        </p:blipFill>
        <p:spPr>
          <a:xfrm>
            <a:off x="6832600" y="2148780"/>
            <a:ext cx="101600" cy="387350"/>
          </a:xfrm>
          <a:prstGeom prst="rect">
            <a:avLst/>
          </a:prstGeom>
        </p:spPr>
      </p:pic>
      <p:pic>
        <p:nvPicPr>
          <p:cNvPr id="20" name="Image 1" descr="connector">    </p:cNvPr>
          <p:cNvPicPr>
            <a:picLocks noChangeAspect="1"/>
          </p:cNvPicPr>
          <p:nvPr/>
        </p:nvPicPr>
        <p:blipFill>
          <a:blip r:embed="rId2"/>
          <a:srcRect l="0" r="0" t="0" b="0"/>
          <a:stretch/>
        </p:blipFill>
        <p:spPr>
          <a:xfrm>
            <a:off x="5943600" y="2434530"/>
            <a:ext cx="1879600" cy="101600"/>
          </a:xfrm>
          <a:prstGeom prst="rect">
            <a:avLst/>
          </a:prstGeom>
        </p:spPr>
      </p:pic>
      <p:pic>
        <p:nvPicPr>
          <p:cNvPr id="21" name="Image 2" descr="connector">    </p:cNvPr>
          <p:cNvPicPr>
            <a:picLocks noChangeAspect="1"/>
          </p:cNvPicPr>
          <p:nvPr/>
        </p:nvPicPr>
        <p:blipFill>
          <a:blip r:embed="rId3"/>
          <a:srcRect l="0" r="0" t="0" b="0"/>
          <a:stretch/>
        </p:blipFill>
        <p:spPr>
          <a:xfrm>
            <a:off x="5943600" y="2434530"/>
            <a:ext cx="101600" cy="387350"/>
          </a:xfrm>
          <a:prstGeom prst="rect">
            <a:avLst/>
          </a:prstGeom>
        </p:spPr>
      </p:pic>
      <p:pic>
        <p:nvPicPr>
          <p:cNvPr id="22" name="Image 3" descr="connector">    </p:cNvPr>
          <p:cNvPicPr>
            <a:picLocks noChangeAspect="1"/>
          </p:cNvPicPr>
          <p:nvPr/>
        </p:nvPicPr>
        <p:blipFill>
          <a:blip r:embed="rId4"/>
          <a:srcRect l="0" r="0" t="0" b="0"/>
          <a:stretch/>
        </p:blipFill>
        <p:spPr>
          <a:xfrm>
            <a:off x="7721600" y="2434530"/>
            <a:ext cx="101600" cy="387350"/>
          </a:xfrm>
          <a:prstGeom prst="rect">
            <a:avLst/>
          </a:prstGeom>
        </p:spPr>
      </p:pic>
      <p:sp>
        <p:nvSpPr>
          <p:cNvPr id="23" name="Text 17"/>
          <p:cNvSpPr/>
          <p:nvPr/>
        </p:nvSpPr>
        <p:spPr>
          <a:xfrm>
            <a:off x="5486400" y="2771080"/>
            <a:ext cx="1016000" cy="381000"/>
          </a:xfrm>
          <a:prstGeom prst="roundRect">
            <a:avLst>
              <a:gd name="adj" fmla="val 13333"/>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B, safe</a:t>
            </a:r>
            <a:endParaRPr lang="en-US" sz="1300" dirty="0"/>
          </a:p>
        </p:txBody>
      </p:sp>
      <p:sp>
        <p:nvSpPr>
          <p:cNvPr id="24" name="Text 18"/>
          <p:cNvSpPr/>
          <p:nvPr/>
        </p:nvSpPr>
        <p:spPr>
          <a:xfrm>
            <a:off x="7264400" y="2771080"/>
            <a:ext cx="1016000" cy="381000"/>
          </a:xfrm>
          <a:prstGeom prst="roundRect">
            <a:avLst>
              <a:gd name="adj" fmla="val 13333"/>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B′</a:t>
            </a:r>
            <a:endParaRPr lang="en-US" sz="1300" dirty="0"/>
          </a:p>
        </p:txBody>
      </p:sp>
      <p:pic>
        <p:nvPicPr>
          <p:cNvPr id="25" name="Image 4" descr="connector">    </p:cNvPr>
          <p:cNvPicPr>
            <a:picLocks noChangeAspect="1"/>
          </p:cNvPicPr>
          <p:nvPr/>
        </p:nvPicPr>
        <p:blipFill>
          <a:blip r:embed="rId5"/>
          <a:srcRect l="0" r="0" t="0" b="0"/>
          <a:stretch/>
        </p:blipFill>
        <p:spPr>
          <a:xfrm>
            <a:off x="5943600" y="3101280"/>
            <a:ext cx="101600" cy="387350"/>
          </a:xfrm>
          <a:prstGeom prst="rect">
            <a:avLst/>
          </a:prstGeom>
        </p:spPr>
      </p:pic>
      <p:pic>
        <p:nvPicPr>
          <p:cNvPr id="26" name="Image 5" descr="connector">    </p:cNvPr>
          <p:cNvPicPr>
            <a:picLocks noChangeAspect="1"/>
          </p:cNvPicPr>
          <p:nvPr/>
        </p:nvPicPr>
        <p:blipFill>
          <a:blip r:embed="rId6"/>
          <a:srcRect l="0" r="0" t="0" b="0"/>
          <a:stretch/>
        </p:blipFill>
        <p:spPr>
          <a:xfrm>
            <a:off x="5816600" y="3387030"/>
            <a:ext cx="965200" cy="101600"/>
          </a:xfrm>
          <a:prstGeom prst="rect">
            <a:avLst/>
          </a:prstGeom>
        </p:spPr>
      </p:pic>
      <p:pic>
        <p:nvPicPr>
          <p:cNvPr id="27" name="Image 6" descr="connector">    </p:cNvPr>
          <p:cNvPicPr>
            <a:picLocks noChangeAspect="1"/>
          </p:cNvPicPr>
          <p:nvPr/>
        </p:nvPicPr>
        <p:blipFill>
          <a:blip r:embed="rId7"/>
          <a:srcRect l="0" r="0" t="0" b="0"/>
          <a:stretch/>
        </p:blipFill>
        <p:spPr>
          <a:xfrm>
            <a:off x="5816600" y="3387030"/>
            <a:ext cx="101600" cy="387350"/>
          </a:xfrm>
          <a:prstGeom prst="rect">
            <a:avLst/>
          </a:prstGeom>
        </p:spPr>
      </p:pic>
      <p:pic>
        <p:nvPicPr>
          <p:cNvPr id="28" name="Image 7" descr="connector">    </p:cNvPr>
          <p:cNvPicPr>
            <a:picLocks noChangeAspect="1"/>
          </p:cNvPicPr>
          <p:nvPr/>
        </p:nvPicPr>
        <p:blipFill>
          <a:blip r:embed="rId8"/>
          <a:srcRect l="0" r="0" t="0" b="0"/>
          <a:stretch/>
        </p:blipFill>
        <p:spPr>
          <a:xfrm>
            <a:off x="6680200" y="3387030"/>
            <a:ext cx="101600" cy="387350"/>
          </a:xfrm>
          <a:prstGeom prst="rect">
            <a:avLst/>
          </a:prstGeom>
        </p:spPr>
      </p:pic>
      <p:pic>
        <p:nvPicPr>
          <p:cNvPr id="29" name="Image 8" descr="connector">    </p:cNvPr>
          <p:cNvPicPr>
            <a:picLocks noChangeAspect="1"/>
          </p:cNvPicPr>
          <p:nvPr/>
        </p:nvPicPr>
        <p:blipFill>
          <a:blip r:embed="rId9"/>
          <a:srcRect l="0" r="0" t="0" b="0"/>
          <a:stretch/>
        </p:blipFill>
        <p:spPr>
          <a:xfrm>
            <a:off x="7721600" y="3101280"/>
            <a:ext cx="101600" cy="673100"/>
          </a:xfrm>
          <a:prstGeom prst="rect">
            <a:avLst/>
          </a:prstGeom>
        </p:spPr>
      </p:pic>
      <p:sp>
        <p:nvSpPr>
          <p:cNvPr id="30" name="Text 19"/>
          <p:cNvSpPr/>
          <p:nvPr/>
        </p:nvSpPr>
        <p:spPr>
          <a:xfrm>
            <a:off x="5486400" y="3723580"/>
            <a:ext cx="762000" cy="330200"/>
          </a:xfrm>
          <a:prstGeom prst="roundRect">
            <a:avLst>
              <a:gd name="adj" fmla="val 15385"/>
            </a:avLst>
          </a:prstGeom>
          <a:solidFill>
            <a:srgbClr val="2E6F95"/>
          </a:solidFill>
          <a:ln/>
        </p:spPr>
        <p:txBody>
          <a:bodyPr wrap="square" lIns="0" tIns="0" rIns="0" bIns="0" rtlCol="0" anchor="ctr">
            <a:normAutofit/>
          </a:bodyPr>
          <a:lstStyle/>
          <a:p>
            <a:pPr algn="ctr" indent="0" marL="0">
              <a:lnSpc>
                <a:spcPts val="1680"/>
              </a:lnSpc>
              <a:buNone/>
            </a:pPr>
            <a:r>
              <a:rPr lang="en-US" sz="1200" dirty="0">
                <a:solidFill>
                  <a:srgbClr val="F6F3EC"/>
                </a:solidFill>
                <a:latin typeface="IBM Plex Sans" pitchFamily="34" charset="0"/>
                <a:ea typeface="IBM Plex Sans" pitchFamily="34" charset="-122"/>
                <a:cs typeface="IBM Plex Sans" pitchFamily="34" charset="-120"/>
              </a:rPr>
              <a:t>valid</a:t>
            </a:r>
            <a:endParaRPr lang="en-US" sz="1200" dirty="0"/>
          </a:p>
        </p:txBody>
      </p:sp>
      <p:sp>
        <p:nvSpPr>
          <p:cNvPr id="31" name="Text 20"/>
          <p:cNvSpPr/>
          <p:nvPr/>
        </p:nvSpPr>
        <p:spPr>
          <a:xfrm>
            <a:off x="6350000" y="3723580"/>
            <a:ext cx="762000" cy="330200"/>
          </a:xfrm>
          <a:prstGeom prst="roundRect">
            <a:avLst>
              <a:gd name="adj" fmla="val 15385"/>
            </a:avLst>
          </a:prstGeom>
          <a:solidFill>
            <a:srgbClr val="2E6F95"/>
          </a:solidFill>
          <a:ln/>
        </p:spPr>
        <p:txBody>
          <a:bodyPr wrap="square" lIns="0" tIns="0" rIns="0" bIns="0" rtlCol="0" anchor="ctr">
            <a:normAutofit/>
          </a:bodyPr>
          <a:lstStyle/>
          <a:p>
            <a:pPr algn="ctr" indent="0" marL="0">
              <a:lnSpc>
                <a:spcPts val="1680"/>
              </a:lnSpc>
              <a:buNone/>
            </a:pPr>
            <a:r>
              <a:rPr lang="en-US" sz="1200" dirty="0">
                <a:solidFill>
                  <a:srgbClr val="F6F3EC"/>
                </a:solidFill>
                <a:latin typeface="IBM Plex Sans" pitchFamily="34" charset="0"/>
                <a:ea typeface="IBM Plex Sans" pitchFamily="34" charset="-122"/>
                <a:cs typeface="IBM Plex Sans" pitchFamily="34" charset="-120"/>
              </a:rPr>
              <a:t>valid</a:t>
            </a:r>
            <a:endParaRPr lang="en-US" sz="1200" dirty="0"/>
          </a:p>
        </p:txBody>
      </p:sp>
      <p:sp>
        <p:nvSpPr>
          <p:cNvPr id="32" name="Text 21"/>
          <p:cNvSpPr/>
          <p:nvPr/>
        </p:nvSpPr>
        <p:spPr>
          <a:xfrm>
            <a:off x="7391400" y="3723580"/>
            <a:ext cx="762000" cy="330200"/>
          </a:xfrm>
          <a:prstGeom prst="roundRect">
            <a:avLst>
              <a:gd name="adj" fmla="val 15385"/>
            </a:avLst>
          </a:prstGeom>
          <a:solidFill>
            <a:srgbClr val="C98A2B"/>
          </a:solidFill>
          <a:ln/>
        </p:spPr>
        <p:txBody>
          <a:bodyPr wrap="square" lIns="0" tIns="0" rIns="0" bIns="0" rtlCol="0" anchor="ctr">
            <a:normAutofit/>
          </a:bodyPr>
          <a:lstStyle/>
          <a:p>
            <a:pPr algn="ct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invalid</a:t>
            </a:r>
            <a:endParaRPr lang="en-US" sz="1200" dirty="0"/>
          </a:p>
        </p:txBody>
      </p:sp>
      <p:sp>
        <p:nvSpPr>
          <p:cNvPr id="33" name="Text 22"/>
          <p:cNvSpPr/>
          <p:nvPr/>
        </p:nvSpPr>
        <p:spPr>
          <a:xfrm>
            <a:off x="5486400" y="4193480"/>
            <a:ext cx="287782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E6F95"/>
                </a:solidFill>
                <a:latin typeface="IBM Plex Sans" pitchFamily="34" charset="0"/>
                <a:ea typeface="IBM Plex Sans" pitchFamily="34" charset="-122"/>
                <a:cs typeface="IBM Plex Sans" pitchFamily="34" charset="-120"/>
              </a:rPr>
              <a:t>A valid.</a:t>
            </a:r>
            <a:r>
              <a:rPr lang="en-US" sz="1300" dirty="0">
                <a:solidFill>
                  <a:srgbClr val="1B2A41"/>
                </a:solidFill>
                <a:latin typeface="IBM Plex Sans" pitchFamily="34" charset="0"/>
                <a:ea typeface="IBM Plex Sans" pitchFamily="34" charset="-122"/>
                <a:cs typeface="IBM Plex Sans" pitchFamily="34" charset="-120"/>
              </a:rPr>
              <a:t> One safe child is enough.</a:t>
            </a:r>
            <a:endParaRPr lang="en-US" sz="1300" dirty="0"/>
          </a:p>
        </p:txBody>
      </p:sp>
      <p:sp>
        <p:nvSpPr>
          <p:cNvPr id="34" name="Text 23"/>
          <p:cNvSpPr/>
          <p:nvPr/>
        </p:nvSpPr>
        <p:spPr>
          <a:xfrm>
            <a:off x="9601200" y="1818580"/>
            <a:ext cx="762000" cy="381000"/>
          </a:xfrm>
          <a:prstGeom prst="roundRect">
            <a:avLst>
              <a:gd name="adj" fmla="val 13333"/>
            </a:avLst>
          </a:prstGeom>
          <a:solidFill>
            <a:srgbClr val="C98A2B"/>
          </a:solidFill>
          <a:ln/>
        </p:spPr>
        <p:txBody>
          <a:bodyPr wrap="square" lIns="0" tIns="0" rIns="0" bIns="0" rtlCol="0" anchor="ctr">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A′</a:t>
            </a:r>
            <a:endParaRPr lang="en-US" sz="1300" dirty="0"/>
          </a:p>
        </p:txBody>
      </p:sp>
      <p:pic>
        <p:nvPicPr>
          <p:cNvPr id="35" name="Image 9" descr="connector">    </p:cNvPr>
          <p:cNvPicPr>
            <a:picLocks noChangeAspect="1"/>
          </p:cNvPicPr>
          <p:nvPr/>
        </p:nvPicPr>
        <p:blipFill>
          <a:blip r:embed="rId10"/>
          <a:srcRect l="0" r="0" t="0" b="0"/>
          <a:stretch/>
        </p:blipFill>
        <p:spPr>
          <a:xfrm>
            <a:off x="9931400" y="2148780"/>
            <a:ext cx="101600" cy="387350"/>
          </a:xfrm>
          <a:prstGeom prst="rect">
            <a:avLst/>
          </a:prstGeom>
        </p:spPr>
      </p:pic>
      <p:pic>
        <p:nvPicPr>
          <p:cNvPr id="36" name="Image 10" descr="connector">    </p:cNvPr>
          <p:cNvPicPr>
            <a:picLocks noChangeAspect="1"/>
          </p:cNvPicPr>
          <p:nvPr/>
        </p:nvPicPr>
        <p:blipFill>
          <a:blip r:embed="rId11"/>
          <a:srcRect l="0" r="0" t="0" b="0"/>
          <a:stretch/>
        </p:blipFill>
        <p:spPr>
          <a:xfrm>
            <a:off x="9042400" y="2434530"/>
            <a:ext cx="1879600" cy="101600"/>
          </a:xfrm>
          <a:prstGeom prst="rect">
            <a:avLst/>
          </a:prstGeom>
        </p:spPr>
      </p:pic>
      <p:pic>
        <p:nvPicPr>
          <p:cNvPr id="37" name="Image 11" descr="connector">    </p:cNvPr>
          <p:cNvPicPr>
            <a:picLocks noChangeAspect="1"/>
          </p:cNvPicPr>
          <p:nvPr/>
        </p:nvPicPr>
        <p:blipFill>
          <a:blip r:embed="rId12"/>
          <a:srcRect l="0" r="0" t="0" b="0"/>
          <a:stretch/>
        </p:blipFill>
        <p:spPr>
          <a:xfrm>
            <a:off x="9042400" y="2434530"/>
            <a:ext cx="101600" cy="387350"/>
          </a:xfrm>
          <a:prstGeom prst="rect">
            <a:avLst/>
          </a:prstGeom>
        </p:spPr>
      </p:pic>
      <p:pic>
        <p:nvPicPr>
          <p:cNvPr id="38" name="Image 12" descr="connector">    </p:cNvPr>
          <p:cNvPicPr>
            <a:picLocks noChangeAspect="1"/>
          </p:cNvPicPr>
          <p:nvPr/>
        </p:nvPicPr>
        <p:blipFill>
          <a:blip r:embed="rId13"/>
          <a:srcRect l="0" r="0" t="0" b="0"/>
          <a:stretch/>
        </p:blipFill>
        <p:spPr>
          <a:xfrm>
            <a:off x="10820400" y="2434530"/>
            <a:ext cx="101600" cy="387350"/>
          </a:xfrm>
          <a:prstGeom prst="rect">
            <a:avLst/>
          </a:prstGeom>
        </p:spPr>
      </p:pic>
      <p:sp>
        <p:nvSpPr>
          <p:cNvPr id="39" name="Text 24"/>
          <p:cNvSpPr/>
          <p:nvPr/>
        </p:nvSpPr>
        <p:spPr>
          <a:xfrm>
            <a:off x="8585200" y="2771080"/>
            <a:ext cx="1016000" cy="381000"/>
          </a:xfrm>
          <a:prstGeom prst="roundRect">
            <a:avLst>
              <a:gd name="adj" fmla="val 13333"/>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B</a:t>
            </a:r>
            <a:endParaRPr lang="en-US" sz="1300" dirty="0"/>
          </a:p>
        </p:txBody>
      </p:sp>
      <p:sp>
        <p:nvSpPr>
          <p:cNvPr id="40" name="Text 25"/>
          <p:cNvSpPr/>
          <p:nvPr/>
        </p:nvSpPr>
        <p:spPr>
          <a:xfrm>
            <a:off x="10363200" y="2771080"/>
            <a:ext cx="1016000" cy="381000"/>
          </a:xfrm>
          <a:prstGeom prst="roundRect">
            <a:avLst>
              <a:gd name="adj" fmla="val 13333"/>
            </a:avLst>
          </a:prstGeom>
          <a:solidFill>
            <a:srgbClr val="2E6F95"/>
          </a:solidFill>
          <a:ln/>
        </p:spPr>
        <p:txBody>
          <a:bodyPr wrap="square" lIns="0" tIns="0" rIns="0" bIns="0" rtlCol="0" anchor="ctr">
            <a:normAutofit/>
          </a:bodyPr>
          <a:lstStyle/>
          <a:p>
            <a:pPr algn="ct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B′</a:t>
            </a:r>
            <a:endParaRPr lang="en-US" sz="1300" dirty="0"/>
          </a:p>
        </p:txBody>
      </p:sp>
      <p:pic>
        <p:nvPicPr>
          <p:cNvPr id="41" name="Image 13" descr="connector">    </p:cNvPr>
          <p:cNvPicPr>
            <a:picLocks noChangeAspect="1"/>
          </p:cNvPicPr>
          <p:nvPr/>
        </p:nvPicPr>
        <p:blipFill>
          <a:blip r:embed="rId14"/>
          <a:srcRect l="0" r="0" t="0" b="0"/>
          <a:stretch/>
        </p:blipFill>
        <p:spPr>
          <a:xfrm>
            <a:off x="9042400" y="3101280"/>
            <a:ext cx="101600" cy="387350"/>
          </a:xfrm>
          <a:prstGeom prst="rect">
            <a:avLst/>
          </a:prstGeom>
        </p:spPr>
      </p:pic>
      <p:pic>
        <p:nvPicPr>
          <p:cNvPr id="42" name="Image 14" descr="connector">    </p:cNvPr>
          <p:cNvPicPr>
            <a:picLocks noChangeAspect="1"/>
          </p:cNvPicPr>
          <p:nvPr/>
        </p:nvPicPr>
        <p:blipFill>
          <a:blip r:embed="rId15"/>
          <a:srcRect l="0" r="0" t="0" b="0"/>
          <a:stretch/>
        </p:blipFill>
        <p:spPr>
          <a:xfrm>
            <a:off x="8915400" y="3387030"/>
            <a:ext cx="965200" cy="101600"/>
          </a:xfrm>
          <a:prstGeom prst="rect">
            <a:avLst/>
          </a:prstGeom>
        </p:spPr>
      </p:pic>
      <p:pic>
        <p:nvPicPr>
          <p:cNvPr id="43" name="Image 15" descr="connector">    </p:cNvPr>
          <p:cNvPicPr>
            <a:picLocks noChangeAspect="1"/>
          </p:cNvPicPr>
          <p:nvPr/>
        </p:nvPicPr>
        <p:blipFill>
          <a:blip r:embed="rId16"/>
          <a:srcRect l="0" r="0" t="0" b="0"/>
          <a:stretch/>
        </p:blipFill>
        <p:spPr>
          <a:xfrm>
            <a:off x="8915400" y="3387030"/>
            <a:ext cx="101600" cy="387350"/>
          </a:xfrm>
          <a:prstGeom prst="rect">
            <a:avLst/>
          </a:prstGeom>
        </p:spPr>
      </p:pic>
      <p:pic>
        <p:nvPicPr>
          <p:cNvPr id="44" name="Image 16" descr="connector">    </p:cNvPr>
          <p:cNvPicPr>
            <a:picLocks noChangeAspect="1"/>
          </p:cNvPicPr>
          <p:nvPr/>
        </p:nvPicPr>
        <p:blipFill>
          <a:blip r:embed="rId17"/>
          <a:srcRect l="0" r="0" t="0" b="0"/>
          <a:stretch/>
        </p:blipFill>
        <p:spPr>
          <a:xfrm>
            <a:off x="9779000" y="3387030"/>
            <a:ext cx="101600" cy="387350"/>
          </a:xfrm>
          <a:prstGeom prst="rect">
            <a:avLst/>
          </a:prstGeom>
        </p:spPr>
      </p:pic>
      <p:pic>
        <p:nvPicPr>
          <p:cNvPr id="45" name="Image 17" descr="connector">    </p:cNvPr>
          <p:cNvPicPr>
            <a:picLocks noChangeAspect="1"/>
          </p:cNvPicPr>
          <p:nvPr/>
        </p:nvPicPr>
        <p:blipFill>
          <a:blip r:embed="rId18"/>
          <a:srcRect l="0" r="0" t="0" b="0"/>
          <a:stretch/>
        </p:blipFill>
        <p:spPr>
          <a:xfrm>
            <a:off x="10820400" y="3101280"/>
            <a:ext cx="101600" cy="673100"/>
          </a:xfrm>
          <a:prstGeom prst="rect">
            <a:avLst/>
          </a:prstGeom>
        </p:spPr>
      </p:pic>
      <p:sp>
        <p:nvSpPr>
          <p:cNvPr id="46" name="Text 26"/>
          <p:cNvSpPr/>
          <p:nvPr/>
        </p:nvSpPr>
        <p:spPr>
          <a:xfrm>
            <a:off x="8585200" y="3723580"/>
            <a:ext cx="762000" cy="330200"/>
          </a:xfrm>
          <a:prstGeom prst="roundRect">
            <a:avLst>
              <a:gd name="adj" fmla="val 15385"/>
            </a:avLst>
          </a:prstGeom>
          <a:solidFill>
            <a:srgbClr val="2E6F95"/>
          </a:solidFill>
          <a:ln/>
        </p:spPr>
        <p:txBody>
          <a:bodyPr wrap="square" lIns="0" tIns="0" rIns="0" bIns="0" rtlCol="0" anchor="ctr">
            <a:normAutofit/>
          </a:bodyPr>
          <a:lstStyle/>
          <a:p>
            <a:pPr algn="ctr" indent="0" marL="0">
              <a:lnSpc>
                <a:spcPts val="1680"/>
              </a:lnSpc>
              <a:buNone/>
            </a:pPr>
            <a:r>
              <a:rPr lang="en-US" sz="1200" dirty="0">
                <a:solidFill>
                  <a:srgbClr val="F6F3EC"/>
                </a:solidFill>
                <a:latin typeface="IBM Plex Sans" pitchFamily="34" charset="0"/>
                <a:ea typeface="IBM Plex Sans" pitchFamily="34" charset="-122"/>
                <a:cs typeface="IBM Plex Sans" pitchFamily="34" charset="-120"/>
              </a:rPr>
              <a:t>valid</a:t>
            </a:r>
            <a:endParaRPr lang="en-US" sz="1200" dirty="0"/>
          </a:p>
        </p:txBody>
      </p:sp>
      <p:sp>
        <p:nvSpPr>
          <p:cNvPr id="47" name="Text 27"/>
          <p:cNvSpPr/>
          <p:nvPr/>
        </p:nvSpPr>
        <p:spPr>
          <a:xfrm>
            <a:off x="9448800" y="3723580"/>
            <a:ext cx="762000" cy="330200"/>
          </a:xfrm>
          <a:prstGeom prst="roundRect">
            <a:avLst>
              <a:gd name="adj" fmla="val 15385"/>
            </a:avLst>
          </a:prstGeom>
          <a:solidFill>
            <a:srgbClr val="C98A2B"/>
          </a:solidFill>
          <a:ln/>
        </p:spPr>
        <p:txBody>
          <a:bodyPr wrap="square" lIns="0" tIns="0" rIns="0" bIns="0" rtlCol="0" anchor="ctr">
            <a:normAutofit/>
          </a:bodyPr>
          <a:lstStyle/>
          <a:p>
            <a:pPr algn="ct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invalid</a:t>
            </a:r>
            <a:endParaRPr lang="en-US" sz="1200" dirty="0"/>
          </a:p>
        </p:txBody>
      </p:sp>
      <p:sp>
        <p:nvSpPr>
          <p:cNvPr id="48" name="Text 28"/>
          <p:cNvSpPr/>
          <p:nvPr/>
        </p:nvSpPr>
        <p:spPr>
          <a:xfrm>
            <a:off x="10490200" y="3723580"/>
            <a:ext cx="762000" cy="330200"/>
          </a:xfrm>
          <a:prstGeom prst="roundRect">
            <a:avLst>
              <a:gd name="adj" fmla="val 15385"/>
            </a:avLst>
          </a:prstGeom>
          <a:solidFill>
            <a:srgbClr val="C98A2B"/>
          </a:solidFill>
          <a:ln/>
        </p:spPr>
        <p:txBody>
          <a:bodyPr wrap="square" lIns="0" tIns="0" rIns="0" bIns="0" rtlCol="0" anchor="ctr">
            <a:normAutofit/>
          </a:bodyPr>
          <a:lstStyle/>
          <a:p>
            <a:pPr algn="ct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invalid</a:t>
            </a:r>
            <a:endParaRPr lang="en-US" sz="1200" dirty="0"/>
          </a:p>
        </p:txBody>
      </p:sp>
      <p:sp>
        <p:nvSpPr>
          <p:cNvPr id="49" name="Text 29"/>
          <p:cNvSpPr/>
          <p:nvPr/>
        </p:nvSpPr>
        <p:spPr>
          <a:xfrm>
            <a:off x="8585200" y="4193480"/>
            <a:ext cx="287782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C98A2B"/>
                </a:solidFill>
                <a:latin typeface="IBM Plex Sans" pitchFamily="34" charset="0"/>
                <a:ea typeface="IBM Plex Sans" pitchFamily="34" charset="-122"/>
                <a:cs typeface="IBM Plex Sans" pitchFamily="34" charset="-120"/>
              </a:rPr>
              <a:t>A′ invalid.</a:t>
            </a:r>
            <a:r>
              <a:rPr lang="en-US" sz="1300" dirty="0">
                <a:solidFill>
                  <a:srgbClr val="1B2A41"/>
                </a:solidFill>
                <a:latin typeface="IBM Plex Sans" pitchFamily="34" charset="0"/>
                <a:ea typeface="IBM Plex Sans" pitchFamily="34" charset="-122"/>
                <a:cs typeface="IBM Plex Sans" pitchFamily="34" charset="-120"/>
              </a:rPr>
              <a:t> No safe child: checkmate.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Jointness is primitive; exclusion is an achievement</a:t>
            </a:r>
            <a:endParaRPr lang="en-US" sz="3400" dirty="0"/>
          </a:p>
        </p:txBody>
      </p:sp>
      <p:sp>
        <p:nvSpPr>
          <p:cNvPr id="3" name="Text 1"/>
          <p:cNvSpPr/>
          <p:nvPr/>
        </p:nvSpPr>
        <p:spPr>
          <a:xfrm>
            <a:off x="812800" y="154176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F95"/>
                </a:solidFill>
                <a:latin typeface="IBM Plex Sans" pitchFamily="34" charset="0"/>
                <a:ea typeface="IBM Plex Sans" pitchFamily="34" charset="-122"/>
                <a:cs typeface="IBM Plex Sans" pitchFamily="34" charset="-120"/>
              </a:rPr>
              <a:t>AGREEING SUPERPOSITION</a:t>
            </a:r>
            <a:endParaRPr lang="en-US" sz="1200" dirty="0"/>
          </a:p>
        </p:txBody>
      </p:sp>
      <p:sp>
        <p:nvSpPr>
          <p:cNvPr id="4" name="Shape 2"/>
          <p:cNvSpPr/>
          <p:nvPr/>
        </p:nvSpPr>
        <p:spPr>
          <a:xfrm>
            <a:off x="822325" y="1866205"/>
            <a:ext cx="5060950" cy="1885950"/>
          </a:xfrm>
          <a:prstGeom prst="roundRect">
            <a:avLst>
              <a:gd name="adj" fmla="val 4882"/>
            </a:avLst>
          </a:prstGeom>
          <a:solidFill>
            <a:srgbClr val="FBFAF6"/>
          </a:solidFill>
          <a:ln w="19050">
            <a:solidFill>
              <a:srgbClr val="2E6F95"/>
            </a:solidFill>
            <a:prstDash val="solid"/>
          </a:ln>
        </p:spPr>
      </p:sp>
      <p:sp>
        <p:nvSpPr>
          <p:cNvPr id="5" name="Text 3"/>
          <p:cNvSpPr/>
          <p:nvPr/>
        </p:nvSpPr>
        <p:spPr>
          <a:xfrm>
            <a:off x="990600" y="1970980"/>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F95"/>
                </a:solidFill>
                <a:latin typeface="IBM Plex Sans" pitchFamily="34" charset="0"/>
                <a:ea typeface="IBM Plex Sans" pitchFamily="34" charset="-122"/>
                <a:cs typeface="IBM Plex Sans" pitchFamily="34" charset="-120"/>
              </a:rPr>
              <a:t>one jointness: left ∨ right</a:t>
            </a:r>
            <a:endParaRPr lang="en-US" sz="1200" dirty="0"/>
          </a:p>
        </p:txBody>
      </p:sp>
      <p:sp>
        <p:nvSpPr>
          <p:cNvPr id="6" name="Shape 4"/>
          <p:cNvSpPr/>
          <p:nvPr/>
        </p:nvSpPr>
        <p:spPr>
          <a:xfrm>
            <a:off x="1193800" y="2364680"/>
            <a:ext cx="1905000" cy="1079500"/>
          </a:xfrm>
          <a:prstGeom prst="roundRect">
            <a:avLst>
              <a:gd name="adj" fmla="val 7059"/>
            </a:avLst>
          </a:prstGeom>
          <a:solidFill>
            <a:srgbClr val="ECE7DB"/>
          </a:solidFill>
          <a:ln/>
        </p:spPr>
      </p:sp>
      <p:sp>
        <p:nvSpPr>
          <p:cNvPr id="7" name="Text 5"/>
          <p:cNvSpPr/>
          <p:nvPr/>
        </p:nvSpPr>
        <p:spPr>
          <a:xfrm>
            <a:off x="1358900" y="2504380"/>
            <a:ext cx="162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IBM Plex Sans" pitchFamily="34" charset="0"/>
                <a:ea typeface="IBM Plex Sans" pitchFamily="34" charset="-122"/>
                <a:cs typeface="IBM Plex Sans" pitchFamily="34" charset="-120"/>
              </a:rPr>
              <a:t>left</a:t>
            </a:r>
            <a:endParaRPr lang="en-US" sz="1600" dirty="0"/>
          </a:p>
        </p:txBody>
      </p:sp>
      <p:sp>
        <p:nvSpPr>
          <p:cNvPr id="8" name="Text 6"/>
          <p:cNvSpPr/>
          <p:nvPr/>
        </p:nvSpPr>
        <p:spPr>
          <a:xfrm>
            <a:off x="1358900" y="2839641"/>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interior states nothing about right</a:t>
            </a:r>
            <a:endParaRPr lang="en-US" sz="1200" dirty="0"/>
          </a:p>
        </p:txBody>
      </p:sp>
      <p:sp>
        <p:nvSpPr>
          <p:cNvPr id="9" name="Shape 7"/>
          <p:cNvSpPr/>
          <p:nvPr/>
        </p:nvSpPr>
        <p:spPr>
          <a:xfrm>
            <a:off x="3606800" y="2364680"/>
            <a:ext cx="1905000" cy="1079500"/>
          </a:xfrm>
          <a:prstGeom prst="roundRect">
            <a:avLst>
              <a:gd name="adj" fmla="val 7059"/>
            </a:avLst>
          </a:prstGeom>
          <a:solidFill>
            <a:srgbClr val="ECE7DB"/>
          </a:solidFill>
          <a:ln/>
        </p:spPr>
      </p:sp>
      <p:sp>
        <p:nvSpPr>
          <p:cNvPr id="10" name="Text 8"/>
          <p:cNvSpPr/>
          <p:nvPr/>
        </p:nvSpPr>
        <p:spPr>
          <a:xfrm>
            <a:off x="3771900" y="2504380"/>
            <a:ext cx="162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IBM Plex Sans" pitchFamily="34" charset="0"/>
                <a:ea typeface="IBM Plex Sans" pitchFamily="34" charset="-122"/>
                <a:cs typeface="IBM Plex Sans" pitchFamily="34" charset="-120"/>
              </a:rPr>
              <a:t>right</a:t>
            </a:r>
            <a:endParaRPr lang="en-US" sz="1600" dirty="0"/>
          </a:p>
        </p:txBody>
      </p:sp>
      <p:sp>
        <p:nvSpPr>
          <p:cNvPr id="11" name="Text 9"/>
          <p:cNvSpPr/>
          <p:nvPr/>
        </p:nvSpPr>
        <p:spPr>
          <a:xfrm>
            <a:off x="3771900" y="2839641"/>
            <a:ext cx="1625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interior states nothing about left</a:t>
            </a:r>
            <a:endParaRPr lang="en-US" sz="1200" dirty="0"/>
          </a:p>
        </p:txBody>
      </p:sp>
      <p:sp>
        <p:nvSpPr>
          <p:cNvPr id="12" name="Text 10"/>
          <p:cNvSpPr/>
          <p:nvPr/>
        </p:nvSpPr>
        <p:spPr>
          <a:xfrm>
            <a:off x="3111500" y="2745680"/>
            <a:ext cx="4953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2E6F95"/>
                </a:solidFill>
                <a:latin typeface="IBM Plex Sans" pitchFamily="34" charset="0"/>
                <a:ea typeface="IBM Plex Sans" pitchFamily="34" charset="-122"/>
                <a:cs typeface="IBM Plex Sans" pitchFamily="34" charset="-120"/>
              </a:rPr>
              <a:t>∪</a:t>
            </a:r>
            <a:endParaRPr lang="en-US" sz="2000" dirty="0"/>
          </a:p>
        </p:txBody>
      </p:sp>
      <p:sp>
        <p:nvSpPr>
          <p:cNvPr id="13" name="Text 11"/>
          <p:cNvSpPr/>
          <p:nvPr/>
        </p:nvSpPr>
        <p:spPr>
          <a:xfrm>
            <a:off x="812800" y="3914080"/>
            <a:ext cx="52324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cross content undeclared → the alternatives are co-performed → </a:t>
            </a:r>
            <a:r>
              <a:rPr lang="en-US" sz="1300" b="1" dirty="0">
                <a:solidFill>
                  <a:srgbClr val="1B2A41"/>
                </a:solidFill>
                <a:latin typeface="IBM Plex Sans" pitchFamily="34" charset="0"/>
                <a:ea typeface="IBM Plex Sans" pitchFamily="34" charset="-122"/>
                <a:cs typeface="IBM Plex Sans" pitchFamily="34" charset="-120"/>
              </a:rPr>
              <a:t>interference</a:t>
            </a:r>
            <a:endParaRPr lang="en-US" sz="1300" dirty="0"/>
          </a:p>
        </p:txBody>
      </p:sp>
      <p:sp>
        <p:nvSpPr>
          <p:cNvPr id="14" name="Text 12"/>
          <p:cNvSpPr/>
          <p:nvPr/>
        </p:nvSpPr>
        <p:spPr>
          <a:xfrm>
            <a:off x="6299200" y="154176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DISAGREEING SUPERPOSITION</a:t>
            </a:r>
            <a:endParaRPr lang="en-US" sz="1200" dirty="0"/>
          </a:p>
        </p:txBody>
      </p:sp>
      <p:sp>
        <p:nvSpPr>
          <p:cNvPr id="15" name="Shape 13"/>
          <p:cNvSpPr/>
          <p:nvPr/>
        </p:nvSpPr>
        <p:spPr>
          <a:xfrm>
            <a:off x="6308725" y="1866205"/>
            <a:ext cx="5060950" cy="1885950"/>
          </a:xfrm>
          <a:prstGeom prst="roundRect">
            <a:avLst>
              <a:gd name="adj" fmla="val 4882"/>
            </a:avLst>
          </a:prstGeom>
          <a:solidFill>
            <a:srgbClr val="FBFAF6"/>
          </a:solidFill>
          <a:ln w="19050">
            <a:solidFill>
              <a:srgbClr val="C98A2B"/>
            </a:solidFill>
            <a:prstDash val="solid"/>
          </a:ln>
        </p:spPr>
      </p:sp>
      <p:sp>
        <p:nvSpPr>
          <p:cNvPr id="16" name="Text 14"/>
          <p:cNvSpPr/>
          <p:nvPr/>
        </p:nvSpPr>
        <p:spPr>
          <a:xfrm>
            <a:off x="6477000" y="1970980"/>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8A2B"/>
                </a:solidFill>
                <a:latin typeface="IBM Plex Sans" pitchFamily="34" charset="0"/>
                <a:ea typeface="IBM Plex Sans" pitchFamily="34" charset="-122"/>
                <a:cs typeface="IBM Plex Sans" pitchFamily="34" charset="-120"/>
              </a:rPr>
              <a:t>the same jointness, exclusions written in</a:t>
            </a:r>
            <a:endParaRPr lang="en-US" sz="1200" dirty="0"/>
          </a:p>
        </p:txBody>
      </p:sp>
      <p:sp>
        <p:nvSpPr>
          <p:cNvPr id="17" name="Shape 15"/>
          <p:cNvSpPr/>
          <p:nvPr/>
        </p:nvSpPr>
        <p:spPr>
          <a:xfrm>
            <a:off x="6680200" y="2364680"/>
            <a:ext cx="1905000" cy="1079500"/>
          </a:xfrm>
          <a:prstGeom prst="roundRect">
            <a:avLst>
              <a:gd name="adj" fmla="val 7059"/>
            </a:avLst>
          </a:prstGeom>
          <a:solidFill>
            <a:srgbClr val="ECE7DB"/>
          </a:solidFill>
          <a:ln/>
        </p:spPr>
      </p:sp>
      <p:sp>
        <p:nvSpPr>
          <p:cNvPr id="18" name="Text 16"/>
          <p:cNvSpPr/>
          <p:nvPr/>
        </p:nvSpPr>
        <p:spPr>
          <a:xfrm>
            <a:off x="6845300" y="2504380"/>
            <a:ext cx="162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IBM Plex Sans" pitchFamily="34" charset="0"/>
                <a:ea typeface="IBM Plex Sans" pitchFamily="34" charset="-122"/>
                <a:cs typeface="IBM Plex Sans" pitchFamily="34" charset="-120"/>
              </a:rPr>
              <a:t>left, </a:t>
            </a:r>
            <a:r>
              <a:rPr lang="en-US" sz="1600" b="1" dirty="0">
                <a:solidFill>
                  <a:srgbClr val="9E3B2F"/>
                </a:solidFill>
                <a:latin typeface="IBM Plex Sans" pitchFamily="34" charset="0"/>
                <a:ea typeface="IBM Plex Sans" pitchFamily="34" charset="-122"/>
                <a:cs typeface="IBM Plex Sans" pitchFamily="34" charset="-120"/>
              </a:rPr>
              <a:t>¬right</a:t>
            </a:r>
            <a:endParaRPr lang="en-US" sz="1600" dirty="0"/>
          </a:p>
        </p:txBody>
      </p:sp>
      <p:sp>
        <p:nvSpPr>
          <p:cNvPr id="19" name="Text 17"/>
          <p:cNvSpPr/>
          <p:nvPr/>
        </p:nvSpPr>
        <p:spPr>
          <a:xfrm>
            <a:off x="6845300" y="2839641"/>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closed room</a:t>
            </a:r>
            <a:endParaRPr lang="en-US" sz="1200" dirty="0"/>
          </a:p>
        </p:txBody>
      </p:sp>
      <p:sp>
        <p:nvSpPr>
          <p:cNvPr id="20" name="Shape 18"/>
          <p:cNvSpPr/>
          <p:nvPr/>
        </p:nvSpPr>
        <p:spPr>
          <a:xfrm>
            <a:off x="9093200" y="2364680"/>
            <a:ext cx="1905000" cy="1079500"/>
          </a:xfrm>
          <a:prstGeom prst="roundRect">
            <a:avLst>
              <a:gd name="adj" fmla="val 7059"/>
            </a:avLst>
          </a:prstGeom>
          <a:solidFill>
            <a:srgbClr val="ECE7DB"/>
          </a:solidFill>
          <a:ln/>
        </p:spPr>
      </p:sp>
      <p:sp>
        <p:nvSpPr>
          <p:cNvPr id="21" name="Text 19"/>
          <p:cNvSpPr/>
          <p:nvPr/>
        </p:nvSpPr>
        <p:spPr>
          <a:xfrm>
            <a:off x="9258300" y="2504380"/>
            <a:ext cx="162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1"/>
                </a:solidFill>
                <a:latin typeface="IBM Plex Sans" pitchFamily="34" charset="0"/>
                <a:ea typeface="IBM Plex Sans" pitchFamily="34" charset="-122"/>
                <a:cs typeface="IBM Plex Sans" pitchFamily="34" charset="-120"/>
              </a:rPr>
              <a:t>right, </a:t>
            </a:r>
            <a:r>
              <a:rPr lang="en-US" sz="1600" b="1" dirty="0">
                <a:solidFill>
                  <a:srgbClr val="9E3B2F"/>
                </a:solidFill>
                <a:latin typeface="IBM Plex Sans" pitchFamily="34" charset="0"/>
                <a:ea typeface="IBM Plex Sans" pitchFamily="34" charset="-122"/>
                <a:cs typeface="IBM Plex Sans" pitchFamily="34" charset="-120"/>
              </a:rPr>
              <a:t>¬left</a:t>
            </a:r>
            <a:endParaRPr lang="en-US" sz="1600" dirty="0"/>
          </a:p>
        </p:txBody>
      </p:sp>
      <p:sp>
        <p:nvSpPr>
          <p:cNvPr id="22" name="Text 20"/>
          <p:cNvSpPr/>
          <p:nvPr/>
        </p:nvSpPr>
        <p:spPr>
          <a:xfrm>
            <a:off x="9258300" y="2839641"/>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closed room</a:t>
            </a:r>
            <a:endParaRPr lang="en-US" sz="1200" dirty="0"/>
          </a:p>
        </p:txBody>
      </p:sp>
      <p:sp>
        <p:nvSpPr>
          <p:cNvPr id="23" name="Text 21"/>
          <p:cNvSpPr/>
          <p:nvPr/>
        </p:nvSpPr>
        <p:spPr>
          <a:xfrm>
            <a:off x="8597900" y="2745680"/>
            <a:ext cx="4953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C98A2B"/>
                </a:solidFill>
                <a:latin typeface="IBM Plex Sans" pitchFamily="34" charset="0"/>
                <a:ea typeface="IBM Plex Sans" pitchFamily="34" charset="-122"/>
                <a:cs typeface="IBM Plex Sans" pitchFamily="34" charset="-120"/>
              </a:rPr>
              <a:t>✕</a:t>
            </a:r>
            <a:endParaRPr lang="en-US" sz="2000" dirty="0"/>
          </a:p>
        </p:txBody>
      </p:sp>
      <p:sp>
        <p:nvSpPr>
          <p:cNvPr id="24" name="Text 22"/>
          <p:cNvSpPr/>
          <p:nvPr/>
        </p:nvSpPr>
        <p:spPr>
          <a:xfrm>
            <a:off x="6299200" y="3914080"/>
            <a:ext cx="5892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exclusions stated → weights over closed rooms → </a:t>
            </a:r>
            <a:r>
              <a:rPr lang="en-US" sz="1300" b="1" dirty="0">
                <a:solidFill>
                  <a:srgbClr val="1B2A41"/>
                </a:solidFill>
                <a:latin typeface="IBM Plex Sans" pitchFamily="34" charset="0"/>
                <a:ea typeface="IBM Plex Sans" pitchFamily="34" charset="-122"/>
                <a:cs typeface="IBM Plex Sans" pitchFamily="34" charset="-120"/>
              </a:rPr>
              <a:t>the classical "or"</a:t>
            </a:r>
            <a:endParaRPr lang="en-US" sz="1300" dirty="0"/>
          </a:p>
        </p:txBody>
      </p:sp>
      <p:sp>
        <p:nvSpPr>
          <p:cNvPr id="25" name="Shape 23"/>
          <p:cNvSpPr/>
          <p:nvPr/>
        </p:nvSpPr>
        <p:spPr>
          <a:xfrm>
            <a:off x="812800" y="4523680"/>
            <a:ext cx="10566400" cy="1249561"/>
          </a:xfrm>
          <a:prstGeom prst="roundRect">
            <a:avLst>
              <a:gd name="adj" fmla="val 6098"/>
            </a:avLst>
          </a:prstGeom>
          <a:solidFill>
            <a:srgbClr val="ECE7DB"/>
          </a:solidFill>
          <a:ln/>
        </p:spPr>
      </p:sp>
      <p:sp>
        <p:nvSpPr>
          <p:cNvPr id="26" name="Text 24"/>
          <p:cNvSpPr/>
          <p:nvPr/>
        </p:nvSpPr>
        <p:spPr>
          <a:xfrm>
            <a:off x="1016000" y="4676080"/>
            <a:ext cx="104648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41"/>
                </a:solidFill>
                <a:latin typeface="IBM Plex Sans" pitchFamily="34" charset="0"/>
                <a:ea typeface="IBM Plex Sans" pitchFamily="34" charset="-122"/>
                <a:cs typeface="IBM Plex Sans" pitchFamily="34" charset="-120"/>
              </a:rPr>
              <a:t>The difference is written </a:t>
            </a:r>
            <a:r>
              <a:rPr lang="en-US" sz="1400" b="1" dirty="0">
                <a:solidFill>
                  <a:srgbClr val="1B2A41"/>
                </a:solidFill>
                <a:latin typeface="IBM Plex Sans" pitchFamily="34" charset="0"/>
                <a:ea typeface="IBM Plex Sans" pitchFamily="34" charset="-122"/>
                <a:cs typeface="IBM Plex Sans" pitchFamily="34" charset="-120"/>
              </a:rPr>
              <a:t>in the alternatives</a:t>
            </a:r>
            <a:r>
              <a:rPr lang="en-US" sz="1400" dirty="0">
                <a:solidFill>
                  <a:srgbClr val="1B2A41"/>
                </a:solidFill>
                <a:latin typeface="IBM Plex Sans" pitchFamily="34" charset="0"/>
                <a:ea typeface="IBM Plex Sans" pitchFamily="34" charset="-122"/>
                <a:cs typeface="IBM Plex Sans" pitchFamily="34" charset="-120"/>
              </a:rPr>
              <a:t>, not in the logic that composes them. A blank attribute is an agreeing superposition over its answer space.</a:t>
            </a:r>
            <a:endParaRPr lang="en-US" sz="1400" dirty="0"/>
          </a:p>
        </p:txBody>
      </p:sp>
      <p:sp>
        <p:nvSpPr>
          <p:cNvPr id="27" name="Text 25"/>
          <p:cNvSpPr/>
          <p:nvPr/>
        </p:nvSpPr>
        <p:spPr>
          <a:xfrm>
            <a:off x="1016000" y="5194201"/>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Agreeing / disagreeing is qualitative and prior to any weight or phase; coherent / decoherent is quantitative, a property of a realization. No biconditional between them.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Wigner's friend: records forbid the cut, not scale</a:t>
            </a:r>
            <a:endParaRPr lang="en-US" sz="3400" dirty="0"/>
          </a:p>
        </p:txBody>
      </p:sp>
      <p:sp>
        <p:nvSpPr>
          <p:cNvPr id="3" name="Shape 1"/>
          <p:cNvSpPr/>
          <p:nvPr/>
        </p:nvSpPr>
        <p:spPr>
          <a:xfrm>
            <a:off x="822325" y="1716385"/>
            <a:ext cx="3409950" cy="2520950"/>
          </a:xfrm>
          <a:prstGeom prst="roundRect">
            <a:avLst>
              <a:gd name="adj" fmla="val 3652"/>
            </a:avLst>
          </a:prstGeom>
          <a:solidFill>
            <a:srgbClr val="FBFAF6"/>
          </a:solidFill>
          <a:ln w="19050">
            <a:solidFill>
              <a:srgbClr val="1B2A41"/>
            </a:solidFill>
            <a:prstDash val="solid"/>
          </a:ln>
        </p:spPr>
      </p:sp>
      <p:sp>
        <p:nvSpPr>
          <p:cNvPr id="4" name="Text 2"/>
          <p:cNvSpPr/>
          <p:nvPr/>
        </p:nvSpPr>
        <p:spPr>
          <a:xfrm>
            <a:off x="965200" y="1808460"/>
            <a:ext cx="261620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4A5568"/>
                </a:solidFill>
                <a:latin typeface="IBM Plex Sans" pitchFamily="34" charset="0"/>
                <a:ea typeface="IBM Plex Sans" pitchFamily="34" charset="-122"/>
                <a:cs typeface="IBM Plex Sans" pitchFamily="34" charset="-120"/>
              </a:rPr>
              <a:t>SEALED LABORATORY</a:t>
            </a:r>
            <a:endParaRPr lang="en-US" sz="1100" dirty="0"/>
          </a:p>
        </p:txBody>
      </p:sp>
      <p:sp>
        <p:nvSpPr>
          <p:cNvPr id="5" name="Text 3"/>
          <p:cNvSpPr/>
          <p:nvPr/>
        </p:nvSpPr>
        <p:spPr>
          <a:xfrm>
            <a:off x="1066800" y="2151360"/>
            <a:ext cx="1270000" cy="571500"/>
          </a:xfrm>
          <a:prstGeom prst="roundRect">
            <a:avLst>
              <a:gd name="adj" fmla="val 11111"/>
            </a:avLst>
          </a:prstGeom>
          <a:solidFill>
            <a:srgbClr val="2E6F95"/>
          </a:solidFill>
          <a:ln/>
        </p:spPr>
        <p:txBody>
          <a:bodyPr wrap="square" lIns="0" tIns="0" rIns="0" bIns="0" rtlCol="0" anchor="ctr">
            <a:normAutofit/>
          </a:bodyPr>
          <a:lstStyle/>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friend F</a:t>
            </a:r>
            <a:endParaRPr lang="en-US" sz="1400" dirty="0"/>
          </a:p>
        </p:txBody>
      </p:sp>
      <p:pic>
        <p:nvPicPr>
          <p:cNvPr id="6" name="Image 0" descr="connector">    </p:cNvPr>
          <p:cNvPicPr>
            <a:picLocks noChangeAspect="1"/>
          </p:cNvPicPr>
          <p:nvPr/>
        </p:nvPicPr>
        <p:blipFill>
          <a:blip r:embed="rId1"/>
          <a:srcRect l="0" r="0" t="0" b="0"/>
          <a:stretch/>
        </p:blipFill>
        <p:spPr>
          <a:xfrm>
            <a:off x="2286000" y="2386310"/>
            <a:ext cx="482600" cy="101600"/>
          </a:xfrm>
          <a:prstGeom prst="rect">
            <a:avLst/>
          </a:prstGeom>
        </p:spPr>
      </p:pic>
      <p:sp>
        <p:nvSpPr>
          <p:cNvPr id="7" name="Shape 4"/>
          <p:cNvSpPr/>
          <p:nvPr/>
        </p:nvSpPr>
        <p:spPr>
          <a:xfrm>
            <a:off x="2717800" y="2151360"/>
            <a:ext cx="1270000" cy="571500"/>
          </a:xfrm>
          <a:prstGeom prst="roundRect">
            <a:avLst>
              <a:gd name="adj" fmla="val 11111"/>
            </a:avLst>
          </a:prstGeom>
          <a:solidFill>
            <a:srgbClr val="ECE7DB"/>
          </a:solidFill>
          <a:ln/>
        </p:spPr>
      </p:sp>
      <p:sp>
        <p:nvSpPr>
          <p:cNvPr id="8" name="Text 5"/>
          <p:cNvSpPr/>
          <p:nvPr/>
        </p:nvSpPr>
        <p:spPr>
          <a:xfrm>
            <a:off x="2763143" y="2217390"/>
            <a:ext cx="1179314"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spin measured</a:t>
            </a:r>
            <a:endParaRPr lang="en-US" sz="1300" dirty="0"/>
          </a:p>
        </p:txBody>
      </p:sp>
      <p:sp>
        <p:nvSpPr>
          <p:cNvPr id="9" name="Text 6"/>
          <p:cNvSpPr/>
          <p:nvPr/>
        </p:nvSpPr>
        <p:spPr>
          <a:xfrm>
            <a:off x="2768600" y="2461220"/>
            <a:ext cx="116835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outcome ↑ or ↓</a:t>
            </a:r>
            <a:endParaRPr lang="en-US" sz="1100" dirty="0"/>
          </a:p>
        </p:txBody>
      </p:sp>
      <p:sp>
        <p:nvSpPr>
          <p:cNvPr id="10" name="Text 7"/>
          <p:cNvSpPr/>
          <p:nvPr/>
        </p:nvSpPr>
        <p:spPr>
          <a:xfrm>
            <a:off x="1066800" y="2964160"/>
            <a:ext cx="3008630" cy="22096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4A5568"/>
                </a:solidFill>
                <a:latin typeface="IBM Plex Sans" pitchFamily="34" charset="0"/>
                <a:ea typeface="IBM Plex Sans" pitchFamily="34" charset="-122"/>
                <a:cs typeface="IBM Plex Sans" pitchFamily="34" charset="-120"/>
              </a:rPr>
              <a:t>RECORDS OF THE OUTCOME</a:t>
            </a:r>
            <a:endParaRPr lang="en-US" sz="1100" dirty="0"/>
          </a:p>
        </p:txBody>
      </p:sp>
      <p:sp>
        <p:nvSpPr>
          <p:cNvPr id="11" name="Text 8"/>
          <p:cNvSpPr/>
          <p:nvPr/>
        </p:nvSpPr>
        <p:spPr>
          <a:xfrm>
            <a:off x="1066800" y="3205460"/>
            <a:ext cx="724446" cy="297160"/>
          </a:xfrm>
          <a:prstGeom prst="roundRect">
            <a:avLst>
              <a:gd name="adj" fmla="val 17095"/>
            </a:avLst>
          </a:prstGeom>
          <a:solidFill>
            <a:srgbClr val="ECE7DB"/>
          </a:solidFill>
          <a:ln/>
        </p:spPr>
        <p:txBody>
          <a:bodyPr wrap="none" lIns="0" tIns="0" rIns="0" bIns="0" rtlCol="0" anchor="ctr">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memory</a:t>
            </a:r>
            <a:endParaRPr lang="en-US" sz="1100" dirty="0"/>
          </a:p>
        </p:txBody>
      </p:sp>
      <p:sp>
        <p:nvSpPr>
          <p:cNvPr id="12" name="Text 9"/>
          <p:cNvSpPr/>
          <p:nvPr/>
        </p:nvSpPr>
        <p:spPr>
          <a:xfrm>
            <a:off x="1854746" y="3205460"/>
            <a:ext cx="797074" cy="297160"/>
          </a:xfrm>
          <a:prstGeom prst="roundRect">
            <a:avLst>
              <a:gd name="adj" fmla="val 17095"/>
            </a:avLst>
          </a:prstGeom>
          <a:solidFill>
            <a:srgbClr val="ECE7DB"/>
          </a:solidFill>
          <a:ln/>
        </p:spPr>
        <p:txBody>
          <a:bodyPr wrap="none" lIns="0" tIns="0" rIns="0" bIns="0" rtlCol="0" anchor="ctr">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notebook</a:t>
            </a:r>
            <a:endParaRPr lang="en-US" sz="1100" dirty="0"/>
          </a:p>
        </p:txBody>
      </p:sp>
      <p:sp>
        <p:nvSpPr>
          <p:cNvPr id="13" name="Text 10"/>
          <p:cNvSpPr/>
          <p:nvPr/>
        </p:nvSpPr>
        <p:spPr>
          <a:xfrm>
            <a:off x="2715320" y="3205460"/>
            <a:ext cx="836216" cy="297160"/>
          </a:xfrm>
          <a:prstGeom prst="roundRect">
            <a:avLst>
              <a:gd name="adj" fmla="val 17095"/>
            </a:avLst>
          </a:prstGeom>
          <a:solidFill>
            <a:srgbClr val="ECE7DB"/>
          </a:solidFill>
          <a:ln/>
        </p:spPr>
        <p:txBody>
          <a:bodyPr wrap="none" lIns="0" tIns="0" rIns="0" bIns="0" rtlCol="0" anchor="ctr">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apparatus</a:t>
            </a:r>
            <a:endParaRPr lang="en-US" sz="1100" dirty="0"/>
          </a:p>
        </p:txBody>
      </p:sp>
      <p:sp>
        <p:nvSpPr>
          <p:cNvPr id="14" name="Text 11"/>
          <p:cNvSpPr/>
          <p:nvPr/>
        </p:nvSpPr>
        <p:spPr>
          <a:xfrm>
            <a:off x="3615035" y="3205460"/>
            <a:ext cx="364034" cy="297160"/>
          </a:xfrm>
          <a:prstGeom prst="roundRect">
            <a:avLst>
              <a:gd name="adj" fmla="val 17095"/>
            </a:avLst>
          </a:prstGeom>
          <a:solidFill>
            <a:srgbClr val="ECE7DB"/>
          </a:solidFill>
          <a:ln/>
        </p:spPr>
        <p:txBody>
          <a:bodyPr wrap="none" lIns="0" tIns="0" rIns="0" bIns="0" rtlCol="0" anchor="ctr">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air</a:t>
            </a:r>
            <a:endParaRPr lang="en-US" sz="1100" dirty="0"/>
          </a:p>
        </p:txBody>
      </p:sp>
      <p:sp>
        <p:nvSpPr>
          <p:cNvPr id="15" name="Text 12"/>
          <p:cNvSpPr/>
          <p:nvPr/>
        </p:nvSpPr>
        <p:spPr>
          <a:xfrm>
            <a:off x="1066800" y="3566120"/>
            <a:ext cx="527199" cy="297160"/>
          </a:xfrm>
          <a:prstGeom prst="roundRect">
            <a:avLst>
              <a:gd name="adj" fmla="val 17095"/>
            </a:avLst>
          </a:prstGeom>
          <a:solidFill>
            <a:srgbClr val="ECE7DB"/>
          </a:solidFill>
          <a:ln/>
        </p:spPr>
        <p:txBody>
          <a:bodyPr wrap="none" lIns="0" tIns="0" rIns="0" bIns="0" rtlCol="0" anchor="ctr">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walls</a:t>
            </a:r>
            <a:endParaRPr lang="en-US" sz="1100" dirty="0"/>
          </a:p>
        </p:txBody>
      </p:sp>
      <p:sp>
        <p:nvSpPr>
          <p:cNvPr id="16" name="Text 13"/>
          <p:cNvSpPr/>
          <p:nvPr/>
        </p:nvSpPr>
        <p:spPr>
          <a:xfrm>
            <a:off x="1066800" y="3878560"/>
            <a:ext cx="300863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the cat's inventory, exactly</a:t>
            </a:r>
            <a:endParaRPr lang="en-US" sz="1100" dirty="0"/>
          </a:p>
        </p:txBody>
      </p:sp>
      <p:pic>
        <p:nvPicPr>
          <p:cNvPr id="17" name="Image 1" descr="connector">    </p:cNvPr>
          <p:cNvPicPr>
            <a:picLocks noChangeAspect="1"/>
          </p:cNvPicPr>
          <p:nvPr/>
        </p:nvPicPr>
        <p:blipFill>
          <a:blip r:embed="rId2"/>
          <a:srcRect l="0" r="0" t="0" b="0"/>
          <a:stretch/>
        </p:blipFill>
        <p:spPr>
          <a:xfrm>
            <a:off x="4178300" y="2722860"/>
            <a:ext cx="1143000" cy="127000"/>
          </a:xfrm>
          <a:prstGeom prst="rect">
            <a:avLst/>
          </a:prstGeom>
        </p:spPr>
      </p:pic>
      <p:sp>
        <p:nvSpPr>
          <p:cNvPr id="18" name="Text 14"/>
          <p:cNvSpPr/>
          <p:nvPr/>
        </p:nvSpPr>
        <p:spPr>
          <a:xfrm>
            <a:off x="4267200" y="2341860"/>
            <a:ext cx="1066800" cy="41652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C98A2B"/>
                </a:solidFill>
                <a:latin typeface="IBM Plex Sans" pitchFamily="34" charset="0"/>
                <a:ea typeface="IBM Plex Sans" pitchFamily="34" charset="-122"/>
                <a:cs typeface="IBM Plex Sans" pitchFamily="34" charset="-120"/>
              </a:rPr>
              <a:t>records export, unblockably</a:t>
            </a:r>
            <a:endParaRPr lang="en-US" sz="1100" dirty="0"/>
          </a:p>
        </p:txBody>
      </p:sp>
      <p:sp>
        <p:nvSpPr>
          <p:cNvPr id="19" name="Text 15"/>
          <p:cNvSpPr/>
          <p:nvPr/>
        </p:nvSpPr>
        <p:spPr>
          <a:xfrm>
            <a:off x="5257800" y="2468860"/>
            <a:ext cx="1651000" cy="635000"/>
          </a:xfrm>
          <a:prstGeom prst="roundRect">
            <a:avLst>
              <a:gd name="adj" fmla="val 10000"/>
            </a:avLst>
          </a:prstGeom>
          <a:solidFill>
            <a:srgbClr val="C98A2B"/>
          </a:solidFill>
          <a:ln/>
        </p:spPr>
        <p:txBody>
          <a:bodyPr wrap="square" lIns="0" tIns="0" rIns="0" bIns="0" rtlCol="0" anchor="ctr">
            <a:normAutofit/>
          </a:bodyPr>
          <a:lstStyle/>
          <a:p>
            <a:pPr algn="ctr" indent="0" marL="0">
              <a:lnSpc>
                <a:spcPts val="1960"/>
              </a:lnSpc>
              <a:buNone/>
            </a:pPr>
            <a:r>
              <a:rPr lang="en-US" sz="1400" b="1" dirty="0">
                <a:solidFill>
                  <a:srgbClr val="1B2A41"/>
                </a:solidFill>
                <a:latin typeface="IBM Plex Sans" pitchFamily="34" charset="0"/>
                <a:ea typeface="IBM Plex Sans" pitchFamily="34" charset="-122"/>
                <a:cs typeface="IBM Plex Sans" pitchFamily="34" charset="-120"/>
              </a:rPr>
              <a:t>Wigner W</a:t>
            </a:r>
            <a:endParaRPr lang="en-US" sz="1400" dirty="0"/>
          </a:p>
        </p:txBody>
      </p:sp>
      <p:sp>
        <p:nvSpPr>
          <p:cNvPr id="20" name="Text 16"/>
          <p:cNvSpPr/>
          <p:nvPr/>
        </p:nvSpPr>
        <p:spPr>
          <a:xfrm>
            <a:off x="4622800" y="3357860"/>
            <a:ext cx="235458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A41"/>
                </a:solidFill>
                <a:latin typeface="IBM Plex Sans" pitchFamily="34" charset="0"/>
                <a:ea typeface="IBM Plex Sans" pitchFamily="34" charset="-122"/>
                <a:cs typeface="IBM Plex Sans" pitchFamily="34" charset="-120"/>
              </a:rPr>
              <a:t>relative to W the lab is </a:t>
            </a:r>
            <a:r>
              <a:rPr lang="en-US" sz="1200" b="1" dirty="0">
                <a:solidFill>
                  <a:srgbClr val="1B2A41"/>
                </a:solidFill>
                <a:latin typeface="IBM Plex Sans" pitchFamily="34" charset="0"/>
                <a:ea typeface="IBM Plex Sans" pitchFamily="34" charset="-122"/>
                <a:cs typeface="IBM Plex Sans" pitchFamily="34" charset="-120"/>
              </a:rPr>
              <a:t>disagreeing</a:t>
            </a:r>
            <a:r>
              <a:rPr lang="en-US" sz="1200" dirty="0">
                <a:solidFill>
                  <a:srgbClr val="1B2A41"/>
                </a:solidFill>
                <a:latin typeface="IBM Plex Sans" pitchFamily="34" charset="0"/>
                <a:ea typeface="IBM Plex Sans" pitchFamily="34" charset="-122"/>
                <a:cs typeface="IBM Plex Sans" pitchFamily="34" charset="-120"/>
              </a:rPr>
              <a:t>, never agreeing: one outcome holds, W lacks which</a:t>
            </a:r>
            <a:endParaRPr lang="en-US" sz="1200" dirty="0"/>
          </a:p>
        </p:txBody>
      </p:sp>
      <p:sp>
        <p:nvSpPr>
          <p:cNvPr id="21" name="Text 17"/>
          <p:cNvSpPr/>
          <p:nvPr/>
        </p:nvSpPr>
        <p:spPr>
          <a:xfrm>
            <a:off x="4622800" y="3929360"/>
            <a:ext cx="719634" cy="297160"/>
          </a:xfrm>
          <a:custGeom>
            <a:avLst/>
            <a:gdLst/>
            <a:ahLst/>
            <a:cxnLst/>
            <a:rect l="l" t="t" r="r" b="b"/>
            <a:pathLst>
              <a:path w="719634" h="297160">
                <a:moveTo>
                  <a:pt x="50800" y="0"/>
                </a:moveTo>
                <a:lnTo>
                  <a:pt x="668834" y="0"/>
                </a:lnTo>
                <a:arcTo hR="50800" wR="50800" stAng="16200000" swAng="5400000"/>
                <a:lnTo>
                  <a:pt x="719634" y="246360"/>
                </a:lnTo>
                <a:arcTo hR="50800" wR="50800" stAng="0" swAng="5400000"/>
                <a:lnTo>
                  <a:pt x="50800" y="297160"/>
                </a:lnTo>
                <a:arcTo hR="50800" wR="50800" stAng="5400000" swAng="5400000"/>
                <a:lnTo>
                  <a:pt x="0" y="50800"/>
                </a:lnTo>
                <a:arcTo hR="50800" wR="50800" stAng="10800000" swAng="5400000"/>
                <a:close/>
              </a:path>
            </a:pathLst>
          </a:custGeom>
          <a:solidFill>
            <a:srgbClr val="ECE7DB"/>
          </a:solidFill>
          <a:ln/>
        </p:spPr>
        <p:txBody>
          <a:bodyPr wrap="square" lIns="0" tIns="50800" rIns="0" bIns="25400" rtlCol="0" anchor="t">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(h, ↓) ⅓</a:t>
            </a:r>
            <a:endParaRPr lang="en-US" sz="1100" dirty="0"/>
          </a:p>
        </p:txBody>
      </p:sp>
      <p:sp>
        <p:nvSpPr>
          <p:cNvPr id="22" name="Text 18"/>
          <p:cNvSpPr/>
          <p:nvPr/>
        </p:nvSpPr>
        <p:spPr>
          <a:xfrm>
            <a:off x="5405934" y="3929360"/>
            <a:ext cx="719683" cy="297160"/>
          </a:xfrm>
          <a:custGeom>
            <a:avLst/>
            <a:gdLst/>
            <a:ahLst/>
            <a:cxnLst/>
            <a:rect l="l" t="t" r="r" b="b"/>
            <a:pathLst>
              <a:path w="719683" h="297160">
                <a:moveTo>
                  <a:pt x="50800" y="0"/>
                </a:moveTo>
                <a:lnTo>
                  <a:pt x="668883" y="0"/>
                </a:lnTo>
                <a:arcTo hR="50800" wR="50800" stAng="16200000" swAng="5400000"/>
                <a:lnTo>
                  <a:pt x="719683" y="246360"/>
                </a:lnTo>
                <a:arcTo hR="50800" wR="50800" stAng="0" swAng="5400000"/>
                <a:lnTo>
                  <a:pt x="50800" y="297160"/>
                </a:lnTo>
                <a:arcTo hR="50800" wR="50800" stAng="5400000" swAng="5400000"/>
                <a:lnTo>
                  <a:pt x="0" y="50800"/>
                </a:lnTo>
                <a:arcTo hR="50800" wR="50800" stAng="10800000" swAng="5400000"/>
                <a:close/>
              </a:path>
            </a:pathLst>
          </a:custGeom>
          <a:solidFill>
            <a:srgbClr val="ECE7DB"/>
          </a:solidFill>
          <a:ln/>
        </p:spPr>
        <p:txBody>
          <a:bodyPr wrap="square" lIns="0" tIns="50800" rIns="0" bIns="25400" rtlCol="0" anchor="t">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(t, ↓) ⅓</a:t>
            </a:r>
            <a:endParaRPr lang="en-US" sz="1100" dirty="0"/>
          </a:p>
        </p:txBody>
      </p:sp>
      <p:sp>
        <p:nvSpPr>
          <p:cNvPr id="23" name="Text 19"/>
          <p:cNvSpPr/>
          <p:nvPr/>
        </p:nvSpPr>
        <p:spPr>
          <a:xfrm>
            <a:off x="6189117" y="3929360"/>
            <a:ext cx="719683" cy="297160"/>
          </a:xfrm>
          <a:custGeom>
            <a:avLst/>
            <a:gdLst/>
            <a:ahLst/>
            <a:cxnLst/>
            <a:rect l="l" t="t" r="r" b="b"/>
            <a:pathLst>
              <a:path w="719683" h="297160">
                <a:moveTo>
                  <a:pt x="50800" y="0"/>
                </a:moveTo>
                <a:lnTo>
                  <a:pt x="668883" y="0"/>
                </a:lnTo>
                <a:arcTo hR="50800" wR="50800" stAng="16200000" swAng="5400000"/>
                <a:lnTo>
                  <a:pt x="719683" y="246360"/>
                </a:lnTo>
                <a:arcTo hR="50800" wR="50800" stAng="0" swAng="5400000"/>
                <a:lnTo>
                  <a:pt x="50800" y="297160"/>
                </a:lnTo>
                <a:arcTo hR="50800" wR="50800" stAng="5400000" swAng="5400000"/>
                <a:lnTo>
                  <a:pt x="0" y="50800"/>
                </a:lnTo>
                <a:arcTo hR="50800" wR="50800" stAng="10800000" swAng="5400000"/>
                <a:close/>
              </a:path>
            </a:pathLst>
          </a:custGeom>
          <a:solidFill>
            <a:srgbClr val="ECE7DB"/>
          </a:solidFill>
          <a:ln/>
        </p:spPr>
        <p:txBody>
          <a:bodyPr wrap="square" lIns="0" tIns="50800" rIns="0" bIns="25400" rtlCol="0" anchor="t">
            <a:normAutofit/>
          </a:bodyPr>
          <a:lstStyle/>
          <a:p>
            <a:pPr algn="ctr" indent="0" marL="0">
              <a:lnSpc>
                <a:spcPts val="1540"/>
              </a:lnSpc>
              <a:buNone/>
            </a:pPr>
            <a:r>
              <a:rPr lang="en-US" sz="1100" dirty="0">
                <a:solidFill>
                  <a:srgbClr val="1B2A41"/>
                </a:solidFill>
                <a:latin typeface="IBM Plex Sans" pitchFamily="34" charset="0"/>
                <a:ea typeface="IBM Plex Sans" pitchFamily="34" charset="-122"/>
                <a:cs typeface="IBM Plex Sans" pitchFamily="34" charset="-120"/>
              </a:rPr>
              <a:t>(t, ↑) ⅓</a:t>
            </a:r>
            <a:endParaRPr lang="en-US" sz="1100" dirty="0"/>
          </a:p>
        </p:txBody>
      </p:sp>
      <p:sp>
        <p:nvSpPr>
          <p:cNvPr id="24" name="Text 20"/>
          <p:cNvSpPr/>
          <p:nvPr/>
        </p:nvSpPr>
        <p:spPr>
          <a:xfrm>
            <a:off x="7264400" y="1516360"/>
            <a:ext cx="42382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FRAUCHIGER–RENNER, JOINT OUTCOMES</a:t>
            </a:r>
            <a:endParaRPr lang="en-US" sz="1200" dirty="0"/>
          </a:p>
        </p:txBody>
      </p:sp>
      <p:sp>
        <p:nvSpPr>
          <p:cNvPr id="25" name="Shape 21"/>
          <p:cNvSpPr/>
          <p:nvPr/>
        </p:nvSpPr>
        <p:spPr>
          <a:xfrm>
            <a:off x="7270750" y="1837630"/>
            <a:ext cx="4102100" cy="1894780"/>
          </a:xfrm>
          <a:prstGeom prst="roundRect">
            <a:avLst>
              <a:gd name="adj" fmla="val 3686"/>
            </a:avLst>
          </a:prstGeom>
          <a:solidFill>
            <a:srgbClr val="FBFAF6"/>
          </a:solidFill>
          <a:ln w="12700">
            <a:solidFill>
              <a:srgbClr val="D8D1C2"/>
            </a:solidFill>
            <a:prstDash val="solid"/>
          </a:ln>
        </p:spPr>
      </p:sp>
      <p:sp>
        <p:nvSpPr>
          <p:cNvPr id="26" name="Shape 22"/>
          <p:cNvSpPr/>
          <p:nvPr/>
        </p:nvSpPr>
        <p:spPr>
          <a:xfrm>
            <a:off x="7277100" y="1843980"/>
            <a:ext cx="1610965" cy="347960"/>
          </a:xfrm>
          <a:custGeom>
            <a:avLst/>
            <a:gdLst/>
            <a:ahLst/>
            <a:cxnLst/>
            <a:rect l="l" t="t" r="r" b="b"/>
            <a:pathLst>
              <a:path w="1610965" h="347960">
                <a:moveTo>
                  <a:pt x="0" y="63500"/>
                </a:moveTo>
                <a:arcTo hR="63500" wR="63500" stAng="10800000" swAng="5400000"/>
                <a:lnTo>
                  <a:pt x="1610965" y="0"/>
                </a:lnTo>
                <a:lnTo>
                  <a:pt x="1610965" y="347960"/>
                </a:lnTo>
                <a:lnTo>
                  <a:pt x="0" y="347960"/>
                </a:lnTo>
                <a:close/>
              </a:path>
            </a:pathLst>
          </a:custGeom>
          <a:solidFill>
            <a:srgbClr val="ECE7DB"/>
          </a:solidFill>
          <a:ln/>
        </p:spPr>
      </p:sp>
      <p:sp>
        <p:nvSpPr>
          <p:cNvPr id="27" name="Text 23"/>
          <p:cNvSpPr/>
          <p:nvPr/>
        </p:nvSpPr>
        <p:spPr>
          <a:xfrm>
            <a:off x="8888065" y="1843980"/>
            <a:ext cx="1239193" cy="347960"/>
          </a:xfrm>
          <a:prstGeom prst="rect">
            <a:avLst/>
          </a:prstGeom>
          <a:solidFill>
            <a:srgbClr val="ECE7DB"/>
          </a:solidFill>
          <a:ln/>
        </p:spPr>
        <p:txBody>
          <a:bodyPr wrap="square" lIns="88900" tIns="76200" rIns="88900" bIns="5080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coherent lab</a:t>
            </a:r>
            <a:endParaRPr lang="en-US" sz="1100" dirty="0"/>
          </a:p>
        </p:txBody>
      </p:sp>
      <p:sp>
        <p:nvSpPr>
          <p:cNvPr id="28" name="Text 24"/>
          <p:cNvSpPr/>
          <p:nvPr/>
        </p:nvSpPr>
        <p:spPr>
          <a:xfrm>
            <a:off x="10127258" y="1843980"/>
            <a:ext cx="1239242" cy="347960"/>
          </a:xfrm>
          <a:custGeom>
            <a:avLst/>
            <a:gdLst/>
            <a:ahLst/>
            <a:cxnLst/>
            <a:rect l="l" t="t" r="r" b="b"/>
            <a:pathLst>
              <a:path w="1239242" h="347960">
                <a:moveTo>
                  <a:pt x="1175742" y="0"/>
                </a:moveTo>
                <a:arcTo hR="63500" wR="63500" stAng="16200000" swAng="5400000"/>
                <a:lnTo>
                  <a:pt x="1239242" y="347960"/>
                </a:lnTo>
                <a:lnTo>
                  <a:pt x="0" y="347960"/>
                </a:lnTo>
                <a:lnTo>
                  <a:pt x="0" y="0"/>
                </a:lnTo>
                <a:close/>
              </a:path>
            </a:pathLst>
          </a:custGeom>
          <a:solidFill>
            <a:srgbClr val="ECE7DB"/>
          </a:solidFill>
          <a:ln/>
        </p:spPr>
        <p:txBody>
          <a:bodyPr wrap="square" lIns="88900" tIns="76200" rIns="88900" bIns="50800" rtlCol="0" anchor="t">
            <a:normAutofit/>
          </a:bodyPr>
          <a:lstStyle/>
          <a:p>
            <a:pPr algn="ctr" indent="0" marL="0">
              <a:lnSpc>
                <a:spcPts val="1540"/>
              </a:lnSpc>
              <a:buNone/>
            </a:pPr>
            <a:r>
              <a:rPr lang="en-US" sz="1100" b="1" dirty="0">
                <a:solidFill>
                  <a:srgbClr val="2E6F95"/>
                </a:solidFill>
                <a:latin typeface="IBM Plex Sans" pitchFamily="34" charset="0"/>
                <a:ea typeface="IBM Plex Sans" pitchFamily="34" charset="-122"/>
                <a:cs typeface="IBM Plex Sans" pitchFamily="34" charset="-120"/>
              </a:rPr>
              <a:t>Aethic mixture</a:t>
            </a:r>
            <a:endParaRPr lang="en-US" sz="1100" dirty="0"/>
          </a:p>
        </p:txBody>
      </p:sp>
      <p:sp>
        <p:nvSpPr>
          <p:cNvPr id="29" name="Text 25"/>
          <p:cNvSpPr/>
          <p:nvPr/>
        </p:nvSpPr>
        <p:spPr>
          <a:xfrm>
            <a:off x="7391400" y="2268141"/>
            <a:ext cx="1433165" cy="2565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(ok₁, ok₂)</a:t>
            </a:r>
            <a:endParaRPr lang="en-US" sz="1200" dirty="0"/>
          </a:p>
        </p:txBody>
      </p:sp>
      <p:sp>
        <p:nvSpPr>
          <p:cNvPr id="30" name="Text 26"/>
          <p:cNvSpPr/>
          <p:nvPr/>
        </p:nvSpPr>
        <p:spPr>
          <a:xfrm>
            <a:off x="8976965" y="2268141"/>
            <a:ext cx="106139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9E3B2F"/>
                </a:solidFill>
                <a:latin typeface="IBM Plex Sans" pitchFamily="34" charset="0"/>
                <a:ea typeface="IBM Plex Sans" pitchFamily="34" charset="-122"/>
                <a:cs typeface="IBM Plex Sans" pitchFamily="34" charset="-120"/>
              </a:rPr>
              <a:t>1/12</a:t>
            </a:r>
            <a:endParaRPr lang="en-US" sz="1300" dirty="0"/>
          </a:p>
        </p:txBody>
      </p:sp>
      <p:sp>
        <p:nvSpPr>
          <p:cNvPr id="31" name="Text 27"/>
          <p:cNvSpPr/>
          <p:nvPr/>
        </p:nvSpPr>
        <p:spPr>
          <a:xfrm>
            <a:off x="10216158" y="2268141"/>
            <a:ext cx="1061442"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2E6F95"/>
                </a:solidFill>
                <a:latin typeface="IBM Plex Sans" pitchFamily="34" charset="0"/>
                <a:ea typeface="IBM Plex Sans" pitchFamily="34" charset="-122"/>
                <a:cs typeface="IBM Plex Sans" pitchFamily="34" charset="-120"/>
              </a:rPr>
              <a:t>1/4</a:t>
            </a:r>
            <a:endParaRPr lang="en-US" sz="1300" dirty="0"/>
          </a:p>
        </p:txBody>
      </p:sp>
      <p:sp>
        <p:nvSpPr>
          <p:cNvPr id="32" name="Text 28"/>
          <p:cNvSpPr/>
          <p:nvPr/>
        </p:nvSpPr>
        <p:spPr>
          <a:xfrm>
            <a:off x="7391400" y="2651671"/>
            <a:ext cx="1433165" cy="2565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(ok₁, fail₂)</a:t>
            </a:r>
            <a:endParaRPr lang="en-US" sz="1200" dirty="0"/>
          </a:p>
        </p:txBody>
      </p:sp>
      <p:sp>
        <p:nvSpPr>
          <p:cNvPr id="33" name="Text 29"/>
          <p:cNvSpPr/>
          <p:nvPr/>
        </p:nvSpPr>
        <p:spPr>
          <a:xfrm>
            <a:off x="8976965" y="2651671"/>
            <a:ext cx="1061393"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1/12</a:t>
            </a:r>
            <a:endParaRPr lang="en-US" sz="1300" dirty="0"/>
          </a:p>
        </p:txBody>
      </p:sp>
      <p:sp>
        <p:nvSpPr>
          <p:cNvPr id="34" name="Text 30"/>
          <p:cNvSpPr/>
          <p:nvPr/>
        </p:nvSpPr>
        <p:spPr>
          <a:xfrm>
            <a:off x="10216158" y="2651671"/>
            <a:ext cx="1061442"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1/4</a:t>
            </a:r>
            <a:endParaRPr lang="en-US" sz="1300" dirty="0"/>
          </a:p>
        </p:txBody>
      </p:sp>
      <p:sp>
        <p:nvSpPr>
          <p:cNvPr id="35" name="Text 31"/>
          <p:cNvSpPr/>
          <p:nvPr/>
        </p:nvSpPr>
        <p:spPr>
          <a:xfrm>
            <a:off x="7391400" y="3035201"/>
            <a:ext cx="1433165" cy="2565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(fail₁, ok₂)</a:t>
            </a:r>
            <a:endParaRPr lang="en-US" sz="1200" dirty="0"/>
          </a:p>
        </p:txBody>
      </p:sp>
      <p:sp>
        <p:nvSpPr>
          <p:cNvPr id="36" name="Text 32"/>
          <p:cNvSpPr/>
          <p:nvPr/>
        </p:nvSpPr>
        <p:spPr>
          <a:xfrm>
            <a:off x="8976965" y="3035201"/>
            <a:ext cx="1061393"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1/12</a:t>
            </a:r>
            <a:endParaRPr lang="en-US" sz="1300" dirty="0"/>
          </a:p>
        </p:txBody>
      </p:sp>
      <p:sp>
        <p:nvSpPr>
          <p:cNvPr id="37" name="Text 33"/>
          <p:cNvSpPr/>
          <p:nvPr/>
        </p:nvSpPr>
        <p:spPr>
          <a:xfrm>
            <a:off x="10216158" y="3035201"/>
            <a:ext cx="1061442"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1/4</a:t>
            </a:r>
            <a:endParaRPr lang="en-US" sz="1300" dirty="0"/>
          </a:p>
        </p:txBody>
      </p:sp>
      <p:sp>
        <p:nvSpPr>
          <p:cNvPr id="38" name="Text 34"/>
          <p:cNvSpPr/>
          <p:nvPr/>
        </p:nvSpPr>
        <p:spPr>
          <a:xfrm>
            <a:off x="7391400" y="3418731"/>
            <a:ext cx="1433165" cy="2565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(fail₁, fail₂)</a:t>
            </a:r>
            <a:endParaRPr lang="en-US" sz="1200" dirty="0"/>
          </a:p>
        </p:txBody>
      </p:sp>
      <p:sp>
        <p:nvSpPr>
          <p:cNvPr id="39" name="Text 35"/>
          <p:cNvSpPr/>
          <p:nvPr/>
        </p:nvSpPr>
        <p:spPr>
          <a:xfrm>
            <a:off x="8976965" y="3418731"/>
            <a:ext cx="1061393"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3/4</a:t>
            </a:r>
            <a:endParaRPr lang="en-US" sz="1300" dirty="0"/>
          </a:p>
        </p:txBody>
      </p:sp>
      <p:sp>
        <p:nvSpPr>
          <p:cNvPr id="40" name="Text 36"/>
          <p:cNvSpPr/>
          <p:nvPr/>
        </p:nvSpPr>
        <p:spPr>
          <a:xfrm>
            <a:off x="10216158" y="3418731"/>
            <a:ext cx="1061442"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41"/>
                </a:solidFill>
                <a:latin typeface="IBM Plex Sans" pitchFamily="34" charset="0"/>
                <a:ea typeface="IBM Plex Sans" pitchFamily="34" charset="-122"/>
                <a:cs typeface="IBM Plex Sans" pitchFamily="34" charset="-120"/>
              </a:rPr>
              <a:t>1/4</a:t>
            </a:r>
            <a:endParaRPr lang="en-US" sz="1300" dirty="0"/>
          </a:p>
        </p:txBody>
      </p:sp>
      <p:sp>
        <p:nvSpPr>
          <p:cNvPr id="41" name="Text 37"/>
          <p:cNvSpPr/>
          <p:nvPr/>
        </p:nvSpPr>
        <p:spPr>
          <a:xfrm>
            <a:off x="7264400" y="3840361"/>
            <a:ext cx="423824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The certainty step (ok₁ ⇒ spin up) needs the coherent assignment; the mixture never starts the chain. The (ok₁, ok₂) cell is the experiment.</a:t>
            </a:r>
            <a:endParaRPr lang="en-US" sz="1200" dirty="0"/>
          </a:p>
        </p:txBody>
      </p:sp>
      <p:sp>
        <p:nvSpPr>
          <p:cNvPr id="42" name="Text 38"/>
          <p:cNvSpPr/>
          <p:nvPr/>
        </p:nvSpPr>
        <p:spPr>
          <a:xfrm>
            <a:off x="812800" y="4729460"/>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41"/>
                </a:solidFill>
                <a:latin typeface="IBM Plex Sans" pitchFamily="34" charset="0"/>
                <a:ea typeface="IBM Plex Sans" pitchFamily="34" charset="-122"/>
                <a:cs typeface="IBM Plex Sans" pitchFamily="34" charset="-120"/>
              </a:rPr>
              <a:t>The one divergence from universal unitarity: </a:t>
            </a:r>
            <a:r>
              <a:rPr lang="en-US" sz="1400" b="1" dirty="0">
                <a:solidFill>
                  <a:srgbClr val="1B2A41"/>
                </a:solidFill>
                <a:latin typeface="IBM Plex Sans" pitchFamily="34" charset="0"/>
                <a:ea typeface="IBM Plex Sans" pitchFamily="34" charset="-122"/>
                <a:cs typeface="IBM Plex Sans" pitchFamily="34" charset="-120"/>
              </a:rPr>
              <a:t>an observer-grade system exports its records unblockably.</a:t>
            </a:r>
            <a:r>
              <a:rPr lang="en-US" sz="1400" dirty="0">
                <a:solidFill>
                  <a:srgbClr val="1B2A41"/>
                </a:solidFill>
                <a:latin typeface="IBM Plex Sans" pitchFamily="34" charset="0"/>
                <a:ea typeface="IBM Plex Sans" pitchFamily="34" charset="-122"/>
                <a:cs typeface="IBM Plex Sans" pitchFamily="34" charset="-120"/>
              </a:rPr>
              <a:t> Press here.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DEFLATION REDUCTIO</a:t>
            </a:r>
            <a:endParaRPr lang="en-US" sz="1200" dirty="0"/>
          </a:p>
        </p:txBody>
      </p:sp>
      <p:sp>
        <p:nvSpPr>
          <p:cNvPr id="3" name="Text 1"/>
          <p:cNvSpPr/>
          <p:nvPr>
            <p:ph type="title"/>
          </p:nvPr>
        </p:nvSpPr>
        <p:spPr>
          <a:xfrm>
            <a:off x="812800" y="10769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6F3EC"/>
                </a:solidFill>
                <a:latin typeface="Source Serif 4" pitchFamily="18" charset="0"/>
                <a:ea typeface="Source Serif 4" pitchFamily="18" charset="-122"/>
                <a:cs typeface="Source Serif 4" pitchFamily="18" charset="-120"/>
              </a:rPr>
              <a:t>A blank is not an unknown</a:t>
            </a:r>
            <a:endParaRPr lang="en-US" sz="3400" dirty="0"/>
          </a:p>
        </p:txBody>
      </p:sp>
      <p:sp>
        <p:nvSpPr>
          <p:cNvPr id="4" name="Text 2"/>
          <p:cNvSpPr/>
          <p:nvPr/>
        </p:nvSpPr>
        <p:spPr>
          <a:xfrm>
            <a:off x="812800" y="1831280"/>
            <a:ext cx="3401060" cy="41652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9D2DC"/>
                </a:solidFill>
                <a:latin typeface="IBM Plex Sans" pitchFamily="34" charset="0"/>
                <a:ea typeface="IBM Plex Sans" pitchFamily="34" charset="-122"/>
                <a:cs typeface="IBM Plex Sans" pitchFamily="34" charset="-120"/>
              </a:rPr>
              <a:t>"BLANK" READ AS "UNKNOWN VALUE" MEANS</a:t>
            </a:r>
            <a:endParaRPr lang="en-US" sz="1100" dirty="0"/>
          </a:p>
        </p:txBody>
      </p:sp>
      <p:sp>
        <p:nvSpPr>
          <p:cNvPr id="5" name="Shape 3"/>
          <p:cNvSpPr/>
          <p:nvPr/>
        </p:nvSpPr>
        <p:spPr>
          <a:xfrm>
            <a:off x="812800" y="2311301"/>
            <a:ext cx="3302000" cy="850850"/>
          </a:xfrm>
          <a:prstGeom prst="roundRect">
            <a:avLst>
              <a:gd name="adj" fmla="val 5971"/>
            </a:avLst>
          </a:prstGeom>
          <a:solidFill>
            <a:srgbClr val="24364F"/>
          </a:solidFill>
          <a:ln/>
        </p:spPr>
      </p:sp>
      <p:sp>
        <p:nvSpPr>
          <p:cNvPr id="6" name="Shape 4"/>
          <p:cNvSpPr/>
          <p:nvPr/>
        </p:nvSpPr>
        <p:spPr>
          <a:xfrm>
            <a:off x="812800" y="2311301"/>
            <a:ext cx="3302000" cy="850850"/>
          </a:xfrm>
          <a:custGeom>
            <a:avLst/>
            <a:gdLst/>
            <a:ahLst/>
            <a:cxnLst/>
            <a:rect l="l" t="t" r="r" b="b"/>
            <a:pathLst>
              <a:path w="3302000" h="850850">
                <a:moveTo>
                  <a:pt x="50800" y="850850"/>
                </a:moveTo>
                <a:lnTo>
                  <a:pt x="50800" y="850850"/>
                </a:lnTo>
                <a:arcTo hR="50800" wR="50800" stAng="5400000" swAng="5400000"/>
                <a:lnTo>
                  <a:pt x="0" y="50800"/>
                </a:lnTo>
                <a:arcTo hR="50800" wR="50800" stAng="10800000" swAng="5400000"/>
                <a:lnTo>
                  <a:pt x="50800" y="0"/>
                </a:lnTo>
                <a:arcTo hR="50800" wR="12700" stAng="16200000" swAng="-5400000"/>
                <a:lnTo>
                  <a:pt x="38100" y="800050"/>
                </a:lnTo>
                <a:arcTo hR="50800" wR="12700" stAng="10800000" swAng="-5400000"/>
                <a:close/>
              </a:path>
            </a:pathLst>
          </a:custGeom>
          <a:solidFill>
            <a:srgbClr val="C98A2B"/>
          </a:solidFill>
          <a:ln/>
        </p:spPr>
      </p:sp>
      <p:sp>
        <p:nvSpPr>
          <p:cNvPr id="7" name="Text 5"/>
          <p:cNvSpPr/>
          <p:nvPr/>
        </p:nvSpPr>
        <p:spPr>
          <a:xfrm>
            <a:off x="990600" y="2412901"/>
            <a:ext cx="307403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D1  noncontextual hidden values</a:t>
            </a:r>
            <a:endParaRPr lang="en-US" sz="1300" dirty="0"/>
          </a:p>
        </p:txBody>
      </p:sp>
      <p:sp>
        <p:nvSpPr>
          <p:cNvPr id="8" name="Text 6"/>
          <p:cNvSpPr/>
          <p:nvPr/>
        </p:nvSpPr>
        <p:spPr>
          <a:xfrm>
            <a:off x="990600" y="2669431"/>
            <a:ext cx="3074035"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9D2DC"/>
                </a:solidFill>
                <a:latin typeface="IBM Plex Sans" pitchFamily="34" charset="0"/>
                <a:ea typeface="IBM Plex Sans" pitchFamily="34" charset="-122"/>
                <a:cs typeface="IBM Plex Sans" pitchFamily="34" charset="-120"/>
              </a:rPr>
              <a:t>one value per attribute, whatever else is measured</a:t>
            </a:r>
            <a:endParaRPr lang="en-US" sz="1100" dirty="0"/>
          </a:p>
        </p:txBody>
      </p:sp>
      <p:sp>
        <p:nvSpPr>
          <p:cNvPr id="9" name="Shape 7"/>
          <p:cNvSpPr/>
          <p:nvPr/>
        </p:nvSpPr>
        <p:spPr>
          <a:xfrm>
            <a:off x="812800" y="3251051"/>
            <a:ext cx="3302000" cy="655290"/>
          </a:xfrm>
          <a:prstGeom prst="roundRect">
            <a:avLst>
              <a:gd name="adj" fmla="val 7752"/>
            </a:avLst>
          </a:prstGeom>
          <a:solidFill>
            <a:srgbClr val="24364F"/>
          </a:solidFill>
          <a:ln/>
        </p:spPr>
      </p:sp>
      <p:sp>
        <p:nvSpPr>
          <p:cNvPr id="10" name="Shape 8"/>
          <p:cNvSpPr/>
          <p:nvPr/>
        </p:nvSpPr>
        <p:spPr>
          <a:xfrm>
            <a:off x="812800" y="3251051"/>
            <a:ext cx="3302000" cy="655290"/>
          </a:xfrm>
          <a:custGeom>
            <a:avLst/>
            <a:gdLst/>
            <a:ahLst/>
            <a:cxnLst/>
            <a:rect l="l" t="t" r="r" b="b"/>
            <a:pathLst>
              <a:path w="3302000" h="655290">
                <a:moveTo>
                  <a:pt x="50800" y="655290"/>
                </a:moveTo>
                <a:lnTo>
                  <a:pt x="50800" y="655290"/>
                </a:lnTo>
                <a:arcTo hR="50800" wR="50800" stAng="5400000" swAng="5400000"/>
                <a:lnTo>
                  <a:pt x="0" y="50800"/>
                </a:lnTo>
                <a:arcTo hR="50800" wR="50800" stAng="10800000" swAng="5400000"/>
                <a:lnTo>
                  <a:pt x="50800" y="0"/>
                </a:lnTo>
                <a:arcTo hR="50800" wR="12700" stAng="16200000" swAng="-5400000"/>
                <a:lnTo>
                  <a:pt x="38100" y="604490"/>
                </a:lnTo>
                <a:arcTo hR="50800" wR="12700" stAng="10800000" swAng="-5400000"/>
                <a:close/>
              </a:path>
            </a:pathLst>
          </a:custGeom>
          <a:solidFill>
            <a:srgbClr val="C98A2B"/>
          </a:solidFill>
          <a:ln/>
        </p:spPr>
      </p:sp>
      <p:sp>
        <p:nvSpPr>
          <p:cNvPr id="11" name="Text 9"/>
          <p:cNvSpPr/>
          <p:nvPr/>
        </p:nvSpPr>
        <p:spPr>
          <a:xfrm>
            <a:off x="990600" y="3352651"/>
            <a:ext cx="307403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D2  verdict preservation</a:t>
            </a:r>
            <a:endParaRPr lang="en-US" sz="1300" dirty="0"/>
          </a:p>
        </p:txBody>
      </p:sp>
      <p:sp>
        <p:nvSpPr>
          <p:cNvPr id="12" name="Text 10"/>
          <p:cNvSpPr/>
          <p:nvPr/>
        </p:nvSpPr>
        <p:spPr>
          <a:xfrm>
            <a:off x="990600" y="3609181"/>
            <a:ext cx="307403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9D2DC"/>
                </a:solidFill>
                <a:latin typeface="IBM Plex Sans" pitchFamily="34" charset="0"/>
                <a:ea typeface="IBM Plex Sans" pitchFamily="34" charset="-122"/>
                <a:cs typeface="IBM Plex Sans" pitchFamily="34" charset="-120"/>
              </a:rPr>
              <a:t>no classical verdict changes</a:t>
            </a:r>
            <a:endParaRPr lang="en-US" sz="1100" dirty="0"/>
          </a:p>
        </p:txBody>
      </p:sp>
      <p:sp>
        <p:nvSpPr>
          <p:cNvPr id="13" name="Shape 11"/>
          <p:cNvSpPr/>
          <p:nvPr/>
        </p:nvSpPr>
        <p:spPr>
          <a:xfrm>
            <a:off x="812800" y="3995241"/>
            <a:ext cx="3302000" cy="886420"/>
          </a:xfrm>
          <a:prstGeom prst="roundRect">
            <a:avLst>
              <a:gd name="adj" fmla="val 5731"/>
            </a:avLst>
          </a:prstGeom>
          <a:solidFill>
            <a:srgbClr val="24364F"/>
          </a:solidFill>
          <a:ln/>
        </p:spPr>
      </p:sp>
      <p:sp>
        <p:nvSpPr>
          <p:cNvPr id="14" name="Shape 12"/>
          <p:cNvSpPr/>
          <p:nvPr/>
        </p:nvSpPr>
        <p:spPr>
          <a:xfrm>
            <a:off x="812800" y="3995241"/>
            <a:ext cx="3302000" cy="886420"/>
          </a:xfrm>
          <a:custGeom>
            <a:avLst/>
            <a:gdLst/>
            <a:ahLst/>
            <a:cxnLst/>
            <a:rect l="l" t="t" r="r" b="b"/>
            <a:pathLst>
              <a:path w="3302000" h="886420">
                <a:moveTo>
                  <a:pt x="50800" y="886420"/>
                </a:moveTo>
                <a:lnTo>
                  <a:pt x="50800" y="886420"/>
                </a:lnTo>
                <a:arcTo hR="50800" wR="50800" stAng="5400000" swAng="5400000"/>
                <a:lnTo>
                  <a:pt x="0" y="50800"/>
                </a:lnTo>
                <a:arcTo hR="50800" wR="50800" stAng="10800000" swAng="5400000"/>
                <a:lnTo>
                  <a:pt x="50800" y="0"/>
                </a:lnTo>
                <a:arcTo hR="50800" wR="12700" stAng="16200000" swAng="-5400000"/>
                <a:lnTo>
                  <a:pt x="38100" y="835620"/>
                </a:lnTo>
                <a:arcTo hR="50800" wR="12700" stAng="10800000" swAng="-5400000"/>
                <a:close/>
              </a:path>
            </a:pathLst>
          </a:custGeom>
          <a:solidFill>
            <a:srgbClr val="C98A2B"/>
          </a:solidFill>
          <a:ln/>
        </p:spPr>
      </p:sp>
      <p:sp>
        <p:nvSpPr>
          <p:cNvPr id="15" name="Text 13"/>
          <p:cNvSpPr/>
          <p:nvPr/>
        </p:nvSpPr>
        <p:spPr>
          <a:xfrm>
            <a:off x="990600" y="4096841"/>
            <a:ext cx="307403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D3  statistics = hidden-value frequencies</a:t>
            </a:r>
            <a:endParaRPr lang="en-US" sz="1300" dirty="0"/>
          </a:p>
        </p:txBody>
      </p:sp>
      <p:sp>
        <p:nvSpPr>
          <p:cNvPr id="16" name="Text 14"/>
          <p:cNvSpPr/>
          <p:nvPr/>
        </p:nvSpPr>
        <p:spPr>
          <a:xfrm>
            <a:off x="990600" y="4584502"/>
            <a:ext cx="307403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9D2DC"/>
                </a:solidFill>
                <a:latin typeface="IBM Plex Sans" pitchFamily="34" charset="0"/>
                <a:ea typeface="IBM Plex Sans" pitchFamily="34" charset="-122"/>
                <a:cs typeface="IBM Plex Sans" pitchFamily="34" charset="-120"/>
              </a:rPr>
              <a:t>one measure μ; measurement independence</a:t>
            </a:r>
            <a:endParaRPr lang="en-US" sz="1100" dirty="0"/>
          </a:p>
        </p:txBody>
      </p:sp>
      <p:sp>
        <p:nvSpPr>
          <p:cNvPr id="17" name="Text 15"/>
          <p:cNvSpPr/>
          <p:nvPr/>
        </p:nvSpPr>
        <p:spPr>
          <a:xfrm>
            <a:off x="4216400" y="3072011"/>
            <a:ext cx="558800" cy="594320"/>
          </a:xfrm>
          <a:prstGeom prst="rect">
            <a:avLst/>
          </a:prstGeom>
          <a:noFill/>
          <a:ln/>
        </p:spPr>
        <p:txBody>
          <a:bodyPr wrap="square" lIns="0" tIns="0" rIns="0" bIns="0" rtlCol="0" anchor="t">
            <a:normAutofit/>
          </a:bodyPr>
          <a:lstStyle/>
          <a:p>
            <a:pPr algn="ctr" indent="0" marL="0">
              <a:lnSpc>
                <a:spcPts val="4480"/>
              </a:lnSpc>
              <a:buNone/>
            </a:pPr>
            <a:r>
              <a:rPr lang="en-US" sz="3200" dirty="0">
                <a:solidFill>
                  <a:srgbClr val="C98A2B"/>
                </a:solidFill>
                <a:latin typeface="IBM Plex Sans" pitchFamily="34" charset="0"/>
                <a:ea typeface="IBM Plex Sans" pitchFamily="34" charset="-122"/>
                <a:cs typeface="IBM Plex Sans" pitchFamily="34" charset="-120"/>
              </a:rPr>
              <a:t>→</a:t>
            </a:r>
            <a:endParaRPr lang="en-US" sz="3200" dirty="0"/>
          </a:p>
        </p:txBody>
      </p:sp>
      <p:sp>
        <p:nvSpPr>
          <p:cNvPr id="18" name="Shape 16"/>
          <p:cNvSpPr/>
          <p:nvPr/>
        </p:nvSpPr>
        <p:spPr>
          <a:xfrm>
            <a:off x="4876800" y="2536081"/>
            <a:ext cx="2540000" cy="1640780"/>
          </a:xfrm>
          <a:prstGeom prst="roundRect">
            <a:avLst>
              <a:gd name="adj" fmla="val 4644"/>
            </a:avLst>
          </a:prstGeom>
          <a:solidFill>
            <a:srgbClr val="24364F"/>
          </a:solidFill>
          <a:ln/>
        </p:spPr>
      </p:sp>
      <p:sp>
        <p:nvSpPr>
          <p:cNvPr id="19" name="Text 17"/>
          <p:cNvSpPr/>
          <p:nvPr/>
        </p:nvSpPr>
        <p:spPr>
          <a:xfrm>
            <a:off x="5054600" y="2688481"/>
            <a:ext cx="2249932"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9D2DC"/>
                </a:solidFill>
                <a:latin typeface="IBM Plex Sans" pitchFamily="34" charset="0"/>
                <a:ea typeface="IBM Plex Sans" pitchFamily="34" charset="-122"/>
                <a:cs typeface="IBM Plex Sans" pitchFamily="34" charset="-120"/>
              </a:rPr>
              <a:t>FINE'S THEOREM</a:t>
            </a:r>
            <a:endParaRPr lang="en-US" sz="1100" dirty="0"/>
          </a:p>
        </p:txBody>
      </p:sp>
      <p:sp>
        <p:nvSpPr>
          <p:cNvPr id="20" name="Text 18"/>
          <p:cNvSpPr/>
          <p:nvPr/>
        </p:nvSpPr>
        <p:spPr>
          <a:xfrm>
            <a:off x="5054600" y="2947541"/>
            <a:ext cx="22499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a joint distribution with those marginals exists </a:t>
            </a:r>
            <a:r>
              <a:rPr lang="en-US" sz="1400" b="1" dirty="0">
                <a:solidFill>
                  <a:srgbClr val="F6F3EC"/>
                </a:solidFill>
                <a:latin typeface="IBM Plex Sans" pitchFamily="34" charset="0"/>
                <a:ea typeface="IBM Plex Sans" pitchFamily="34" charset="-122"/>
                <a:cs typeface="IBM Plex Sans" pitchFamily="34" charset="-120"/>
              </a:rPr>
              <a:t>⇔</a:t>
            </a:r>
            <a:r>
              <a:rPr lang="en-US" sz="1400" dirty="0">
                <a:solidFill>
                  <a:srgbClr val="F6F3EC"/>
                </a:solidFill>
                <a:latin typeface="IBM Plex Sans" pitchFamily="34" charset="0"/>
                <a:ea typeface="IBM Plex Sans" pitchFamily="34" charset="-122"/>
                <a:cs typeface="IBM Plex Sans" pitchFamily="34" charset="-120"/>
              </a:rPr>
              <a:t> CHSH holds</a:t>
            </a:r>
            <a:endParaRPr lang="en-US" sz="1400" dirty="0"/>
          </a:p>
        </p:txBody>
      </p:sp>
      <p:sp>
        <p:nvSpPr>
          <p:cNvPr id="21" name="Text 19"/>
          <p:cNvSpPr/>
          <p:nvPr/>
        </p:nvSpPr>
        <p:spPr>
          <a:xfrm>
            <a:off x="5054600" y="3704431"/>
            <a:ext cx="224993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3EC"/>
                </a:solidFill>
                <a:latin typeface="IBM Plex Sans" pitchFamily="34" charset="0"/>
                <a:ea typeface="IBM Plex Sans" pitchFamily="34" charset="-122"/>
                <a:cs typeface="IBM Plex Sans" pitchFamily="34" charset="-120"/>
              </a:rPr>
              <a:t>|S| ≤ 2</a:t>
            </a:r>
            <a:endParaRPr lang="en-US" sz="1800" dirty="0"/>
          </a:p>
        </p:txBody>
      </p:sp>
      <p:sp>
        <p:nvSpPr>
          <p:cNvPr id="22" name="Text 20"/>
          <p:cNvSpPr/>
          <p:nvPr/>
        </p:nvSpPr>
        <p:spPr>
          <a:xfrm>
            <a:off x="7518400" y="3072011"/>
            <a:ext cx="558800" cy="594320"/>
          </a:xfrm>
          <a:prstGeom prst="rect">
            <a:avLst/>
          </a:prstGeom>
          <a:noFill/>
          <a:ln/>
        </p:spPr>
        <p:txBody>
          <a:bodyPr wrap="square" lIns="0" tIns="0" rIns="0" bIns="0" rtlCol="0" anchor="t">
            <a:normAutofit/>
          </a:bodyPr>
          <a:lstStyle/>
          <a:p>
            <a:pPr algn="ctr" indent="0" marL="0">
              <a:lnSpc>
                <a:spcPts val="4480"/>
              </a:lnSpc>
              <a:buNone/>
            </a:pPr>
            <a:r>
              <a:rPr lang="en-US" sz="3200" dirty="0">
                <a:solidFill>
                  <a:srgbClr val="C98A2B"/>
                </a:solidFill>
                <a:latin typeface="IBM Plex Sans" pitchFamily="34" charset="0"/>
                <a:ea typeface="IBM Plex Sans" pitchFamily="34" charset="-122"/>
                <a:cs typeface="IBM Plex Sans" pitchFamily="34" charset="-120"/>
              </a:rPr>
              <a:t>→</a:t>
            </a:r>
            <a:endParaRPr lang="en-US" sz="3200" dirty="0"/>
          </a:p>
        </p:txBody>
      </p:sp>
      <p:sp>
        <p:nvSpPr>
          <p:cNvPr id="23" name="Shape 21"/>
          <p:cNvSpPr/>
          <p:nvPr/>
        </p:nvSpPr>
        <p:spPr>
          <a:xfrm>
            <a:off x="8178800" y="2514501"/>
            <a:ext cx="3175000" cy="833090"/>
          </a:xfrm>
          <a:prstGeom prst="roundRect">
            <a:avLst>
              <a:gd name="adj" fmla="val 9147"/>
            </a:avLst>
          </a:prstGeom>
          <a:solidFill>
            <a:srgbClr val="9E3B2F"/>
          </a:solidFill>
          <a:ln/>
        </p:spPr>
      </p:sp>
      <p:sp>
        <p:nvSpPr>
          <p:cNvPr id="24" name="Text 22"/>
          <p:cNvSpPr/>
          <p:nvPr/>
        </p:nvSpPr>
        <p:spPr>
          <a:xfrm>
            <a:off x="8356600" y="2654201"/>
            <a:ext cx="2903982"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F1DDD8"/>
                </a:solidFill>
                <a:latin typeface="IBM Plex Sans" pitchFamily="34" charset="0"/>
                <a:ea typeface="IBM Plex Sans" pitchFamily="34" charset="-122"/>
                <a:cs typeface="IBM Plex Sans" pitchFamily="34" charset="-120"/>
              </a:rPr>
              <a:t>THE SINGLET, FROM THE KERNEL</a:t>
            </a:r>
            <a:endParaRPr lang="en-US" sz="1100" dirty="0"/>
          </a:p>
        </p:txBody>
      </p:sp>
      <p:sp>
        <p:nvSpPr>
          <p:cNvPr id="25" name="Text 23"/>
          <p:cNvSpPr/>
          <p:nvPr/>
        </p:nvSpPr>
        <p:spPr>
          <a:xfrm>
            <a:off x="8356600" y="2887861"/>
            <a:ext cx="290398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3EC"/>
                </a:solidFill>
                <a:latin typeface="IBM Plex Sans" pitchFamily="34" charset="0"/>
                <a:ea typeface="IBM Plex Sans" pitchFamily="34" charset="-122"/>
                <a:cs typeface="IBM Plex Sans" pitchFamily="34" charset="-120"/>
              </a:rPr>
              <a:t>|S| = 2√2</a:t>
            </a:r>
            <a:endParaRPr lang="en-US" sz="1800" dirty="0"/>
          </a:p>
        </p:txBody>
      </p:sp>
      <p:sp>
        <p:nvSpPr>
          <p:cNvPr id="26" name="Shape 24"/>
          <p:cNvSpPr/>
          <p:nvPr/>
        </p:nvSpPr>
        <p:spPr>
          <a:xfrm>
            <a:off x="8178800" y="3436491"/>
            <a:ext cx="3175000" cy="761950"/>
          </a:xfrm>
          <a:prstGeom prst="roundRect">
            <a:avLst>
              <a:gd name="adj" fmla="val 10001"/>
            </a:avLst>
          </a:prstGeom>
          <a:solidFill>
            <a:srgbClr val="2E6F95"/>
          </a:solidFill>
          <a:ln/>
        </p:spPr>
      </p:sp>
      <p:sp>
        <p:nvSpPr>
          <p:cNvPr id="27" name="Text 25"/>
          <p:cNvSpPr/>
          <p:nvPr/>
        </p:nvSpPr>
        <p:spPr>
          <a:xfrm>
            <a:off x="8356600" y="3576191"/>
            <a:ext cx="29039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No lossless deflation exists.</a:t>
            </a:r>
            <a:endParaRPr lang="en-US" sz="1400" dirty="0"/>
          </a:p>
        </p:txBody>
      </p:sp>
      <p:sp>
        <p:nvSpPr>
          <p:cNvPr id="28" name="Text 26"/>
          <p:cNvSpPr/>
          <p:nvPr/>
        </p:nvSpPr>
        <p:spPr>
          <a:xfrm>
            <a:off x="8356600" y="3863181"/>
            <a:ext cx="2903982"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CE6EE"/>
                </a:solidFill>
                <a:latin typeface="IBM Plex Sans" pitchFamily="34" charset="0"/>
                <a:ea typeface="IBM Plex Sans" pitchFamily="34" charset="-122"/>
                <a:cs typeface="IBM Plex Sans" pitchFamily="34" charset="-120"/>
              </a:rPr>
              <a:t>The blank was constructive after all.</a:t>
            </a:r>
            <a:endParaRPr lang="en-US" sz="1100" dirty="0"/>
          </a:p>
        </p:txBody>
      </p:sp>
      <p:sp>
        <p:nvSpPr>
          <p:cNvPr id="29" name="Shape 27"/>
          <p:cNvSpPr/>
          <p:nvPr/>
        </p:nvSpPr>
        <p:spPr>
          <a:xfrm>
            <a:off x="812800" y="5170587"/>
            <a:ext cx="3386634" cy="0"/>
          </a:xfrm>
          <a:prstGeom prst="line">
            <a:avLst/>
          </a:prstGeom>
          <a:noFill/>
          <a:ln w="19050">
            <a:solidFill>
              <a:srgbClr val="9E3B2F"/>
            </a:solidFill>
            <a:prstDash val="solid"/>
          </a:ln>
        </p:spPr>
      </p:sp>
      <p:sp>
        <p:nvSpPr>
          <p:cNvPr id="30" name="Text 28"/>
          <p:cNvSpPr/>
          <p:nvPr/>
        </p:nvSpPr>
        <p:spPr>
          <a:xfrm>
            <a:off x="812800" y="5269012"/>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(a) Bell-violating sector</a:t>
            </a:r>
            <a:endParaRPr lang="en-US" sz="1200" dirty="0"/>
          </a:p>
        </p:txBody>
      </p:sp>
      <p:sp>
        <p:nvSpPr>
          <p:cNvPr id="31" name="Text 29"/>
          <p:cNvSpPr/>
          <p:nvPr/>
        </p:nvSpPr>
        <p:spPr>
          <a:xfrm>
            <a:off x="812800" y="5507732"/>
            <a:ext cx="3488233"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9D2DC"/>
                </a:solidFill>
                <a:latin typeface="IBM Plex Sans" pitchFamily="34" charset="0"/>
                <a:ea typeface="IBM Plex Sans" pitchFamily="34" charset="-122"/>
                <a:cs typeface="IBM Plex Sans" pitchFamily="34" charset="-120"/>
              </a:rPr>
              <a:t>the agreeing regime; no single sample space</a:t>
            </a:r>
            <a:endParaRPr lang="en-US" sz="1100" dirty="0"/>
          </a:p>
        </p:txBody>
      </p:sp>
      <p:sp>
        <p:nvSpPr>
          <p:cNvPr id="32" name="Shape 30"/>
          <p:cNvSpPr/>
          <p:nvPr/>
        </p:nvSpPr>
        <p:spPr>
          <a:xfrm>
            <a:off x="4402634" y="5170587"/>
            <a:ext cx="3386683" cy="0"/>
          </a:xfrm>
          <a:prstGeom prst="line">
            <a:avLst/>
          </a:prstGeom>
          <a:noFill/>
          <a:ln w="19050">
            <a:solidFill>
              <a:srgbClr val="2E6F95"/>
            </a:solidFill>
            <a:prstDash val="solid"/>
          </a:ln>
        </p:spPr>
      </p:sp>
      <p:sp>
        <p:nvSpPr>
          <p:cNvPr id="33" name="Text 31"/>
          <p:cNvSpPr/>
          <p:nvPr/>
        </p:nvSpPr>
        <p:spPr>
          <a:xfrm>
            <a:off x="4402634" y="5269012"/>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(b) Bell-bounded sector</a:t>
            </a:r>
            <a:endParaRPr lang="en-US" sz="1200" dirty="0"/>
          </a:p>
        </p:txBody>
      </p:sp>
      <p:sp>
        <p:nvSpPr>
          <p:cNvPr id="34" name="Text 32"/>
          <p:cNvSpPr/>
          <p:nvPr/>
        </p:nvSpPr>
        <p:spPr>
          <a:xfrm>
            <a:off x="4402634" y="5507732"/>
            <a:ext cx="3488284"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9D2DC"/>
                </a:solidFill>
                <a:latin typeface="IBM Plex Sans" pitchFamily="34" charset="0"/>
                <a:ea typeface="IBM Plex Sans" pitchFamily="34" charset="-122"/>
                <a:cs typeface="IBM Plex Sans" pitchFamily="34" charset="-120"/>
              </a:rPr>
              <a:t>the deflation exists: the classical filtration</a:t>
            </a:r>
            <a:endParaRPr lang="en-US" sz="1100" dirty="0"/>
          </a:p>
        </p:txBody>
      </p:sp>
      <p:sp>
        <p:nvSpPr>
          <p:cNvPr id="35" name="Shape 33"/>
          <p:cNvSpPr/>
          <p:nvPr/>
        </p:nvSpPr>
        <p:spPr>
          <a:xfrm>
            <a:off x="7992517" y="5170587"/>
            <a:ext cx="3386683" cy="0"/>
          </a:xfrm>
          <a:prstGeom prst="line">
            <a:avLst/>
          </a:prstGeom>
          <a:noFill/>
          <a:ln w="19050">
            <a:solidFill>
              <a:srgbClr val="C98A2B"/>
            </a:solidFill>
            <a:prstDash val="solid"/>
          </a:ln>
        </p:spPr>
      </p:sp>
      <p:sp>
        <p:nvSpPr>
          <p:cNvPr id="36" name="Text 34"/>
          <p:cNvSpPr/>
          <p:nvPr/>
        </p:nvSpPr>
        <p:spPr>
          <a:xfrm>
            <a:off x="7992517" y="5269012"/>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The dilemma</a:t>
            </a:r>
            <a:endParaRPr lang="en-US" sz="1200" dirty="0"/>
          </a:p>
        </p:txBody>
      </p:sp>
      <p:sp>
        <p:nvSpPr>
          <p:cNvPr id="37" name="Text 35"/>
          <p:cNvSpPr/>
          <p:nvPr/>
        </p:nvSpPr>
        <p:spPr>
          <a:xfrm>
            <a:off x="7992517" y="5507732"/>
            <a:ext cx="3488284"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9D2DC"/>
                </a:solidFill>
                <a:latin typeface="IBM Plex Sans" pitchFamily="34" charset="0"/>
                <a:ea typeface="IBM Plex Sans" pitchFamily="34" charset="-122"/>
                <a:cs typeface="IBM Plex Sans" pitchFamily="34" charset="-120"/>
              </a:rPr>
              <a:t>deflate everywhere and fail, or halt exactly where the statistics exceed the bounds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Collapse is a transit between indices, not an event</a:t>
            </a:r>
            <a:endParaRPr lang="en-US" sz="3400" dirty="0"/>
          </a:p>
        </p:txBody>
      </p:sp>
      <p:sp>
        <p:nvSpPr>
          <p:cNvPr id="3" name="Shape 1"/>
          <p:cNvSpPr/>
          <p:nvPr/>
        </p:nvSpPr>
        <p:spPr>
          <a:xfrm>
            <a:off x="812800" y="1592560"/>
            <a:ext cx="2413000" cy="1905000"/>
          </a:xfrm>
          <a:prstGeom prst="roundRect">
            <a:avLst>
              <a:gd name="adj" fmla="val 5333"/>
            </a:avLst>
          </a:prstGeom>
          <a:solidFill>
            <a:srgbClr val="2E6F95"/>
          </a:solidFill>
          <a:ln/>
        </p:spPr>
      </p:sp>
      <p:sp>
        <p:nvSpPr>
          <p:cNvPr id="4" name="Text 2"/>
          <p:cNvSpPr/>
          <p:nvPr/>
        </p:nvSpPr>
        <p:spPr>
          <a:xfrm>
            <a:off x="1003300" y="2048520"/>
            <a:ext cx="209296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DCE6EE"/>
                </a:solidFill>
                <a:latin typeface="IBM Plex Sans" pitchFamily="34" charset="0"/>
                <a:ea typeface="IBM Plex Sans" pitchFamily="34" charset="-122"/>
                <a:cs typeface="IBM Plex Sans" pitchFamily="34" charset="-120"/>
              </a:rPr>
              <a:t>AGREEING</a:t>
            </a:r>
            <a:endParaRPr lang="en-US" sz="1100" dirty="0"/>
          </a:p>
        </p:txBody>
      </p:sp>
      <p:sp>
        <p:nvSpPr>
          <p:cNvPr id="5" name="Text 3"/>
          <p:cNvSpPr/>
          <p:nvPr/>
        </p:nvSpPr>
        <p:spPr>
          <a:xfrm>
            <a:off x="1003300" y="2307580"/>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3EC"/>
                </a:solidFill>
                <a:latin typeface="IBM Plex Sans" pitchFamily="34" charset="0"/>
                <a:ea typeface="IBM Plex Sans" pitchFamily="34" charset="-122"/>
                <a:cs typeface="IBM Plex Sans" pitchFamily="34" charset="-120"/>
              </a:rPr>
              <a:t>superposition</a:t>
            </a:r>
            <a:endParaRPr lang="en-US" sz="1600" dirty="0"/>
          </a:p>
        </p:txBody>
      </p:sp>
      <p:sp>
        <p:nvSpPr>
          <p:cNvPr id="6" name="Text 4"/>
          <p:cNvSpPr/>
          <p:nvPr/>
        </p:nvSpPr>
        <p:spPr>
          <a:xfrm>
            <a:off x="1003300" y="2614910"/>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6EE"/>
                </a:solidFill>
                <a:latin typeface="IBM Plex Sans" pitchFamily="34" charset="0"/>
                <a:ea typeface="IBM Plex Sans" pitchFamily="34" charset="-122"/>
                <a:cs typeface="IBM Plex Sans" pitchFamily="34" charset="-120"/>
              </a:rPr>
              <a:t>cross content undeclared; interference</a:t>
            </a:r>
            <a:endParaRPr lang="en-US" sz="1200" dirty="0"/>
          </a:p>
        </p:txBody>
      </p:sp>
      <p:sp>
        <p:nvSpPr>
          <p:cNvPr id="7" name="Text 5"/>
          <p:cNvSpPr/>
          <p:nvPr/>
        </p:nvSpPr>
        <p:spPr>
          <a:xfrm>
            <a:off x="3517409" y="1923107"/>
            <a:ext cx="1080433"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9E3B2F"/>
                </a:solidFill>
                <a:latin typeface="IBM Plex Sans" pitchFamily="34" charset="0"/>
                <a:ea typeface="IBM Plex Sans" pitchFamily="34" charset="-122"/>
                <a:cs typeface="IBM Plex Sans" pitchFamily="34" charset="-120"/>
              </a:rPr>
              <a:t>measurement</a:t>
            </a:r>
            <a:endParaRPr lang="en-US" sz="1100" dirty="0"/>
          </a:p>
        </p:txBody>
      </p:sp>
      <p:sp>
        <p:nvSpPr>
          <p:cNvPr id="8" name="Text 6"/>
          <p:cNvSpPr/>
          <p:nvPr/>
        </p:nvSpPr>
        <p:spPr>
          <a:xfrm>
            <a:off x="3874770" y="2169468"/>
            <a:ext cx="365760" cy="452090"/>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9E3B2F"/>
                </a:solidFill>
                <a:latin typeface="IBM Plex Sans" pitchFamily="34" charset="0"/>
                <a:ea typeface="IBM Plex Sans" pitchFamily="34" charset="-122"/>
                <a:cs typeface="IBM Plex Sans" pitchFamily="34" charset="-120"/>
              </a:rPr>
              <a:t>→</a:t>
            </a:r>
            <a:endParaRPr lang="en-US" sz="2400" dirty="0"/>
          </a:p>
        </p:txBody>
      </p:sp>
      <p:sp>
        <p:nvSpPr>
          <p:cNvPr id="9" name="Text 7"/>
          <p:cNvSpPr/>
          <p:nvPr/>
        </p:nvSpPr>
        <p:spPr>
          <a:xfrm>
            <a:off x="3263900" y="2646958"/>
            <a:ext cx="1587500" cy="545405"/>
          </a:xfrm>
          <a:prstGeom prst="rect">
            <a:avLst/>
          </a:prstGeom>
          <a:noFill/>
          <a:ln/>
        </p:spPr>
        <p:txBody>
          <a:bodyPr wrap="square" lIns="0" tIns="0" rIns="0" bIns="0" rtlCol="0" anchor="t">
            <a:normAutofit/>
          </a:bodyPr>
          <a:lstStyle/>
          <a:p>
            <a:pPr algn="ctr" indent="0" marL="0">
              <a:lnSpc>
                <a:spcPts val="1365"/>
              </a:lnSpc>
              <a:buNone/>
            </a:pPr>
            <a:r>
              <a:rPr lang="en-US" sz="1050" dirty="0">
                <a:solidFill>
                  <a:srgbClr val="4A5568"/>
                </a:solidFill>
                <a:latin typeface="IBM Plex Sans" pitchFamily="34" charset="0"/>
                <a:ea typeface="IBM Plex Sans" pitchFamily="34" charset="-122"/>
                <a:cs typeface="IBM Plex Sans" pitchFamily="34" charset="-120"/>
              </a:rPr>
              <a:t>a separating record becomes obtainable in every refinement (P3)</a:t>
            </a:r>
            <a:endParaRPr lang="en-US" sz="1050" dirty="0"/>
          </a:p>
        </p:txBody>
      </p:sp>
      <p:sp>
        <p:nvSpPr>
          <p:cNvPr id="10" name="Shape 8"/>
          <p:cNvSpPr/>
          <p:nvPr/>
        </p:nvSpPr>
        <p:spPr>
          <a:xfrm>
            <a:off x="4889500" y="1592560"/>
            <a:ext cx="2413000" cy="1905000"/>
          </a:xfrm>
          <a:prstGeom prst="roundRect">
            <a:avLst>
              <a:gd name="adj" fmla="val 5333"/>
            </a:avLst>
          </a:prstGeom>
          <a:solidFill>
            <a:srgbClr val="C98A2B"/>
          </a:solidFill>
          <a:ln/>
        </p:spPr>
      </p:sp>
      <p:sp>
        <p:nvSpPr>
          <p:cNvPr id="11" name="Text 9"/>
          <p:cNvSpPr/>
          <p:nvPr/>
        </p:nvSpPr>
        <p:spPr>
          <a:xfrm>
            <a:off x="5080000" y="2048520"/>
            <a:ext cx="209296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B2A41"/>
                </a:solidFill>
                <a:latin typeface="IBM Plex Sans" pitchFamily="34" charset="0"/>
                <a:ea typeface="IBM Plex Sans" pitchFamily="34" charset="-122"/>
                <a:cs typeface="IBM Plex Sans" pitchFamily="34" charset="-120"/>
              </a:rPr>
              <a:t>DISAGREEING</a:t>
            </a:r>
            <a:endParaRPr lang="en-US" sz="1100" dirty="0"/>
          </a:p>
        </p:txBody>
      </p:sp>
      <p:sp>
        <p:nvSpPr>
          <p:cNvPr id="12" name="Text 10"/>
          <p:cNvSpPr/>
          <p:nvPr/>
        </p:nvSpPr>
        <p:spPr>
          <a:xfrm>
            <a:off x="5080000" y="2307580"/>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41"/>
                </a:solidFill>
                <a:latin typeface="IBM Plex Sans" pitchFamily="34" charset="0"/>
                <a:ea typeface="IBM Plex Sans" pitchFamily="34" charset="-122"/>
                <a:cs typeface="IBM Plex Sans" pitchFamily="34" charset="-120"/>
              </a:rPr>
              <a:t>superposition</a:t>
            </a:r>
            <a:endParaRPr lang="en-US" sz="1600" dirty="0"/>
          </a:p>
        </p:txBody>
      </p:sp>
      <p:sp>
        <p:nvSpPr>
          <p:cNvPr id="13" name="Text 11"/>
          <p:cNvSpPr/>
          <p:nvPr/>
        </p:nvSpPr>
        <p:spPr>
          <a:xfrm>
            <a:off x="5080000" y="2614910"/>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closed pockets, exclusions written in; Aethically fixed</a:t>
            </a:r>
            <a:endParaRPr lang="en-US" sz="1200" dirty="0"/>
          </a:p>
        </p:txBody>
      </p:sp>
      <p:sp>
        <p:nvSpPr>
          <p:cNvPr id="14" name="Text 12"/>
          <p:cNvSpPr/>
          <p:nvPr/>
        </p:nvSpPr>
        <p:spPr>
          <a:xfrm>
            <a:off x="7674119" y="1836440"/>
            <a:ext cx="920413"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2E6F95"/>
                </a:solidFill>
                <a:latin typeface="IBM Plex Sans" pitchFamily="34" charset="0"/>
                <a:ea typeface="IBM Plex Sans" pitchFamily="34" charset="-122"/>
                <a:cs typeface="IBM Plex Sans" pitchFamily="34" charset="-120"/>
              </a:rPr>
              <a:t>observation</a:t>
            </a:r>
            <a:endParaRPr lang="en-US" sz="1100" dirty="0"/>
          </a:p>
        </p:txBody>
      </p:sp>
      <p:sp>
        <p:nvSpPr>
          <p:cNvPr id="15" name="Text 13"/>
          <p:cNvSpPr/>
          <p:nvPr/>
        </p:nvSpPr>
        <p:spPr>
          <a:xfrm>
            <a:off x="7951470" y="2082800"/>
            <a:ext cx="365760" cy="452090"/>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2E6F95"/>
                </a:solidFill>
                <a:latin typeface="IBM Plex Sans" pitchFamily="34" charset="0"/>
                <a:ea typeface="IBM Plex Sans" pitchFamily="34" charset="-122"/>
                <a:cs typeface="IBM Plex Sans" pitchFamily="34" charset="-120"/>
              </a:rPr>
              <a:t>→</a:t>
            </a:r>
            <a:endParaRPr lang="en-US" sz="2400" dirty="0"/>
          </a:p>
        </p:txBody>
      </p:sp>
      <p:sp>
        <p:nvSpPr>
          <p:cNvPr id="16" name="Text 14"/>
          <p:cNvSpPr/>
          <p:nvPr/>
        </p:nvSpPr>
        <p:spPr>
          <a:xfrm>
            <a:off x="7340600" y="2560290"/>
            <a:ext cx="1587500" cy="718741"/>
          </a:xfrm>
          <a:prstGeom prst="rect">
            <a:avLst/>
          </a:prstGeom>
          <a:noFill/>
          <a:ln/>
        </p:spPr>
        <p:txBody>
          <a:bodyPr wrap="square" lIns="0" tIns="0" rIns="0" bIns="0" rtlCol="0" anchor="t">
            <a:normAutofit/>
          </a:bodyPr>
          <a:lstStyle/>
          <a:p>
            <a:pPr algn="ctr" indent="0" marL="0">
              <a:lnSpc>
                <a:spcPts val="1365"/>
              </a:lnSpc>
              <a:buNone/>
            </a:pPr>
            <a:r>
              <a:rPr lang="en-US" sz="1050" dirty="0">
                <a:solidFill>
                  <a:srgbClr val="4A5568"/>
                </a:solidFill>
                <a:latin typeface="IBM Plex Sans" pitchFamily="34" charset="0"/>
                <a:ea typeface="IBM Plex Sans" pitchFamily="34" charset="-122"/>
                <a:cs typeface="IBM Plex Sans" pitchFamily="34" charset="-120"/>
              </a:rPr>
              <a:t>an index acquires the record: selection of a pocket, a transit between Aethae</a:t>
            </a:r>
            <a:endParaRPr lang="en-US" sz="1050" dirty="0"/>
          </a:p>
        </p:txBody>
      </p:sp>
      <p:sp>
        <p:nvSpPr>
          <p:cNvPr id="17" name="Shape 15"/>
          <p:cNvSpPr/>
          <p:nvPr/>
        </p:nvSpPr>
        <p:spPr>
          <a:xfrm>
            <a:off x="8966200" y="1592560"/>
            <a:ext cx="2413000" cy="1905000"/>
          </a:xfrm>
          <a:prstGeom prst="roundRect">
            <a:avLst>
              <a:gd name="adj" fmla="val 5333"/>
            </a:avLst>
          </a:prstGeom>
          <a:solidFill>
            <a:srgbClr val="1B2A41"/>
          </a:solidFill>
          <a:ln/>
        </p:spPr>
      </p:sp>
      <p:sp>
        <p:nvSpPr>
          <p:cNvPr id="18" name="Text 16"/>
          <p:cNvSpPr/>
          <p:nvPr/>
        </p:nvSpPr>
        <p:spPr>
          <a:xfrm>
            <a:off x="9156700" y="2048520"/>
            <a:ext cx="209296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9D2DC"/>
                </a:solidFill>
                <a:latin typeface="IBM Plex Sans" pitchFamily="34" charset="0"/>
                <a:ea typeface="IBM Plex Sans" pitchFamily="34" charset="-122"/>
                <a:cs typeface="IBM Plex Sans" pitchFamily="34" charset="-120"/>
              </a:rPr>
              <a:t>STATED</a:t>
            </a:r>
            <a:endParaRPr lang="en-US" sz="1100" dirty="0"/>
          </a:p>
        </p:txBody>
      </p:sp>
      <p:sp>
        <p:nvSpPr>
          <p:cNvPr id="19" name="Text 17"/>
          <p:cNvSpPr/>
          <p:nvPr/>
        </p:nvSpPr>
        <p:spPr>
          <a:xfrm>
            <a:off x="9156700" y="2307580"/>
            <a:ext cx="20929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3EC"/>
                </a:solidFill>
                <a:latin typeface="IBM Plex Sans" pitchFamily="34" charset="0"/>
                <a:ea typeface="IBM Plex Sans" pitchFamily="34" charset="-122"/>
                <a:cs typeface="IBM Plex Sans" pitchFamily="34" charset="-120"/>
              </a:rPr>
              <a:t>one value</a:t>
            </a:r>
            <a:endParaRPr lang="en-US" sz="1600" dirty="0"/>
          </a:p>
        </p:txBody>
      </p:sp>
      <p:sp>
        <p:nvSpPr>
          <p:cNvPr id="20" name="Text 18"/>
          <p:cNvSpPr/>
          <p:nvPr/>
        </p:nvSpPr>
        <p:spPr>
          <a:xfrm>
            <a:off x="9156700" y="2614910"/>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IBM Plex Sans" pitchFamily="34" charset="0"/>
                <a:ea typeface="IBM Plex Sans" pitchFamily="34" charset="-122"/>
                <a:cs typeface="IBM Plex Sans" pitchFamily="34" charset="-120"/>
              </a:rPr>
              <a:t>relative to the updated Aethus</a:t>
            </a:r>
            <a:endParaRPr lang="en-US" sz="1200" dirty="0"/>
          </a:p>
        </p:txBody>
      </p:sp>
      <p:sp>
        <p:nvSpPr>
          <p:cNvPr id="21" name="Shape 19"/>
          <p:cNvSpPr/>
          <p:nvPr/>
        </p:nvSpPr>
        <p:spPr>
          <a:xfrm>
            <a:off x="812800" y="3802360"/>
            <a:ext cx="3386634" cy="1188641"/>
          </a:xfrm>
          <a:prstGeom prst="roundRect">
            <a:avLst>
              <a:gd name="adj" fmla="val 6411"/>
            </a:avLst>
          </a:prstGeom>
          <a:solidFill>
            <a:srgbClr val="ECE7DB"/>
          </a:solidFill>
          <a:ln/>
        </p:spPr>
      </p:sp>
      <p:sp>
        <p:nvSpPr>
          <p:cNvPr id="22" name="Text 20"/>
          <p:cNvSpPr/>
          <p:nvPr/>
        </p:nvSpPr>
        <p:spPr>
          <a:xfrm>
            <a:off x="990600" y="3942060"/>
            <a:ext cx="312196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Only disagreeing superpositions ever collapse.</a:t>
            </a:r>
            <a:endParaRPr lang="en-US" sz="1300" dirty="0"/>
          </a:p>
        </p:txBody>
      </p:sp>
      <p:sp>
        <p:nvSpPr>
          <p:cNvPr id="23" name="Text 21"/>
          <p:cNvSpPr/>
          <p:nvPr/>
        </p:nvSpPr>
        <p:spPr>
          <a:xfrm>
            <a:off x="990600" y="4442420"/>
            <a:ext cx="3121965"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Nothing coherent collapses; observers are never in agreeing superposition.</a:t>
            </a:r>
            <a:endParaRPr lang="en-US" sz="1150" dirty="0"/>
          </a:p>
        </p:txBody>
      </p:sp>
      <p:sp>
        <p:nvSpPr>
          <p:cNvPr id="24" name="Shape 22"/>
          <p:cNvSpPr/>
          <p:nvPr/>
        </p:nvSpPr>
        <p:spPr>
          <a:xfrm>
            <a:off x="4402634" y="3802360"/>
            <a:ext cx="3386683" cy="1188641"/>
          </a:xfrm>
          <a:prstGeom prst="roundRect">
            <a:avLst>
              <a:gd name="adj" fmla="val 6411"/>
            </a:avLst>
          </a:prstGeom>
          <a:solidFill>
            <a:srgbClr val="ECE7DB"/>
          </a:solidFill>
          <a:ln/>
        </p:spPr>
      </p:sp>
      <p:sp>
        <p:nvSpPr>
          <p:cNvPr id="25" name="Text 23"/>
          <p:cNvSpPr/>
          <p:nvPr/>
        </p:nvSpPr>
        <p:spPr>
          <a:xfrm>
            <a:off x="4580434" y="3942060"/>
            <a:ext cx="312201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Measurement ≠ observation.</a:t>
            </a:r>
            <a:endParaRPr lang="en-US" sz="1300" dirty="0"/>
          </a:p>
        </p:txBody>
      </p:sp>
      <p:sp>
        <p:nvSpPr>
          <p:cNvPr id="26" name="Text 24"/>
          <p:cNvSpPr/>
          <p:nvPr/>
        </p:nvSpPr>
        <p:spPr>
          <a:xfrm>
            <a:off x="4580434" y="4211290"/>
            <a:ext cx="3122016"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The Sifting Principle: one is governed by accessibility, the other by acquisition.</a:t>
            </a:r>
            <a:endParaRPr lang="en-US" sz="1150" dirty="0"/>
          </a:p>
        </p:txBody>
      </p:sp>
      <p:sp>
        <p:nvSpPr>
          <p:cNvPr id="27" name="Shape 25"/>
          <p:cNvSpPr/>
          <p:nvPr/>
        </p:nvSpPr>
        <p:spPr>
          <a:xfrm>
            <a:off x="7992517" y="3802360"/>
            <a:ext cx="3386683" cy="1188641"/>
          </a:xfrm>
          <a:prstGeom prst="roundRect">
            <a:avLst>
              <a:gd name="adj" fmla="val 6411"/>
            </a:avLst>
          </a:prstGeom>
          <a:solidFill>
            <a:srgbClr val="ECE7DB"/>
          </a:solidFill>
          <a:ln/>
        </p:spPr>
      </p:sp>
      <p:sp>
        <p:nvSpPr>
          <p:cNvPr id="28" name="Text 26"/>
          <p:cNvSpPr/>
          <p:nvPr/>
        </p:nvSpPr>
        <p:spPr>
          <a:xfrm>
            <a:off x="8170317" y="3942060"/>
            <a:ext cx="312201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Tense-free.</a:t>
            </a:r>
            <a:endParaRPr lang="en-US" sz="1300" dirty="0"/>
          </a:p>
        </p:txBody>
      </p:sp>
      <p:sp>
        <p:nvSpPr>
          <p:cNvPr id="29" name="Text 27"/>
          <p:cNvSpPr/>
          <p:nvPr/>
        </p:nvSpPr>
        <p:spPr>
          <a:xfrm>
            <a:off x="8170317" y="4211290"/>
            <a:ext cx="3122016"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A retrieval later reads as a retrieval now; the past is as open as the future.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7D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The same engine runs counterfactuals</a:t>
            </a:r>
            <a:endParaRPr lang="en-US" sz="3400" dirty="0"/>
          </a:p>
        </p:txBody>
      </p:sp>
      <p:sp>
        <p:nvSpPr>
          <p:cNvPr id="3" name="Text 1"/>
          <p:cNvSpPr/>
          <p:nvPr/>
        </p:nvSpPr>
        <p:spPr>
          <a:xfrm>
            <a:off x="812800" y="151636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F95"/>
                </a:solidFill>
                <a:latin typeface="IBM Plex Sans" pitchFamily="34" charset="0"/>
                <a:ea typeface="IBM Plex Sans" pitchFamily="34" charset="-122"/>
                <a:cs typeface="IBM Plex Sans" pitchFamily="34" charset="-120"/>
              </a:rPr>
              <a:t>"IF X WERE THE CASE…"</a:t>
            </a:r>
            <a:endParaRPr lang="en-US" sz="1200" dirty="0"/>
          </a:p>
        </p:txBody>
      </p:sp>
      <p:sp>
        <p:nvSpPr>
          <p:cNvPr id="4" name="Shape 2"/>
          <p:cNvSpPr/>
          <p:nvPr/>
        </p:nvSpPr>
        <p:spPr>
          <a:xfrm>
            <a:off x="812800" y="1831280"/>
            <a:ext cx="3048000" cy="876250"/>
          </a:xfrm>
          <a:prstGeom prst="roundRect">
            <a:avLst>
              <a:gd name="adj" fmla="val 8696"/>
            </a:avLst>
          </a:prstGeom>
          <a:solidFill>
            <a:srgbClr val="FBFAF6"/>
          </a:solidFill>
          <a:ln/>
        </p:spPr>
      </p:sp>
      <p:sp>
        <p:nvSpPr>
          <p:cNvPr id="5" name="Text 3"/>
          <p:cNvSpPr/>
          <p:nvPr/>
        </p:nvSpPr>
        <p:spPr>
          <a:xfrm>
            <a:off x="965200" y="2091581"/>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98A2B"/>
                </a:solidFill>
                <a:latin typeface="IBM Plex Sans" pitchFamily="34" charset="0"/>
                <a:ea typeface="IBM Plex Sans" pitchFamily="34" charset="-122"/>
                <a:cs typeface="IBM Plex Sans" pitchFamily="34" charset="-120"/>
              </a:rPr>
              <a:t>1</a:t>
            </a:r>
            <a:endParaRPr lang="en-US" sz="2000" dirty="0"/>
          </a:p>
        </p:txBody>
      </p:sp>
      <p:sp>
        <p:nvSpPr>
          <p:cNvPr id="6" name="Text 4"/>
          <p:cNvSpPr/>
          <p:nvPr/>
        </p:nvSpPr>
        <p:spPr>
          <a:xfrm>
            <a:off x="1384300" y="1958280"/>
            <a:ext cx="23938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reopen</a:t>
            </a:r>
            <a:endParaRPr lang="en-US" sz="1300" dirty="0"/>
          </a:p>
        </p:txBody>
      </p:sp>
      <p:sp>
        <p:nvSpPr>
          <p:cNvPr id="7" name="Text 5"/>
          <p:cNvSpPr/>
          <p:nvPr/>
        </p:nvSpPr>
        <p:spPr>
          <a:xfrm>
            <a:off x="1384300" y="2189411"/>
            <a:ext cx="2393823"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the target to a blank intermediate, supports cleared</a:t>
            </a:r>
            <a:endParaRPr lang="en-US" sz="1100" dirty="0"/>
          </a:p>
        </p:txBody>
      </p:sp>
      <p:sp>
        <p:nvSpPr>
          <p:cNvPr id="8" name="Text 6"/>
          <p:cNvSpPr/>
          <p:nvPr/>
        </p:nvSpPr>
        <p:spPr>
          <a:xfrm>
            <a:off x="767080" y="2707531"/>
            <a:ext cx="3139440" cy="254000"/>
          </a:xfrm>
          <a:prstGeom prst="rect">
            <a:avLst/>
          </a:prstGeom>
          <a:noFill/>
          <a:ln/>
        </p:spPr>
        <p:txBody>
          <a:bodyPr wrap="square" lIns="0" tIns="0" rIns="0" bIns="0" rtlCol="0" anchor="t">
            <a:normAutofit/>
          </a:bodyPr>
          <a:lstStyle/>
          <a:p>
            <a:pPr algn="ctr" indent="0" marL="0">
              <a:lnSpc>
                <a:spcPts val="1800"/>
              </a:lnSpc>
              <a:buNone/>
            </a:pPr>
            <a:r>
              <a:rPr lang="en-US" sz="1800" dirty="0">
                <a:solidFill>
                  <a:srgbClr val="4A5568"/>
                </a:solidFill>
                <a:latin typeface="IBM Plex Sans" pitchFamily="34" charset="0"/>
                <a:ea typeface="IBM Plex Sans" pitchFamily="34" charset="-122"/>
                <a:cs typeface="IBM Plex Sans" pitchFamily="34" charset="-120"/>
              </a:rPr>
              <a:t>↓</a:t>
            </a:r>
            <a:endParaRPr lang="en-US" sz="1800" dirty="0"/>
          </a:p>
        </p:txBody>
      </p:sp>
      <p:sp>
        <p:nvSpPr>
          <p:cNvPr id="9" name="Shape 7"/>
          <p:cNvSpPr/>
          <p:nvPr/>
        </p:nvSpPr>
        <p:spPr>
          <a:xfrm>
            <a:off x="812800" y="2936131"/>
            <a:ext cx="3048000" cy="680690"/>
          </a:xfrm>
          <a:prstGeom prst="roundRect">
            <a:avLst>
              <a:gd name="adj" fmla="val 11195"/>
            </a:avLst>
          </a:prstGeom>
          <a:solidFill>
            <a:srgbClr val="FBFAF6"/>
          </a:solidFill>
          <a:ln/>
        </p:spPr>
      </p:sp>
      <p:sp>
        <p:nvSpPr>
          <p:cNvPr id="10" name="Text 8"/>
          <p:cNvSpPr/>
          <p:nvPr/>
        </p:nvSpPr>
        <p:spPr>
          <a:xfrm>
            <a:off x="965200" y="3098651"/>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98A2B"/>
                </a:solidFill>
                <a:latin typeface="IBM Plex Sans" pitchFamily="34" charset="0"/>
                <a:ea typeface="IBM Plex Sans" pitchFamily="34" charset="-122"/>
                <a:cs typeface="IBM Plex Sans" pitchFamily="34" charset="-120"/>
              </a:rPr>
              <a:t>2</a:t>
            </a:r>
            <a:endParaRPr lang="en-US" sz="2000" dirty="0"/>
          </a:p>
        </p:txBody>
      </p:sp>
      <p:sp>
        <p:nvSpPr>
          <p:cNvPr id="11" name="Text 9"/>
          <p:cNvSpPr/>
          <p:nvPr/>
        </p:nvSpPr>
        <p:spPr>
          <a:xfrm>
            <a:off x="1384300" y="3063131"/>
            <a:ext cx="14711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restate</a:t>
            </a:r>
            <a:endParaRPr lang="en-US" sz="1300" dirty="0"/>
          </a:p>
        </p:txBody>
      </p:sp>
      <p:sp>
        <p:nvSpPr>
          <p:cNvPr id="12" name="Text 10"/>
          <p:cNvSpPr/>
          <p:nvPr/>
        </p:nvSpPr>
        <p:spPr>
          <a:xfrm>
            <a:off x="1384300" y="3294261"/>
            <a:ext cx="1704439"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the antecedent's value</a:t>
            </a:r>
            <a:endParaRPr lang="en-US" sz="1100" dirty="0"/>
          </a:p>
        </p:txBody>
      </p:sp>
      <p:sp>
        <p:nvSpPr>
          <p:cNvPr id="13" name="Text 11"/>
          <p:cNvSpPr/>
          <p:nvPr/>
        </p:nvSpPr>
        <p:spPr>
          <a:xfrm>
            <a:off x="767080" y="3616821"/>
            <a:ext cx="3139440" cy="254000"/>
          </a:xfrm>
          <a:prstGeom prst="rect">
            <a:avLst/>
          </a:prstGeom>
          <a:noFill/>
          <a:ln/>
        </p:spPr>
        <p:txBody>
          <a:bodyPr wrap="square" lIns="0" tIns="0" rIns="0" bIns="0" rtlCol="0" anchor="t">
            <a:normAutofit/>
          </a:bodyPr>
          <a:lstStyle/>
          <a:p>
            <a:pPr algn="ctr" indent="0" marL="0">
              <a:lnSpc>
                <a:spcPts val="1800"/>
              </a:lnSpc>
              <a:buNone/>
            </a:pPr>
            <a:r>
              <a:rPr lang="en-US" sz="1800" dirty="0">
                <a:solidFill>
                  <a:srgbClr val="4A5568"/>
                </a:solidFill>
                <a:latin typeface="IBM Plex Sans" pitchFamily="34" charset="0"/>
                <a:ea typeface="IBM Plex Sans" pitchFamily="34" charset="-122"/>
                <a:cs typeface="IBM Plex Sans" pitchFamily="34" charset="-120"/>
              </a:rPr>
              <a:t>↓</a:t>
            </a:r>
            <a:endParaRPr lang="en-US" sz="1800" dirty="0"/>
          </a:p>
        </p:txBody>
      </p:sp>
      <p:sp>
        <p:nvSpPr>
          <p:cNvPr id="14" name="Shape 12"/>
          <p:cNvSpPr/>
          <p:nvPr/>
        </p:nvSpPr>
        <p:spPr>
          <a:xfrm>
            <a:off x="812800" y="3845421"/>
            <a:ext cx="3048000" cy="876250"/>
          </a:xfrm>
          <a:prstGeom prst="roundRect">
            <a:avLst>
              <a:gd name="adj" fmla="val 8696"/>
            </a:avLst>
          </a:prstGeom>
          <a:solidFill>
            <a:srgbClr val="FBFAF6"/>
          </a:solidFill>
          <a:ln/>
        </p:spPr>
      </p:sp>
      <p:sp>
        <p:nvSpPr>
          <p:cNvPr id="15" name="Text 13"/>
          <p:cNvSpPr/>
          <p:nvPr/>
        </p:nvSpPr>
        <p:spPr>
          <a:xfrm>
            <a:off x="965200" y="4105721"/>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98A2B"/>
                </a:solidFill>
                <a:latin typeface="IBM Plex Sans" pitchFamily="34" charset="0"/>
                <a:ea typeface="IBM Plex Sans" pitchFamily="34" charset="-122"/>
                <a:cs typeface="IBM Plex Sans" pitchFamily="34" charset="-120"/>
              </a:rPr>
              <a:t>3</a:t>
            </a:r>
            <a:endParaRPr lang="en-US" sz="2000" dirty="0"/>
          </a:p>
        </p:txBody>
      </p:sp>
      <p:sp>
        <p:nvSpPr>
          <p:cNvPr id="16" name="Text 14"/>
          <p:cNvSpPr/>
          <p:nvPr/>
        </p:nvSpPr>
        <p:spPr>
          <a:xfrm>
            <a:off x="1384300" y="3972421"/>
            <a:ext cx="23938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re-prune</a:t>
            </a:r>
            <a:endParaRPr lang="en-US" sz="1300" dirty="0"/>
          </a:p>
        </p:txBody>
      </p:sp>
      <p:sp>
        <p:nvSpPr>
          <p:cNvPr id="17" name="Text 15"/>
          <p:cNvSpPr/>
          <p:nvPr/>
        </p:nvSpPr>
        <p:spPr>
          <a:xfrm>
            <a:off x="1384300" y="4203551"/>
            <a:ext cx="2393823"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surviving pockets = the would-consequences</a:t>
            </a:r>
            <a:endParaRPr lang="en-US" sz="1100" dirty="0"/>
          </a:p>
        </p:txBody>
      </p:sp>
      <p:sp>
        <p:nvSpPr>
          <p:cNvPr id="18" name="Text 16"/>
          <p:cNvSpPr/>
          <p:nvPr/>
        </p:nvSpPr>
        <p:spPr>
          <a:xfrm>
            <a:off x="4216400" y="1579860"/>
            <a:ext cx="9190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AETHUS A</a:t>
            </a:r>
            <a:endParaRPr lang="en-US" sz="1200" dirty="0"/>
          </a:p>
        </p:txBody>
      </p:sp>
      <p:sp>
        <p:nvSpPr>
          <p:cNvPr id="19" name="Text 17"/>
          <p:cNvSpPr/>
          <p:nvPr/>
        </p:nvSpPr>
        <p:spPr>
          <a:xfrm>
            <a:off x="5141764" y="1522710"/>
            <a:ext cx="759073" cy="327620"/>
          </a:xfrm>
          <a:prstGeom prst="roundRect">
            <a:avLst>
              <a:gd name="adj" fmla="val 13568"/>
            </a:avLst>
          </a:prstGeom>
          <a:solidFill>
            <a:srgbClr val="FBFAF6"/>
          </a:solidFill>
          <a:ln w="12700">
            <a:solidFill>
              <a:srgbClr val="1B2A41"/>
            </a:solidFill>
            <a:prstDash val="solid"/>
          </a:ln>
        </p:spPr>
        <p:txBody>
          <a:bodyPr wrap="none" lIns="0" tIns="0" rIns="0" bIns="0" rtlCol="0" anchor="ctr">
            <a:normAutofit/>
          </a:bodyPr>
          <a:lstStyle/>
          <a:p>
            <a:pPr algn="ct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s stated</a:t>
            </a:r>
            <a:endParaRPr lang="en-US" sz="1200" dirty="0"/>
          </a:p>
        </p:txBody>
      </p:sp>
      <p:sp>
        <p:nvSpPr>
          <p:cNvPr id="20" name="Text 18"/>
          <p:cNvSpPr/>
          <p:nvPr/>
        </p:nvSpPr>
        <p:spPr>
          <a:xfrm>
            <a:off x="6002437" y="1522710"/>
            <a:ext cx="910431" cy="327620"/>
          </a:xfrm>
          <a:prstGeom prst="roundRect">
            <a:avLst>
              <a:gd name="adj" fmla="val 13568"/>
            </a:avLst>
          </a:prstGeom>
          <a:solidFill>
            <a:srgbClr val="FBFAF6"/>
          </a:solidFill>
          <a:ln w="12700">
            <a:solidFill>
              <a:srgbClr val="1B2A41"/>
            </a:solidFill>
            <a:prstDash val="solid"/>
          </a:ln>
        </p:spPr>
        <p:txBody>
          <a:bodyPr wrap="none" lIns="0" tIns="0" rIns="0" bIns="0" rtlCol="0" anchor="ctr">
            <a:normAutofit/>
          </a:bodyPr>
          <a:lstStyle/>
          <a:p>
            <a:pPr algn="ct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law: s → y</a:t>
            </a:r>
            <a:endParaRPr lang="en-US" sz="1200" dirty="0"/>
          </a:p>
        </p:txBody>
      </p:sp>
      <p:sp>
        <p:nvSpPr>
          <p:cNvPr id="21" name="Text 19"/>
          <p:cNvSpPr/>
          <p:nvPr/>
        </p:nvSpPr>
        <p:spPr>
          <a:xfrm>
            <a:off x="7014468" y="1522710"/>
            <a:ext cx="1270546" cy="327620"/>
          </a:xfrm>
          <a:prstGeom prst="roundRect">
            <a:avLst>
              <a:gd name="adj" fmla="val 13568"/>
            </a:avLst>
          </a:prstGeom>
          <a:solidFill>
            <a:srgbClr val="FBFAF6"/>
          </a:solidFill>
          <a:ln w="12700">
            <a:solidFill>
              <a:srgbClr val="9E3B2F"/>
            </a:solidFill>
            <a:prstDash val="solid"/>
          </a:ln>
        </p:spPr>
        <p:txBody>
          <a:bodyPr wrap="none" lIns="0" tIns="0" rIns="0" bIns="0" rtlCol="0" anchor="ctr">
            <a:normAutofit/>
          </a:bodyPr>
          <a:lstStyle/>
          <a:p>
            <a:pPr algn="ctr" indent="0" marL="0">
              <a:lnSpc>
                <a:spcPts val="1680"/>
              </a:lnSpc>
              <a:buNone/>
            </a:pPr>
            <a:r>
              <a:rPr lang="en-US" sz="1200" dirty="0">
                <a:solidFill>
                  <a:srgbClr val="9E3B2F"/>
                </a:solidFill>
                <a:latin typeface="IBM Plex Sans" pitchFamily="34" charset="0"/>
                <a:ea typeface="IBM Plex Sans" pitchFamily="34" charset="-122"/>
                <a:cs typeface="IBM Plex Sans" pitchFamily="34" charset="-120"/>
              </a:rPr>
              <a:t>{x, s, ¬z} invalid</a:t>
            </a:r>
            <a:endParaRPr lang="en-US" sz="1200" dirty="0"/>
          </a:p>
        </p:txBody>
      </p:sp>
      <p:sp>
        <p:nvSpPr>
          <p:cNvPr id="22" name="Text 20"/>
          <p:cNvSpPr/>
          <p:nvPr/>
        </p:nvSpPr>
        <p:spPr>
          <a:xfrm>
            <a:off x="8386614" y="1522710"/>
            <a:ext cx="855414" cy="327620"/>
          </a:xfrm>
          <a:prstGeom prst="roundRect">
            <a:avLst>
              <a:gd name="adj" fmla="val 13568"/>
            </a:avLst>
          </a:prstGeom>
          <a:solidFill>
            <a:srgbClr val="FBFAF6"/>
          </a:solidFill>
          <a:ln w="12700">
            <a:solidFill>
              <a:srgbClr val="C98A2B"/>
            </a:solidFill>
            <a:prstDash val="solid"/>
          </a:ln>
        </p:spPr>
        <p:txBody>
          <a:bodyPr wrap="none" lIns="0" tIns="0" rIns="0" bIns="0" rtlCol="0" anchor="ctr">
            <a:normAutofit/>
          </a:bodyPr>
          <a:lstStyle/>
          <a:p>
            <a:pPr algn="ctr" indent="0" marL="0">
              <a:lnSpc>
                <a:spcPts val="1680"/>
              </a:lnSpc>
              <a:buNone/>
            </a:pPr>
            <a:r>
              <a:rPr lang="en-US" sz="1200" dirty="0">
                <a:solidFill>
                  <a:srgbClr val="C98A2B"/>
                </a:solidFill>
                <a:latin typeface="IBM Plex Sans" pitchFamily="34" charset="0"/>
                <a:ea typeface="IBM Plex Sans" pitchFamily="34" charset="-122"/>
                <a:cs typeface="IBM Plex Sans" pitchFamily="34" charset="-120"/>
              </a:rPr>
              <a:t>x, z blank</a:t>
            </a:r>
            <a:endParaRPr lang="en-US" sz="1200" dirty="0"/>
          </a:p>
        </p:txBody>
      </p:sp>
      <p:sp>
        <p:nvSpPr>
          <p:cNvPr id="23" name="Shape 21"/>
          <p:cNvSpPr/>
          <p:nvPr/>
        </p:nvSpPr>
        <p:spPr>
          <a:xfrm>
            <a:off x="4216400" y="1970980"/>
            <a:ext cx="7162800" cy="901650"/>
          </a:xfrm>
          <a:prstGeom prst="roundRect">
            <a:avLst>
              <a:gd name="adj" fmla="val 8451"/>
            </a:avLst>
          </a:prstGeom>
          <a:solidFill>
            <a:srgbClr val="FBFAF6"/>
          </a:solidFill>
          <a:ln/>
        </p:spPr>
      </p:sp>
      <p:sp>
        <p:nvSpPr>
          <p:cNvPr id="24" name="Text 22"/>
          <p:cNvSpPr/>
          <p:nvPr/>
        </p:nvSpPr>
        <p:spPr>
          <a:xfrm>
            <a:off x="4368800" y="2097980"/>
            <a:ext cx="706374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perturb by x</a:t>
            </a:r>
            <a:endParaRPr lang="en-US" sz="1300" dirty="0"/>
          </a:p>
        </p:txBody>
      </p:sp>
      <p:sp>
        <p:nvSpPr>
          <p:cNvPr id="25" name="Text 23"/>
          <p:cNvSpPr/>
          <p:nvPr/>
        </p:nvSpPr>
        <p:spPr>
          <a:xfrm>
            <a:off x="4368800" y="2477691"/>
            <a:ext cx="218246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s rests on nothing cleared → kept</a:t>
            </a:r>
            <a:endParaRPr lang="en-US" sz="1100" dirty="0"/>
          </a:p>
        </p:txBody>
      </p:sp>
      <p:sp>
        <p:nvSpPr>
          <p:cNvPr id="26" name="Text 24"/>
          <p:cNvSpPr/>
          <p:nvPr/>
        </p:nvSpPr>
        <p:spPr>
          <a:xfrm>
            <a:off x="6551265" y="245100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27" name="Text 25"/>
          <p:cNvSpPr/>
          <p:nvPr/>
        </p:nvSpPr>
        <p:spPr>
          <a:xfrm>
            <a:off x="6817965" y="2405311"/>
            <a:ext cx="882799" cy="340320"/>
          </a:xfrm>
          <a:prstGeom prst="roundRect">
            <a:avLst>
              <a:gd name="adj" fmla="val 14927"/>
            </a:avLst>
          </a:prstGeom>
          <a:solidFill>
            <a:srgbClr val="2E6F95"/>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(x, s, y, z)</a:t>
            </a:r>
            <a:endParaRPr lang="en-US" sz="1200" dirty="0"/>
          </a:p>
        </p:txBody>
      </p:sp>
      <p:sp>
        <p:nvSpPr>
          <p:cNvPr id="28" name="Text 26"/>
          <p:cNvSpPr/>
          <p:nvPr/>
        </p:nvSpPr>
        <p:spPr>
          <a:xfrm>
            <a:off x="7789664" y="245100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29" name="Text 27"/>
          <p:cNvSpPr/>
          <p:nvPr/>
        </p:nvSpPr>
        <p:spPr>
          <a:xfrm>
            <a:off x="8056364" y="2459881"/>
            <a:ext cx="171801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E6F95"/>
                </a:solidFill>
                <a:latin typeface="IBM Plex Sans" pitchFamily="34" charset="0"/>
                <a:ea typeface="IBM Plex Sans" pitchFamily="34" charset="-122"/>
                <a:cs typeface="IBM Plex Sans" pitchFamily="34" charset="-120"/>
              </a:rPr>
              <a:t>X ⊢~ y  and  X ⊢~ z</a:t>
            </a:r>
            <a:endParaRPr lang="en-US" sz="1300" dirty="0"/>
          </a:p>
        </p:txBody>
      </p:sp>
      <p:sp>
        <p:nvSpPr>
          <p:cNvPr id="30" name="Shape 28"/>
          <p:cNvSpPr/>
          <p:nvPr/>
        </p:nvSpPr>
        <p:spPr>
          <a:xfrm>
            <a:off x="4216400" y="2986931"/>
            <a:ext cx="7162800" cy="1208980"/>
          </a:xfrm>
          <a:prstGeom prst="roundRect">
            <a:avLst>
              <a:gd name="adj" fmla="val 6303"/>
            </a:avLst>
          </a:prstGeom>
          <a:solidFill>
            <a:srgbClr val="FBFAF6"/>
          </a:solidFill>
          <a:ln/>
        </p:spPr>
      </p:sp>
      <p:sp>
        <p:nvSpPr>
          <p:cNvPr id="31" name="Text 29"/>
          <p:cNvSpPr/>
          <p:nvPr/>
        </p:nvSpPr>
        <p:spPr>
          <a:xfrm>
            <a:off x="4368800" y="3113931"/>
            <a:ext cx="706374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IBM Plex Sans" pitchFamily="34" charset="0"/>
                <a:ea typeface="IBM Plex Sans" pitchFamily="34" charset="-122"/>
                <a:cs typeface="IBM Plex Sans" pitchFamily="34" charset="-120"/>
              </a:rPr>
              <a:t>perturb by x ∧ y</a:t>
            </a:r>
            <a:endParaRPr lang="en-US" sz="1300" dirty="0"/>
          </a:p>
        </p:txBody>
      </p:sp>
      <p:sp>
        <p:nvSpPr>
          <p:cNvPr id="32" name="Text 30"/>
          <p:cNvSpPr/>
          <p:nvPr/>
        </p:nvSpPr>
        <p:spPr>
          <a:xfrm>
            <a:off x="4368800" y="3493641"/>
            <a:ext cx="2497088"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y's support s is cleared → not restored</a:t>
            </a:r>
            <a:endParaRPr lang="en-US" sz="1100" dirty="0"/>
          </a:p>
        </p:txBody>
      </p:sp>
      <p:sp>
        <p:nvSpPr>
          <p:cNvPr id="33" name="Text 31"/>
          <p:cNvSpPr/>
          <p:nvPr/>
        </p:nvSpPr>
        <p:spPr>
          <a:xfrm>
            <a:off x="6865888" y="346695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34" name="Text 32"/>
          <p:cNvSpPr/>
          <p:nvPr/>
        </p:nvSpPr>
        <p:spPr>
          <a:xfrm>
            <a:off x="7132588" y="3421261"/>
            <a:ext cx="1065709" cy="340320"/>
          </a:xfrm>
          <a:prstGeom prst="roundRect">
            <a:avLst>
              <a:gd name="adj" fmla="val 14927"/>
            </a:avLst>
          </a:prstGeom>
          <a:solidFill>
            <a:srgbClr val="C98A2B"/>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IBM Plex Sans" pitchFamily="34" charset="0"/>
                <a:ea typeface="IBM Plex Sans" pitchFamily="34" charset="-122"/>
                <a:cs typeface="IBM Plex Sans" pitchFamily="34" charset="-120"/>
              </a:rPr>
              <a:t>(x, ¬s, y, ¬z)</a:t>
            </a:r>
            <a:endParaRPr lang="en-US" sz="1200" dirty="0"/>
          </a:p>
        </p:txBody>
      </p:sp>
      <p:sp>
        <p:nvSpPr>
          <p:cNvPr id="35" name="Text 33"/>
          <p:cNvSpPr/>
          <p:nvPr/>
        </p:nvSpPr>
        <p:spPr>
          <a:xfrm>
            <a:off x="8287196" y="3421261"/>
            <a:ext cx="974279" cy="340320"/>
          </a:xfrm>
          <a:prstGeom prst="roundRect">
            <a:avLst>
              <a:gd name="adj" fmla="val 14927"/>
            </a:avLst>
          </a:prstGeom>
          <a:solidFill>
            <a:srgbClr val="2E6F95"/>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(x, ¬s, y, z)</a:t>
            </a:r>
            <a:endParaRPr lang="en-US" sz="1200" dirty="0"/>
          </a:p>
        </p:txBody>
      </p:sp>
      <p:sp>
        <p:nvSpPr>
          <p:cNvPr id="36" name="Text 34"/>
          <p:cNvSpPr/>
          <p:nvPr/>
        </p:nvSpPr>
        <p:spPr>
          <a:xfrm>
            <a:off x="9350375" y="3421261"/>
            <a:ext cx="882799" cy="340320"/>
          </a:xfrm>
          <a:prstGeom prst="roundRect">
            <a:avLst>
              <a:gd name="adj" fmla="val 14927"/>
            </a:avLst>
          </a:prstGeom>
          <a:solidFill>
            <a:srgbClr val="2E6F95"/>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(x, s, y, z)</a:t>
            </a:r>
            <a:endParaRPr lang="en-US" sz="1200" dirty="0"/>
          </a:p>
        </p:txBody>
      </p:sp>
      <p:sp>
        <p:nvSpPr>
          <p:cNvPr id="37" name="Text 35"/>
          <p:cNvSpPr/>
          <p:nvPr/>
        </p:nvSpPr>
        <p:spPr>
          <a:xfrm>
            <a:off x="4368800" y="3837781"/>
            <a:ext cx="706374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98A2B"/>
                </a:solidFill>
                <a:latin typeface="IBM Plex Sans" pitchFamily="34" charset="0"/>
                <a:ea typeface="IBM Plex Sans" pitchFamily="34" charset="-122"/>
                <a:cs typeface="IBM Plex Sans" pitchFamily="34" charset="-120"/>
              </a:rPr>
              <a:t>¬z survives:  X ∧ y ⊬~ z</a:t>
            </a:r>
            <a:endParaRPr lang="en-US" sz="1300" dirty="0"/>
          </a:p>
        </p:txBody>
      </p:sp>
      <p:sp>
        <p:nvSpPr>
          <p:cNvPr id="38" name="Shape 36"/>
          <p:cNvSpPr/>
          <p:nvPr/>
        </p:nvSpPr>
        <p:spPr>
          <a:xfrm>
            <a:off x="4216400" y="4310211"/>
            <a:ext cx="7162800" cy="1132780"/>
          </a:xfrm>
          <a:prstGeom prst="roundRect">
            <a:avLst>
              <a:gd name="adj" fmla="val 6727"/>
            </a:avLst>
          </a:prstGeom>
          <a:solidFill>
            <a:srgbClr val="1B2A41"/>
          </a:solidFill>
          <a:ln/>
        </p:spPr>
      </p:sp>
      <p:sp>
        <p:nvSpPr>
          <p:cNvPr id="39" name="Text 37"/>
          <p:cNvSpPr/>
          <p:nvPr/>
        </p:nvSpPr>
        <p:spPr>
          <a:xfrm>
            <a:off x="4381500" y="4437211"/>
            <a:ext cx="703757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Cautious Monotony fails → not preferential → not Lewis, not Stalnaker, no smooth similarity ordering.</a:t>
            </a:r>
            <a:endParaRPr lang="en-US" sz="1300" dirty="0"/>
          </a:p>
        </p:txBody>
      </p:sp>
      <p:sp>
        <p:nvSpPr>
          <p:cNvPr id="40" name="Text 38"/>
          <p:cNvSpPr/>
          <p:nvPr/>
        </p:nvSpPr>
        <p:spPr>
          <a:xfrm>
            <a:off x="4381500" y="4924871"/>
            <a:ext cx="7037578"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9D2DC"/>
                </a:solidFill>
                <a:latin typeface="IBM Plex Sans" pitchFamily="34" charset="0"/>
                <a:ea typeface="IBM Plex Sans" pitchFamily="34" charset="-122"/>
                <a:cs typeface="IBM Plex Sans" pitchFamily="34" charset="-120"/>
              </a:rPr>
              <a:t>Machine-checked on the witness. The intermediate is the second postulate's blank; the pockets are what closure leaves.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B2A41"/>
                </a:solidFill>
                <a:latin typeface="Source Serif 4" pitchFamily="18" charset="0"/>
                <a:ea typeface="Source Serif 4" pitchFamily="18" charset="-122"/>
                <a:cs typeface="Source Serif 4" pitchFamily="18" charset="-120"/>
              </a:rPr>
              <a:t>Everything load-bearing, on one ledger</a:t>
            </a:r>
            <a:endParaRPr lang="en-US" sz="3400" dirty="0"/>
          </a:p>
        </p:txBody>
      </p:sp>
      <p:sp>
        <p:nvSpPr>
          <p:cNvPr id="3" name="Shape 1"/>
          <p:cNvSpPr/>
          <p:nvPr/>
        </p:nvSpPr>
        <p:spPr>
          <a:xfrm>
            <a:off x="819150" y="1497310"/>
            <a:ext cx="10553700" cy="3651200"/>
          </a:xfrm>
          <a:prstGeom prst="roundRect">
            <a:avLst>
              <a:gd name="adj" fmla="val 2261"/>
            </a:avLst>
          </a:prstGeom>
          <a:solidFill>
            <a:srgbClr val="FBFAF6"/>
          </a:solidFill>
          <a:ln w="12700">
            <a:solidFill>
              <a:srgbClr val="D8D1C2"/>
            </a:solidFill>
            <a:prstDash val="solid"/>
          </a:ln>
        </p:spPr>
      </p:sp>
      <p:sp>
        <p:nvSpPr>
          <p:cNvPr id="4" name="Text 2"/>
          <p:cNvSpPr/>
          <p:nvPr/>
        </p:nvSpPr>
        <p:spPr>
          <a:xfrm>
            <a:off x="825500" y="1503660"/>
            <a:ext cx="2794000" cy="339080"/>
          </a:xfrm>
          <a:custGeom>
            <a:avLst/>
            <a:gdLst/>
            <a:ahLst/>
            <a:cxnLst/>
            <a:rect l="l" t="t" r="r" b="b"/>
            <a:pathLst>
              <a:path w="2794000" h="339080">
                <a:moveTo>
                  <a:pt x="0" y="76200"/>
                </a:moveTo>
                <a:arcTo hR="76200" wR="76200" stAng="10800000" swAng="5400000"/>
                <a:lnTo>
                  <a:pt x="2794000" y="0"/>
                </a:lnTo>
                <a:lnTo>
                  <a:pt x="2794000" y="339080"/>
                </a:lnTo>
                <a:lnTo>
                  <a:pt x="0" y="339080"/>
                </a:lnTo>
                <a:close/>
              </a:path>
            </a:pathLst>
          </a:custGeom>
          <a:solidFill>
            <a:srgbClr val="ECE7DB"/>
          </a:solidFill>
          <a:ln/>
        </p:spPr>
        <p:txBody>
          <a:bodyPr wrap="square" lIns="139700" tIns="76200" rIns="64262" bIns="50800" rtlCol="0" anchor="t">
            <a:normAutofit/>
          </a:bodyPr>
          <a:lstStyle/>
          <a:p>
            <a:pPr algn="l" indent="0" marL="0">
              <a:lnSpc>
                <a:spcPts val="1470"/>
              </a:lnSpc>
              <a:buNone/>
            </a:pPr>
            <a:r>
              <a:rPr lang="en-US" sz="1050" b="1" spc="100" kern="0" dirty="0">
                <a:solidFill>
                  <a:srgbClr val="4A5568"/>
                </a:solidFill>
                <a:latin typeface="IBM Plex Sans" pitchFamily="34" charset="0"/>
                <a:ea typeface="IBM Plex Sans" pitchFamily="34" charset="-122"/>
                <a:cs typeface="IBM Plex Sans" pitchFamily="34" charset="-120"/>
              </a:rPr>
              <a:t>POSIT</a:t>
            </a:r>
            <a:endParaRPr lang="en-US" sz="1050" dirty="0"/>
          </a:p>
        </p:txBody>
      </p:sp>
      <p:sp>
        <p:nvSpPr>
          <p:cNvPr id="5" name="Text 3"/>
          <p:cNvSpPr/>
          <p:nvPr/>
        </p:nvSpPr>
        <p:spPr>
          <a:xfrm>
            <a:off x="3619500" y="1503660"/>
            <a:ext cx="1905000" cy="339080"/>
          </a:xfrm>
          <a:prstGeom prst="rect">
            <a:avLst/>
          </a:prstGeom>
          <a:solidFill>
            <a:srgbClr val="ECE7DB"/>
          </a:solidFill>
          <a:ln/>
        </p:spPr>
        <p:txBody>
          <a:bodyPr wrap="square" lIns="139700" tIns="76200" rIns="88900" bIns="50800" rtlCol="0" anchor="t">
            <a:normAutofit/>
          </a:bodyPr>
          <a:lstStyle/>
          <a:p>
            <a:pPr algn="l" indent="0" marL="0">
              <a:lnSpc>
                <a:spcPts val="1470"/>
              </a:lnSpc>
              <a:buNone/>
            </a:pPr>
            <a:r>
              <a:rPr lang="en-US" sz="1050" b="1" spc="100" kern="0" dirty="0">
                <a:solidFill>
                  <a:srgbClr val="4A5568"/>
                </a:solidFill>
                <a:latin typeface="IBM Plex Sans" pitchFamily="34" charset="0"/>
                <a:ea typeface="IBM Plex Sans" pitchFamily="34" charset="-122"/>
                <a:cs typeface="IBM Plex Sans" pitchFamily="34" charset="-120"/>
              </a:rPr>
              <a:t>GRADE</a:t>
            </a:r>
            <a:endParaRPr lang="en-US" sz="1050" dirty="0"/>
          </a:p>
        </p:txBody>
      </p:sp>
      <p:sp>
        <p:nvSpPr>
          <p:cNvPr id="6" name="Text 4"/>
          <p:cNvSpPr/>
          <p:nvPr/>
        </p:nvSpPr>
        <p:spPr>
          <a:xfrm>
            <a:off x="5524500" y="1503660"/>
            <a:ext cx="5842000" cy="339080"/>
          </a:xfrm>
          <a:custGeom>
            <a:avLst/>
            <a:gdLst/>
            <a:ahLst/>
            <a:cxnLst/>
            <a:rect l="l" t="t" r="r" b="b"/>
            <a:pathLst>
              <a:path w="5842000" h="339080">
                <a:moveTo>
                  <a:pt x="5765800" y="0"/>
                </a:moveTo>
                <a:arcTo hR="76200" wR="76200" stAng="16200000" swAng="5400000"/>
                <a:lnTo>
                  <a:pt x="5842000" y="339080"/>
                </a:lnTo>
                <a:lnTo>
                  <a:pt x="0" y="339080"/>
                </a:lnTo>
                <a:lnTo>
                  <a:pt x="0" y="0"/>
                </a:lnTo>
                <a:close/>
              </a:path>
            </a:pathLst>
          </a:custGeom>
          <a:solidFill>
            <a:srgbClr val="ECE7DB"/>
          </a:solidFill>
          <a:ln/>
        </p:spPr>
        <p:txBody>
          <a:bodyPr wrap="square" lIns="139700" tIns="76200" rIns="0" bIns="50800" rtlCol="0" anchor="t">
            <a:normAutofit/>
          </a:bodyPr>
          <a:lstStyle/>
          <a:p>
            <a:pPr algn="l" indent="0" marL="0">
              <a:lnSpc>
                <a:spcPts val="1470"/>
              </a:lnSpc>
              <a:buNone/>
            </a:pPr>
            <a:r>
              <a:rPr lang="en-US" sz="1050" b="1" spc="100" kern="0" dirty="0">
                <a:solidFill>
                  <a:srgbClr val="4A5568"/>
                </a:solidFill>
                <a:latin typeface="IBM Plex Sans" pitchFamily="34" charset="0"/>
                <a:ea typeface="IBM Plex Sans" pitchFamily="34" charset="-122"/>
                <a:cs typeface="IBM Plex Sans" pitchFamily="34" charset="-120"/>
              </a:rPr>
              <a:t>BUYS</a:t>
            </a:r>
            <a:endParaRPr lang="en-US" sz="1050" dirty="0"/>
          </a:p>
        </p:txBody>
      </p:sp>
      <p:sp>
        <p:nvSpPr>
          <p:cNvPr id="7" name="Shape 5"/>
          <p:cNvSpPr/>
          <p:nvPr/>
        </p:nvSpPr>
        <p:spPr>
          <a:xfrm>
            <a:off x="825500" y="1845915"/>
            <a:ext cx="2794000" cy="0"/>
          </a:xfrm>
          <a:prstGeom prst="line">
            <a:avLst/>
          </a:prstGeom>
          <a:noFill/>
          <a:ln w="6350">
            <a:solidFill>
              <a:srgbClr val="E6E0D3"/>
            </a:solidFill>
            <a:prstDash val="solid"/>
          </a:ln>
        </p:spPr>
      </p:sp>
      <p:sp>
        <p:nvSpPr>
          <p:cNvPr id="8" name="Text 6"/>
          <p:cNvSpPr/>
          <p:nvPr/>
        </p:nvSpPr>
        <p:spPr>
          <a:xfrm>
            <a:off x="965200" y="1918940"/>
            <a:ext cx="259003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1  the index</a:t>
            </a:r>
            <a:endParaRPr lang="en-US" sz="1250" dirty="0"/>
          </a:p>
        </p:txBody>
      </p:sp>
      <p:sp>
        <p:nvSpPr>
          <p:cNvPr id="9" name="Shape 7"/>
          <p:cNvSpPr/>
          <p:nvPr/>
        </p:nvSpPr>
        <p:spPr>
          <a:xfrm>
            <a:off x="3619500" y="1845915"/>
            <a:ext cx="1905000" cy="0"/>
          </a:xfrm>
          <a:prstGeom prst="line">
            <a:avLst/>
          </a:prstGeom>
          <a:noFill/>
          <a:ln w="6350">
            <a:solidFill>
              <a:srgbClr val="E6E0D3"/>
            </a:solidFill>
            <a:prstDash val="solid"/>
          </a:ln>
        </p:spPr>
      </p:sp>
      <p:sp>
        <p:nvSpPr>
          <p:cNvPr id="10" name="Text 8"/>
          <p:cNvSpPr/>
          <p:nvPr/>
        </p:nvSpPr>
        <p:spPr>
          <a:xfrm>
            <a:off x="3759200" y="1906240"/>
            <a:ext cx="1625600" cy="237480"/>
          </a:xfrm>
          <a:prstGeom prst="roundRect">
            <a:avLst>
              <a:gd name="adj" fmla="val 16043"/>
            </a:avLst>
          </a:prstGeom>
          <a:solidFill>
            <a:srgbClr val="C98A2B"/>
          </a:solidFill>
          <a:ln/>
        </p:spPr>
        <p:txBody>
          <a:bodyPr wrap="square" lIns="77741" tIns="14241" rIns="26941" bIns="0" rtlCol="0" anchor="t">
            <a:normAutofit/>
          </a:bodyPr>
          <a:lstStyle/>
          <a:p>
            <a:pPr algn="l" indent="0" marL="0">
              <a:lnSpc>
                <a:spcPts val="1470"/>
              </a:lnSpc>
              <a:buNone/>
            </a:pPr>
            <a:r>
              <a:rPr lang="en-US" sz="1050" b="1" dirty="0">
                <a:solidFill>
                  <a:srgbClr val="1B2A41"/>
                </a:solidFill>
                <a:latin typeface="IBM Plex Sans" pitchFamily="34" charset="0"/>
                <a:ea typeface="IBM Plex Sans" pitchFamily="34" charset="-122"/>
                <a:cs typeface="IBM Plex Sans" pitchFamily="34" charset="-120"/>
              </a:rPr>
              <a:t>posited</a:t>
            </a:r>
            <a:endParaRPr lang="en-US" sz="1050" dirty="0"/>
          </a:p>
        </p:txBody>
      </p:sp>
      <p:sp>
        <p:nvSpPr>
          <p:cNvPr id="11" name="Shape 9"/>
          <p:cNvSpPr/>
          <p:nvPr/>
        </p:nvSpPr>
        <p:spPr>
          <a:xfrm>
            <a:off x="5524500" y="1845915"/>
            <a:ext cx="5842000" cy="0"/>
          </a:xfrm>
          <a:prstGeom prst="line">
            <a:avLst/>
          </a:prstGeom>
          <a:noFill/>
          <a:ln w="6350">
            <a:solidFill>
              <a:srgbClr val="E6E0D3"/>
            </a:solidFill>
            <a:prstDash val="solid"/>
          </a:ln>
        </p:spPr>
      </p:sp>
      <p:sp>
        <p:nvSpPr>
          <p:cNvPr id="12" name="Text 10"/>
          <p:cNvSpPr/>
          <p:nvPr/>
        </p:nvSpPr>
        <p:spPr>
          <a:xfrm>
            <a:off x="5664200" y="1918940"/>
            <a:ext cx="5729478" cy="2476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two-place determinacy; the paradox set dissolved</a:t>
            </a:r>
            <a:endParaRPr lang="en-US" sz="1200" dirty="0"/>
          </a:p>
        </p:txBody>
      </p:sp>
      <p:sp>
        <p:nvSpPr>
          <p:cNvPr id="13" name="Shape 11"/>
          <p:cNvSpPr/>
          <p:nvPr/>
        </p:nvSpPr>
        <p:spPr>
          <a:xfrm>
            <a:off x="825500" y="2214215"/>
            <a:ext cx="2794000" cy="0"/>
          </a:xfrm>
          <a:prstGeom prst="line">
            <a:avLst/>
          </a:prstGeom>
          <a:noFill/>
          <a:ln w="6350">
            <a:solidFill>
              <a:srgbClr val="E6E0D3"/>
            </a:solidFill>
            <a:prstDash val="solid"/>
          </a:ln>
        </p:spPr>
      </p:sp>
      <p:sp>
        <p:nvSpPr>
          <p:cNvPr id="14" name="Text 12"/>
          <p:cNvSpPr/>
          <p:nvPr/>
        </p:nvSpPr>
        <p:spPr>
          <a:xfrm>
            <a:off x="965200" y="2287240"/>
            <a:ext cx="259003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2  the constructive blank</a:t>
            </a:r>
            <a:endParaRPr lang="en-US" sz="1250" dirty="0"/>
          </a:p>
        </p:txBody>
      </p:sp>
      <p:sp>
        <p:nvSpPr>
          <p:cNvPr id="15" name="Shape 13"/>
          <p:cNvSpPr/>
          <p:nvPr/>
        </p:nvSpPr>
        <p:spPr>
          <a:xfrm>
            <a:off x="3619500" y="2214215"/>
            <a:ext cx="1905000" cy="0"/>
          </a:xfrm>
          <a:prstGeom prst="line">
            <a:avLst/>
          </a:prstGeom>
          <a:noFill/>
          <a:ln w="6350">
            <a:solidFill>
              <a:srgbClr val="E6E0D3"/>
            </a:solidFill>
            <a:prstDash val="solid"/>
          </a:ln>
        </p:spPr>
      </p:sp>
      <p:sp>
        <p:nvSpPr>
          <p:cNvPr id="16" name="Text 14"/>
          <p:cNvSpPr/>
          <p:nvPr/>
        </p:nvSpPr>
        <p:spPr>
          <a:xfrm>
            <a:off x="3759200" y="2274540"/>
            <a:ext cx="1625600" cy="237480"/>
          </a:xfrm>
          <a:prstGeom prst="roundRect">
            <a:avLst>
              <a:gd name="adj" fmla="val 16043"/>
            </a:avLst>
          </a:prstGeom>
          <a:solidFill>
            <a:srgbClr val="C98A2B"/>
          </a:solidFill>
          <a:ln/>
        </p:spPr>
        <p:txBody>
          <a:bodyPr wrap="square" lIns="77741" tIns="14241" rIns="26941" bIns="0" rtlCol="0" anchor="t">
            <a:normAutofit/>
          </a:bodyPr>
          <a:lstStyle/>
          <a:p>
            <a:pPr algn="l" indent="0" marL="0">
              <a:lnSpc>
                <a:spcPts val="1470"/>
              </a:lnSpc>
              <a:buNone/>
            </a:pPr>
            <a:r>
              <a:rPr lang="en-US" sz="1050" b="1" dirty="0">
                <a:solidFill>
                  <a:srgbClr val="1B2A41"/>
                </a:solidFill>
                <a:latin typeface="IBM Plex Sans" pitchFamily="34" charset="0"/>
                <a:ea typeface="IBM Plex Sans" pitchFamily="34" charset="-122"/>
                <a:cs typeface="IBM Plex Sans" pitchFamily="34" charset="-120"/>
              </a:rPr>
              <a:t>posited</a:t>
            </a:r>
            <a:endParaRPr lang="en-US" sz="1050" dirty="0"/>
          </a:p>
        </p:txBody>
      </p:sp>
      <p:sp>
        <p:nvSpPr>
          <p:cNvPr id="17" name="Shape 15"/>
          <p:cNvSpPr/>
          <p:nvPr/>
        </p:nvSpPr>
        <p:spPr>
          <a:xfrm>
            <a:off x="5524500" y="2214215"/>
            <a:ext cx="5842000" cy="0"/>
          </a:xfrm>
          <a:prstGeom prst="line">
            <a:avLst/>
          </a:prstGeom>
          <a:noFill/>
          <a:ln w="6350">
            <a:solidFill>
              <a:srgbClr val="E6E0D3"/>
            </a:solidFill>
            <a:prstDash val="solid"/>
          </a:ln>
        </p:spPr>
      </p:sp>
      <p:sp>
        <p:nvSpPr>
          <p:cNvPr id="18" name="Text 16"/>
          <p:cNvSpPr/>
          <p:nvPr/>
        </p:nvSpPr>
        <p:spPr>
          <a:xfrm>
            <a:off x="5664200" y="2287240"/>
            <a:ext cx="5729478" cy="2476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open past; the whole counterfactual semantics</a:t>
            </a:r>
            <a:endParaRPr lang="en-US" sz="1200" dirty="0"/>
          </a:p>
        </p:txBody>
      </p:sp>
      <p:sp>
        <p:nvSpPr>
          <p:cNvPr id="19" name="Shape 17"/>
          <p:cNvSpPr/>
          <p:nvPr/>
        </p:nvSpPr>
        <p:spPr>
          <a:xfrm>
            <a:off x="825500" y="2582515"/>
            <a:ext cx="2794000" cy="0"/>
          </a:xfrm>
          <a:prstGeom prst="line">
            <a:avLst/>
          </a:prstGeom>
          <a:noFill/>
          <a:ln w="6350">
            <a:solidFill>
              <a:srgbClr val="E6E0D3"/>
            </a:solidFill>
            <a:prstDash val="solid"/>
          </a:ln>
        </p:spPr>
      </p:sp>
      <p:sp>
        <p:nvSpPr>
          <p:cNvPr id="20" name="Text 18"/>
          <p:cNvSpPr/>
          <p:nvPr/>
        </p:nvSpPr>
        <p:spPr>
          <a:xfrm>
            <a:off x="965200" y="2655540"/>
            <a:ext cx="259003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3  primitive jointness of "or"</a:t>
            </a:r>
            <a:endParaRPr lang="en-US" sz="1250" dirty="0"/>
          </a:p>
        </p:txBody>
      </p:sp>
      <p:sp>
        <p:nvSpPr>
          <p:cNvPr id="21" name="Shape 19"/>
          <p:cNvSpPr/>
          <p:nvPr/>
        </p:nvSpPr>
        <p:spPr>
          <a:xfrm>
            <a:off x="3619500" y="2582515"/>
            <a:ext cx="1905000" cy="0"/>
          </a:xfrm>
          <a:prstGeom prst="line">
            <a:avLst/>
          </a:prstGeom>
          <a:noFill/>
          <a:ln w="6350">
            <a:solidFill>
              <a:srgbClr val="E6E0D3"/>
            </a:solidFill>
            <a:prstDash val="solid"/>
          </a:ln>
        </p:spPr>
      </p:sp>
      <p:sp>
        <p:nvSpPr>
          <p:cNvPr id="22" name="Text 20"/>
          <p:cNvSpPr/>
          <p:nvPr/>
        </p:nvSpPr>
        <p:spPr>
          <a:xfrm>
            <a:off x="3759200" y="2642840"/>
            <a:ext cx="1625600" cy="237480"/>
          </a:xfrm>
          <a:prstGeom prst="roundRect">
            <a:avLst>
              <a:gd name="adj" fmla="val 16043"/>
            </a:avLst>
          </a:prstGeom>
          <a:solidFill>
            <a:srgbClr val="C98A2B"/>
          </a:solidFill>
          <a:ln/>
        </p:spPr>
        <p:txBody>
          <a:bodyPr wrap="none" lIns="0" tIns="0" rIns="0" bIns="0" rtlCol="0" anchor="ctr">
            <a:normAutofit/>
          </a:bodyPr>
          <a:lstStyle/>
          <a:p>
            <a:pPr algn="ctr" indent="0" marL="0">
              <a:lnSpc>
                <a:spcPts val="1470"/>
              </a:lnSpc>
              <a:buNone/>
            </a:pPr>
            <a:r>
              <a:rPr lang="en-US" sz="1050" b="1" dirty="0">
                <a:solidFill>
                  <a:srgbClr val="1B2A41"/>
                </a:solidFill>
                <a:latin typeface="IBM Plex Sans" pitchFamily="34" charset="0"/>
                <a:ea typeface="IBM Plex Sans" pitchFamily="34" charset="-122"/>
                <a:cs typeface="IBM Plex Sans" pitchFamily="34" charset="-120"/>
              </a:rPr>
              <a:t>posited, from the cases</a:t>
            </a:r>
            <a:endParaRPr lang="en-US" sz="1050" dirty="0"/>
          </a:p>
        </p:txBody>
      </p:sp>
      <p:sp>
        <p:nvSpPr>
          <p:cNvPr id="23" name="Shape 21"/>
          <p:cNvSpPr/>
          <p:nvPr/>
        </p:nvSpPr>
        <p:spPr>
          <a:xfrm>
            <a:off x="5524500" y="2582515"/>
            <a:ext cx="5842000" cy="0"/>
          </a:xfrm>
          <a:prstGeom prst="line">
            <a:avLst/>
          </a:prstGeom>
          <a:noFill/>
          <a:ln w="6350">
            <a:solidFill>
              <a:srgbClr val="E6E0D3"/>
            </a:solidFill>
            <a:prstDash val="solid"/>
          </a:ln>
        </p:spPr>
      </p:sp>
      <p:sp>
        <p:nvSpPr>
          <p:cNvPr id="24" name="Text 22"/>
          <p:cNvSpPr/>
          <p:nvPr/>
        </p:nvSpPr>
        <p:spPr>
          <a:xfrm>
            <a:off x="5664200" y="2655540"/>
            <a:ext cx="5729478" cy="2476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agreeing / disagreeing; the classical limit</a:t>
            </a:r>
            <a:endParaRPr lang="en-US" sz="1200" dirty="0"/>
          </a:p>
        </p:txBody>
      </p:sp>
      <p:sp>
        <p:nvSpPr>
          <p:cNvPr id="25" name="Shape 23"/>
          <p:cNvSpPr/>
          <p:nvPr/>
        </p:nvSpPr>
        <p:spPr>
          <a:xfrm>
            <a:off x="825500" y="2950815"/>
            <a:ext cx="2794000" cy="0"/>
          </a:xfrm>
          <a:prstGeom prst="line">
            <a:avLst/>
          </a:prstGeom>
          <a:noFill/>
          <a:ln w="6350">
            <a:solidFill>
              <a:srgbClr val="E6E0D3"/>
            </a:solidFill>
            <a:prstDash val="solid"/>
          </a:ln>
        </p:spPr>
      </p:sp>
      <p:sp>
        <p:nvSpPr>
          <p:cNvPr id="26" name="Text 24"/>
          <p:cNvSpPr/>
          <p:nvPr/>
        </p:nvSpPr>
        <p:spPr>
          <a:xfrm>
            <a:off x="965200" y="3023840"/>
            <a:ext cx="2590038" cy="42416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4  ∃∀ validity</a:t>
            </a:r>
            <a:endParaRPr lang="en-US" sz="1250" dirty="0"/>
          </a:p>
        </p:txBody>
      </p:sp>
      <p:sp>
        <p:nvSpPr>
          <p:cNvPr id="27" name="Shape 25"/>
          <p:cNvSpPr/>
          <p:nvPr/>
        </p:nvSpPr>
        <p:spPr>
          <a:xfrm>
            <a:off x="3619500" y="2950815"/>
            <a:ext cx="1905000" cy="0"/>
          </a:xfrm>
          <a:prstGeom prst="line">
            <a:avLst/>
          </a:prstGeom>
          <a:noFill/>
          <a:ln w="6350">
            <a:solidFill>
              <a:srgbClr val="E6E0D3"/>
            </a:solidFill>
            <a:prstDash val="solid"/>
          </a:ln>
        </p:spPr>
      </p:sp>
      <p:sp>
        <p:nvSpPr>
          <p:cNvPr id="28" name="Text 26"/>
          <p:cNvSpPr/>
          <p:nvPr/>
        </p:nvSpPr>
        <p:spPr>
          <a:xfrm>
            <a:off x="3759200" y="3011140"/>
            <a:ext cx="1625600" cy="424160"/>
          </a:xfrm>
          <a:prstGeom prst="roundRect">
            <a:avLst>
              <a:gd name="adj" fmla="val 8982"/>
            </a:avLst>
          </a:prstGeom>
          <a:solidFill>
            <a:srgbClr val="2E6F95"/>
          </a:solidFill>
          <a:ln/>
        </p:spPr>
        <p:txBody>
          <a:bodyPr wrap="square" lIns="77741" tIns="14241" rIns="26941" bIns="0" rtlCol="0" anchor="t">
            <a:normAutofit/>
          </a:bodyPr>
          <a:lstStyle/>
          <a:p>
            <a:pPr algn="l" indent="0" marL="0">
              <a:lnSpc>
                <a:spcPts val="1470"/>
              </a:lnSpc>
              <a:buNone/>
            </a:pPr>
            <a:r>
              <a:rPr lang="en-US" sz="1050" b="1" dirty="0">
                <a:solidFill>
                  <a:srgbClr val="F6F3EC"/>
                </a:solidFill>
                <a:latin typeface="IBM Plex Sans" pitchFamily="34" charset="0"/>
                <a:ea typeface="IBM Plex Sans" pitchFamily="34" charset="-122"/>
                <a:cs typeface="IBM Plex Sans" pitchFamily="34" charset="-120"/>
              </a:rPr>
              <a:t>derived in form, posited in class</a:t>
            </a:r>
            <a:endParaRPr lang="en-US" sz="1050" dirty="0"/>
          </a:p>
        </p:txBody>
      </p:sp>
      <p:sp>
        <p:nvSpPr>
          <p:cNvPr id="29" name="Shape 27"/>
          <p:cNvSpPr/>
          <p:nvPr/>
        </p:nvSpPr>
        <p:spPr>
          <a:xfrm>
            <a:off x="5524500" y="2950815"/>
            <a:ext cx="5842000" cy="0"/>
          </a:xfrm>
          <a:prstGeom prst="line">
            <a:avLst/>
          </a:prstGeom>
          <a:noFill/>
          <a:ln w="6350">
            <a:solidFill>
              <a:srgbClr val="E6E0D3"/>
            </a:solidFill>
            <a:prstDash val="solid"/>
          </a:ln>
        </p:spPr>
      </p:sp>
      <p:sp>
        <p:nvSpPr>
          <p:cNvPr id="30" name="Text 28"/>
          <p:cNvSpPr/>
          <p:nvPr/>
        </p:nvSpPr>
        <p:spPr>
          <a:xfrm>
            <a:off x="5664200" y="3023840"/>
            <a:ext cx="5729478" cy="4241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checkmate; the Powerset Invalidation Theorem</a:t>
            </a:r>
            <a:endParaRPr lang="en-US" sz="1200" dirty="0"/>
          </a:p>
        </p:txBody>
      </p:sp>
      <p:sp>
        <p:nvSpPr>
          <p:cNvPr id="31" name="Shape 29"/>
          <p:cNvSpPr/>
          <p:nvPr/>
        </p:nvSpPr>
        <p:spPr>
          <a:xfrm>
            <a:off x="825500" y="3495625"/>
            <a:ext cx="2794000" cy="0"/>
          </a:xfrm>
          <a:prstGeom prst="line">
            <a:avLst/>
          </a:prstGeom>
          <a:noFill/>
          <a:ln w="6350">
            <a:solidFill>
              <a:srgbClr val="E6E0D3"/>
            </a:solidFill>
            <a:prstDash val="solid"/>
          </a:ln>
        </p:spPr>
      </p:sp>
      <p:sp>
        <p:nvSpPr>
          <p:cNvPr id="32" name="Text 30"/>
          <p:cNvSpPr/>
          <p:nvPr/>
        </p:nvSpPr>
        <p:spPr>
          <a:xfrm>
            <a:off x="965200" y="3568650"/>
            <a:ext cx="259003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5  one composition primitive</a:t>
            </a:r>
            <a:endParaRPr lang="en-US" sz="1250" dirty="0"/>
          </a:p>
        </p:txBody>
      </p:sp>
      <p:sp>
        <p:nvSpPr>
          <p:cNvPr id="33" name="Shape 31"/>
          <p:cNvSpPr/>
          <p:nvPr/>
        </p:nvSpPr>
        <p:spPr>
          <a:xfrm>
            <a:off x="3619500" y="3495625"/>
            <a:ext cx="1905000" cy="0"/>
          </a:xfrm>
          <a:prstGeom prst="line">
            <a:avLst/>
          </a:prstGeom>
          <a:noFill/>
          <a:ln w="6350">
            <a:solidFill>
              <a:srgbClr val="E6E0D3"/>
            </a:solidFill>
            <a:prstDash val="solid"/>
          </a:ln>
        </p:spPr>
      </p:sp>
      <p:sp>
        <p:nvSpPr>
          <p:cNvPr id="34" name="Text 32"/>
          <p:cNvSpPr/>
          <p:nvPr/>
        </p:nvSpPr>
        <p:spPr>
          <a:xfrm>
            <a:off x="3759200" y="3555950"/>
            <a:ext cx="1625600" cy="237480"/>
          </a:xfrm>
          <a:prstGeom prst="roundRect">
            <a:avLst>
              <a:gd name="adj" fmla="val 16043"/>
            </a:avLst>
          </a:prstGeom>
          <a:solidFill>
            <a:srgbClr val="C98A2B"/>
          </a:solidFill>
          <a:ln/>
        </p:spPr>
        <p:txBody>
          <a:bodyPr wrap="square" lIns="77741" tIns="14241" rIns="26941" bIns="0" rtlCol="0" anchor="t">
            <a:normAutofit/>
          </a:bodyPr>
          <a:lstStyle/>
          <a:p>
            <a:pPr algn="l" indent="0" marL="0">
              <a:lnSpc>
                <a:spcPts val="1470"/>
              </a:lnSpc>
              <a:buNone/>
            </a:pPr>
            <a:r>
              <a:rPr lang="en-US" sz="1050" b="1" dirty="0">
                <a:solidFill>
                  <a:srgbClr val="1B2A41"/>
                </a:solidFill>
                <a:latin typeface="IBM Plex Sans" pitchFamily="34" charset="0"/>
                <a:ea typeface="IBM Plex Sans" pitchFamily="34" charset="-122"/>
                <a:cs typeface="IBM Plex Sans" pitchFamily="34" charset="-120"/>
              </a:rPr>
              <a:t>posited</a:t>
            </a:r>
            <a:endParaRPr lang="en-US" sz="1050" dirty="0"/>
          </a:p>
        </p:txBody>
      </p:sp>
      <p:sp>
        <p:nvSpPr>
          <p:cNvPr id="35" name="Shape 33"/>
          <p:cNvSpPr/>
          <p:nvPr/>
        </p:nvSpPr>
        <p:spPr>
          <a:xfrm>
            <a:off x="5524500" y="3495625"/>
            <a:ext cx="5842000" cy="0"/>
          </a:xfrm>
          <a:prstGeom prst="line">
            <a:avLst/>
          </a:prstGeom>
          <a:noFill/>
          <a:ln w="6350">
            <a:solidFill>
              <a:srgbClr val="E6E0D3"/>
            </a:solidFill>
            <a:prstDash val="solid"/>
          </a:ln>
        </p:spPr>
      </p:sp>
      <p:sp>
        <p:nvSpPr>
          <p:cNvPr id="36" name="Text 34"/>
          <p:cNvSpPr/>
          <p:nvPr/>
        </p:nvSpPr>
        <p:spPr>
          <a:xfrm>
            <a:off x="5664200" y="3568650"/>
            <a:ext cx="5729478" cy="2476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tree and its reduced form</a:t>
            </a:r>
            <a:endParaRPr lang="en-US" sz="1200" dirty="0"/>
          </a:p>
        </p:txBody>
      </p:sp>
      <p:sp>
        <p:nvSpPr>
          <p:cNvPr id="37" name="Shape 35"/>
          <p:cNvSpPr/>
          <p:nvPr/>
        </p:nvSpPr>
        <p:spPr>
          <a:xfrm>
            <a:off x="825500" y="3863925"/>
            <a:ext cx="2794000" cy="0"/>
          </a:xfrm>
          <a:prstGeom prst="line">
            <a:avLst/>
          </a:prstGeom>
          <a:noFill/>
          <a:ln w="6350">
            <a:solidFill>
              <a:srgbClr val="E6E0D3"/>
            </a:solidFill>
            <a:prstDash val="solid"/>
          </a:ln>
        </p:spPr>
      </p:sp>
      <p:sp>
        <p:nvSpPr>
          <p:cNvPr id="38" name="Text 36"/>
          <p:cNvSpPr/>
          <p:nvPr/>
        </p:nvSpPr>
        <p:spPr>
          <a:xfrm>
            <a:off x="965200" y="3936950"/>
            <a:ext cx="259003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6  zerosumfree semiring</a:t>
            </a:r>
            <a:endParaRPr lang="en-US" sz="1250" dirty="0"/>
          </a:p>
        </p:txBody>
      </p:sp>
      <p:sp>
        <p:nvSpPr>
          <p:cNvPr id="39" name="Shape 37"/>
          <p:cNvSpPr/>
          <p:nvPr/>
        </p:nvSpPr>
        <p:spPr>
          <a:xfrm>
            <a:off x="3619500" y="3863925"/>
            <a:ext cx="1905000" cy="0"/>
          </a:xfrm>
          <a:prstGeom prst="line">
            <a:avLst/>
          </a:prstGeom>
          <a:noFill/>
          <a:ln w="6350">
            <a:solidFill>
              <a:srgbClr val="E6E0D3"/>
            </a:solidFill>
            <a:prstDash val="solid"/>
          </a:ln>
        </p:spPr>
      </p:sp>
      <p:sp>
        <p:nvSpPr>
          <p:cNvPr id="40" name="Text 38"/>
          <p:cNvSpPr/>
          <p:nvPr/>
        </p:nvSpPr>
        <p:spPr>
          <a:xfrm>
            <a:off x="3759200" y="3924250"/>
            <a:ext cx="1625600" cy="237480"/>
          </a:xfrm>
          <a:prstGeom prst="roundRect">
            <a:avLst>
              <a:gd name="adj" fmla="val 16043"/>
            </a:avLst>
          </a:prstGeom>
          <a:solidFill>
            <a:srgbClr val="C9D2DC"/>
          </a:solidFill>
          <a:ln/>
        </p:spPr>
        <p:txBody>
          <a:bodyPr wrap="square" lIns="77741" tIns="14241" rIns="26941" bIns="0" rtlCol="0" anchor="t">
            <a:normAutofit/>
          </a:bodyPr>
          <a:lstStyle/>
          <a:p>
            <a:pPr algn="l" indent="0" marL="0">
              <a:lnSpc>
                <a:spcPts val="1470"/>
              </a:lnSpc>
              <a:buNone/>
            </a:pPr>
            <a:r>
              <a:rPr lang="en-US" sz="1050" b="1" dirty="0">
                <a:solidFill>
                  <a:srgbClr val="1B2A41"/>
                </a:solidFill>
                <a:latin typeface="IBM Plex Sans" pitchFamily="34" charset="0"/>
                <a:ea typeface="IBM Plex Sans" pitchFamily="34" charset="-122"/>
                <a:cs typeface="IBM Plex Sans" pitchFamily="34" charset="-120"/>
              </a:rPr>
              <a:t>design</a:t>
            </a:r>
            <a:endParaRPr lang="en-US" sz="1050" dirty="0"/>
          </a:p>
        </p:txBody>
      </p:sp>
      <p:sp>
        <p:nvSpPr>
          <p:cNvPr id="41" name="Shape 39"/>
          <p:cNvSpPr/>
          <p:nvPr/>
        </p:nvSpPr>
        <p:spPr>
          <a:xfrm>
            <a:off x="5524500" y="3863925"/>
            <a:ext cx="5842000" cy="0"/>
          </a:xfrm>
          <a:prstGeom prst="line">
            <a:avLst/>
          </a:prstGeom>
          <a:noFill/>
          <a:ln w="6350">
            <a:solidFill>
              <a:srgbClr val="E6E0D3"/>
            </a:solidFill>
            <a:prstDash val="solid"/>
          </a:ln>
        </p:spPr>
      </p:sp>
      <p:sp>
        <p:nvSpPr>
          <p:cNvPr id="42" name="Text 40"/>
          <p:cNvSpPr/>
          <p:nvPr/>
        </p:nvSpPr>
        <p:spPr>
          <a:xfrm>
            <a:off x="5664200" y="3936950"/>
            <a:ext cx="5729478" cy="2476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validity separated from weight; nothing cancels a valid alternative</a:t>
            </a:r>
            <a:endParaRPr lang="en-US" sz="1200" dirty="0"/>
          </a:p>
        </p:txBody>
      </p:sp>
      <p:sp>
        <p:nvSpPr>
          <p:cNvPr id="43" name="Shape 41"/>
          <p:cNvSpPr/>
          <p:nvPr/>
        </p:nvSpPr>
        <p:spPr>
          <a:xfrm>
            <a:off x="825500" y="4232225"/>
            <a:ext cx="2794000" cy="0"/>
          </a:xfrm>
          <a:prstGeom prst="line">
            <a:avLst/>
          </a:prstGeom>
          <a:noFill/>
          <a:ln w="6350">
            <a:solidFill>
              <a:srgbClr val="E6E0D3"/>
            </a:solidFill>
            <a:prstDash val="solid"/>
          </a:ln>
        </p:spPr>
      </p:sp>
      <p:sp>
        <p:nvSpPr>
          <p:cNvPr id="44" name="Text 42"/>
          <p:cNvSpPr/>
          <p:nvPr/>
        </p:nvSpPr>
        <p:spPr>
          <a:xfrm>
            <a:off x="965200" y="4305250"/>
            <a:ext cx="2590038" cy="42416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7  the kernel eiS/ħ</a:t>
            </a:r>
            <a:endParaRPr lang="en-US" sz="1250" dirty="0"/>
          </a:p>
        </p:txBody>
      </p:sp>
      <p:sp>
        <p:nvSpPr>
          <p:cNvPr id="45" name="Shape 43"/>
          <p:cNvSpPr/>
          <p:nvPr/>
        </p:nvSpPr>
        <p:spPr>
          <a:xfrm>
            <a:off x="3619500" y="4232225"/>
            <a:ext cx="1905000" cy="0"/>
          </a:xfrm>
          <a:prstGeom prst="line">
            <a:avLst/>
          </a:prstGeom>
          <a:noFill/>
          <a:ln w="6350">
            <a:solidFill>
              <a:srgbClr val="E6E0D3"/>
            </a:solidFill>
            <a:prstDash val="solid"/>
          </a:ln>
        </p:spPr>
      </p:sp>
      <p:sp>
        <p:nvSpPr>
          <p:cNvPr id="46" name="Text 44"/>
          <p:cNvSpPr/>
          <p:nvPr/>
        </p:nvSpPr>
        <p:spPr>
          <a:xfrm>
            <a:off x="3759200" y="4292550"/>
            <a:ext cx="1625600" cy="424160"/>
          </a:xfrm>
          <a:prstGeom prst="roundRect">
            <a:avLst>
              <a:gd name="adj" fmla="val 8982"/>
            </a:avLst>
          </a:prstGeom>
          <a:solidFill>
            <a:srgbClr val="9E3B2F"/>
          </a:solidFill>
          <a:ln/>
        </p:spPr>
        <p:txBody>
          <a:bodyPr wrap="square" lIns="77741" tIns="14241" rIns="26941" bIns="0" rtlCol="0" anchor="t">
            <a:normAutofit/>
          </a:bodyPr>
          <a:lstStyle/>
          <a:p>
            <a:pPr algn="l" indent="0" marL="0">
              <a:lnSpc>
                <a:spcPts val="1470"/>
              </a:lnSpc>
              <a:buNone/>
            </a:pPr>
            <a:r>
              <a:rPr lang="en-US" sz="1050" b="1" dirty="0">
                <a:solidFill>
                  <a:srgbClr val="F6F3EC"/>
                </a:solidFill>
                <a:latin typeface="IBM Plex Sans" pitchFamily="34" charset="0"/>
                <a:ea typeface="IBM Plex Sans" pitchFamily="34" charset="-122"/>
                <a:cs typeface="IBM Plex Sans" pitchFamily="34" charset="-120"/>
              </a:rPr>
              <a:t>the one quantitative posit</a:t>
            </a:r>
            <a:endParaRPr lang="en-US" sz="1050" dirty="0"/>
          </a:p>
        </p:txBody>
      </p:sp>
      <p:sp>
        <p:nvSpPr>
          <p:cNvPr id="47" name="Shape 45"/>
          <p:cNvSpPr/>
          <p:nvPr/>
        </p:nvSpPr>
        <p:spPr>
          <a:xfrm>
            <a:off x="5524500" y="4232225"/>
            <a:ext cx="5842000" cy="0"/>
          </a:xfrm>
          <a:prstGeom prst="line">
            <a:avLst/>
          </a:prstGeom>
          <a:noFill/>
          <a:ln w="6350">
            <a:solidFill>
              <a:srgbClr val="E6E0D3"/>
            </a:solidFill>
            <a:prstDash val="solid"/>
          </a:ln>
        </p:spPr>
      </p:sp>
      <p:sp>
        <p:nvSpPr>
          <p:cNvPr id="48" name="Text 46"/>
          <p:cNvSpPr/>
          <p:nvPr/>
        </p:nvSpPr>
        <p:spPr>
          <a:xfrm>
            <a:off x="5664200" y="4305250"/>
            <a:ext cx="5729478" cy="4241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Dirac–von Neumann recovered on the finite path-kernel domain</a:t>
            </a:r>
            <a:endParaRPr lang="en-US" sz="1200" dirty="0"/>
          </a:p>
        </p:txBody>
      </p:sp>
      <p:sp>
        <p:nvSpPr>
          <p:cNvPr id="49" name="Shape 47"/>
          <p:cNvSpPr/>
          <p:nvPr/>
        </p:nvSpPr>
        <p:spPr>
          <a:xfrm>
            <a:off x="825500" y="4773861"/>
            <a:ext cx="2794000" cy="368300"/>
          </a:xfrm>
          <a:custGeom>
            <a:avLst/>
            <a:gdLst/>
            <a:ahLst/>
            <a:cxnLst/>
            <a:rect l="l" t="t" r="r" b="b"/>
            <a:pathLst>
              <a:path w="2794000" h="368300">
                <a:moveTo>
                  <a:pt x="0" y="0"/>
                </a:moveTo>
                <a:lnTo>
                  <a:pt x="2794000" y="0"/>
                </a:lnTo>
                <a:lnTo>
                  <a:pt x="2794000" y="6350"/>
                </a:lnTo>
                <a:lnTo>
                  <a:pt x="0" y="6350"/>
                </a:lnTo>
                <a:lnTo>
                  <a:pt x="0" y="0"/>
                </a:lnTo>
                <a:close/>
              </a:path>
            </a:pathLst>
          </a:custGeom>
          <a:solidFill>
            <a:srgbClr val="E6E0D3"/>
          </a:solidFill>
          <a:ln/>
        </p:spPr>
      </p:sp>
      <p:sp>
        <p:nvSpPr>
          <p:cNvPr id="50" name="Text 48"/>
          <p:cNvSpPr/>
          <p:nvPr/>
        </p:nvSpPr>
        <p:spPr>
          <a:xfrm>
            <a:off x="965200" y="4850061"/>
            <a:ext cx="259003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B2A41"/>
                </a:solidFill>
                <a:latin typeface="IBM Plex Sans" pitchFamily="34" charset="0"/>
                <a:ea typeface="IBM Plex Sans" pitchFamily="34" charset="-122"/>
                <a:cs typeface="IBM Plex Sans" pitchFamily="34" charset="-120"/>
              </a:rPr>
              <a:t>8  the realization bridge</a:t>
            </a:r>
            <a:endParaRPr lang="en-US" sz="1250" dirty="0"/>
          </a:p>
        </p:txBody>
      </p:sp>
      <p:sp>
        <p:nvSpPr>
          <p:cNvPr id="51" name="Shape 49"/>
          <p:cNvSpPr/>
          <p:nvPr/>
        </p:nvSpPr>
        <p:spPr>
          <a:xfrm>
            <a:off x="3619500" y="4777036"/>
            <a:ext cx="1905000" cy="0"/>
          </a:xfrm>
          <a:prstGeom prst="line">
            <a:avLst/>
          </a:prstGeom>
          <a:noFill/>
          <a:ln w="6350">
            <a:solidFill>
              <a:srgbClr val="E6E0D3"/>
            </a:solidFill>
            <a:prstDash val="solid"/>
          </a:ln>
        </p:spPr>
      </p:sp>
      <p:sp>
        <p:nvSpPr>
          <p:cNvPr id="52" name="Text 50"/>
          <p:cNvSpPr/>
          <p:nvPr/>
        </p:nvSpPr>
        <p:spPr>
          <a:xfrm>
            <a:off x="3759200" y="4837361"/>
            <a:ext cx="1625600" cy="237480"/>
          </a:xfrm>
          <a:prstGeom prst="roundRect">
            <a:avLst>
              <a:gd name="adj" fmla="val 16043"/>
            </a:avLst>
          </a:prstGeom>
          <a:solidFill>
            <a:srgbClr val="1B2A41"/>
          </a:solidFill>
          <a:ln/>
        </p:spPr>
        <p:txBody>
          <a:bodyPr wrap="square" lIns="77741" tIns="14241" rIns="26941" bIns="0" rtlCol="0" anchor="t">
            <a:normAutofit/>
          </a:bodyPr>
          <a:lstStyle/>
          <a:p>
            <a:pPr algn="l" indent="0" marL="0">
              <a:lnSpc>
                <a:spcPts val="1470"/>
              </a:lnSpc>
              <a:buNone/>
            </a:pPr>
            <a:r>
              <a:rPr lang="en-US" sz="1050" b="1" dirty="0">
                <a:solidFill>
                  <a:srgbClr val="F6F3EC"/>
                </a:solidFill>
                <a:latin typeface="IBM Plex Sans" pitchFamily="34" charset="0"/>
                <a:ea typeface="IBM Plex Sans" pitchFamily="34" charset="-122"/>
                <a:cs typeface="IBM Plex Sans" pitchFamily="34" charset="-120"/>
              </a:rPr>
              <a:t>a principle</a:t>
            </a:r>
            <a:endParaRPr lang="en-US" sz="1050" dirty="0"/>
          </a:p>
        </p:txBody>
      </p:sp>
      <p:sp>
        <p:nvSpPr>
          <p:cNvPr id="53" name="Shape 51"/>
          <p:cNvSpPr/>
          <p:nvPr/>
        </p:nvSpPr>
        <p:spPr>
          <a:xfrm>
            <a:off x="5524500" y="4773861"/>
            <a:ext cx="5842000" cy="368300"/>
          </a:xfrm>
          <a:custGeom>
            <a:avLst/>
            <a:gdLst/>
            <a:ahLst/>
            <a:cxnLst/>
            <a:rect l="l" t="t" r="r" b="b"/>
            <a:pathLst>
              <a:path w="5842000" h="368300">
                <a:moveTo>
                  <a:pt x="0" y="0"/>
                </a:moveTo>
                <a:lnTo>
                  <a:pt x="5842000" y="0"/>
                </a:lnTo>
                <a:lnTo>
                  <a:pt x="5842000" y="6350"/>
                </a:lnTo>
                <a:lnTo>
                  <a:pt x="0" y="6350"/>
                </a:lnTo>
                <a:lnTo>
                  <a:pt x="0" y="0"/>
                </a:lnTo>
                <a:close/>
              </a:path>
            </a:pathLst>
          </a:custGeom>
          <a:solidFill>
            <a:srgbClr val="E6E0D3"/>
          </a:solidFill>
          <a:ln/>
        </p:spPr>
      </p:sp>
      <p:sp>
        <p:nvSpPr>
          <p:cNvPr id="54" name="Text 52"/>
          <p:cNvSpPr/>
          <p:nvPr/>
        </p:nvSpPr>
        <p:spPr>
          <a:xfrm>
            <a:off x="5664200" y="4850061"/>
            <a:ext cx="5729478" cy="2476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"invalid" ⇒ "does not occur"</a:t>
            </a:r>
            <a:endParaRPr lang="en-US" sz="1200" dirty="0"/>
          </a:p>
        </p:txBody>
      </p:sp>
      <p:sp>
        <p:nvSpPr>
          <p:cNvPr id="55" name="Text 53"/>
          <p:cNvSpPr/>
          <p:nvPr/>
        </p:nvSpPr>
        <p:spPr>
          <a:xfrm>
            <a:off x="812800" y="5358061"/>
            <a:ext cx="10883392" cy="256828"/>
          </a:xfrm>
          <a:prstGeom prst="rect">
            <a:avLst/>
          </a:prstGeom>
          <a:noFill/>
          <a:ln/>
        </p:spPr>
        <p:txBody>
          <a:bodyPr wrap="square" lIns="0" tIns="0" rIns="0" bIns="0" rtlCol="0" anchor="t">
            <a:normAutofit/>
          </a:bodyPr>
          <a:lstStyle/>
          <a:p>
            <a:pPr algn="l" indent="0" marL="0">
              <a:lnSpc>
                <a:spcPts val="1823"/>
              </a:lnSpc>
              <a:buNone/>
            </a:pPr>
            <a:r>
              <a:rPr lang="en-US" sz="1350" b="1" dirty="0">
                <a:solidFill>
                  <a:srgbClr val="1B2A41"/>
                </a:solidFill>
                <a:latin typeface="IBM Plex Sans" pitchFamily="34" charset="0"/>
                <a:ea typeface="IBM Plex Sans" pitchFamily="34" charset="-122"/>
                <a:cs typeface="IBM Plex Sans" pitchFamily="34" charset="-120"/>
              </a:rPr>
              <a:t>Not on the ledger, because derived:</a:t>
            </a:r>
            <a:r>
              <a:rPr lang="en-US" sz="1350" dirty="0">
                <a:solidFill>
                  <a:srgbClr val="1B2A41"/>
                </a:solidFill>
                <a:latin typeface="IBM Plex Sans" pitchFamily="34" charset="0"/>
                <a:ea typeface="IBM Plex Sans" pitchFamily="34" charset="-122"/>
                <a:cs typeface="IBM Plex Sans" pitchFamily="34" charset="-120"/>
              </a:rPr>
              <a:t> the projection postulate, no-signaling, the Born rule.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6F3EC"/>
                </a:solidFill>
                <a:latin typeface="Source Serif 4" pitchFamily="18" charset="0"/>
                <a:ea typeface="Source Serif 4" pitchFamily="18" charset="-122"/>
                <a:cs typeface="Source Serif 4" pitchFamily="18" charset="-120"/>
              </a:rPr>
              <a:t>What would break it</a:t>
            </a:r>
            <a:endParaRPr lang="en-US" sz="3400" dirty="0"/>
          </a:p>
        </p:txBody>
      </p:sp>
      <p:sp>
        <p:nvSpPr>
          <p:cNvPr id="3" name="Shape 1"/>
          <p:cNvSpPr/>
          <p:nvPr/>
        </p:nvSpPr>
        <p:spPr>
          <a:xfrm>
            <a:off x="812800" y="2199680"/>
            <a:ext cx="5194300" cy="1047700"/>
          </a:xfrm>
          <a:prstGeom prst="roundRect">
            <a:avLst>
              <a:gd name="adj" fmla="val 7273"/>
            </a:avLst>
          </a:prstGeom>
          <a:solidFill>
            <a:srgbClr val="24364F"/>
          </a:solidFill>
          <a:ln/>
        </p:spPr>
      </p:sp>
      <p:sp>
        <p:nvSpPr>
          <p:cNvPr id="4" name="Shape 2"/>
          <p:cNvSpPr/>
          <p:nvPr/>
        </p:nvSpPr>
        <p:spPr>
          <a:xfrm>
            <a:off x="812800" y="2199680"/>
            <a:ext cx="5194300" cy="1047700"/>
          </a:xfrm>
          <a:custGeom>
            <a:avLst/>
            <a:gdLst/>
            <a:ahLst/>
            <a:cxnLst/>
            <a:rect l="l" t="t" r="r" b="b"/>
            <a:pathLst>
              <a:path w="5194300" h="1047700">
                <a:moveTo>
                  <a:pt x="76200" y="1047700"/>
                </a:moveTo>
                <a:lnTo>
                  <a:pt x="76200" y="1047700"/>
                </a:lnTo>
                <a:arcTo hR="76200" wR="76200" stAng="5400000" swAng="5400000"/>
                <a:lnTo>
                  <a:pt x="0" y="76200"/>
                </a:lnTo>
                <a:arcTo hR="76200" wR="76200" stAng="10800000" swAng="5400000"/>
                <a:lnTo>
                  <a:pt x="76200" y="0"/>
                </a:lnTo>
                <a:arcTo hR="76200" wR="38100" stAng="16200000" swAng="-5400000"/>
                <a:lnTo>
                  <a:pt x="38100" y="971500"/>
                </a:lnTo>
                <a:arcTo hR="76200" wR="38100" stAng="10800000" swAng="-5400000"/>
                <a:close/>
              </a:path>
            </a:pathLst>
          </a:custGeom>
          <a:solidFill>
            <a:srgbClr val="C98A2B"/>
          </a:solidFill>
          <a:ln/>
        </p:spPr>
      </p:sp>
      <p:sp>
        <p:nvSpPr>
          <p:cNvPr id="5" name="Text 3"/>
          <p:cNvSpPr/>
          <p:nvPr/>
        </p:nvSpPr>
        <p:spPr>
          <a:xfrm>
            <a:off x="1041400" y="2364780"/>
            <a:ext cx="4918456"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A superposition that survives a record every refinement can read</a:t>
            </a:r>
            <a:endParaRPr lang="en-US" sz="1400" dirty="0"/>
          </a:p>
        </p:txBody>
      </p:sp>
      <p:sp>
        <p:nvSpPr>
          <p:cNvPr id="6" name="Text 4"/>
          <p:cNvSpPr/>
          <p:nvPr/>
        </p:nvSpPr>
        <p:spPr>
          <a:xfrm>
            <a:off x="1041400" y="2877840"/>
            <a:ext cx="4918456"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2DC"/>
                </a:solidFill>
                <a:latin typeface="IBM Plex Sans" pitchFamily="34" charset="0"/>
                <a:ea typeface="IBM Plex Sans" pitchFamily="34" charset="-122"/>
                <a:cs typeface="IBM Plex Sans" pitchFamily="34" charset="-120"/>
              </a:rPr>
              <a:t>refutes the third postulate</a:t>
            </a:r>
            <a:endParaRPr lang="en-US" sz="1150" dirty="0"/>
          </a:p>
        </p:txBody>
      </p:sp>
      <p:sp>
        <p:nvSpPr>
          <p:cNvPr id="7" name="Shape 5"/>
          <p:cNvSpPr/>
          <p:nvPr/>
        </p:nvSpPr>
        <p:spPr>
          <a:xfrm>
            <a:off x="6184900" y="2199680"/>
            <a:ext cx="5194300" cy="1047700"/>
          </a:xfrm>
          <a:prstGeom prst="roundRect">
            <a:avLst>
              <a:gd name="adj" fmla="val 7273"/>
            </a:avLst>
          </a:prstGeom>
          <a:solidFill>
            <a:srgbClr val="24364F"/>
          </a:solidFill>
          <a:ln/>
        </p:spPr>
      </p:sp>
      <p:sp>
        <p:nvSpPr>
          <p:cNvPr id="8" name="Shape 6"/>
          <p:cNvSpPr/>
          <p:nvPr/>
        </p:nvSpPr>
        <p:spPr>
          <a:xfrm>
            <a:off x="6184900" y="2199680"/>
            <a:ext cx="5194300" cy="1047700"/>
          </a:xfrm>
          <a:custGeom>
            <a:avLst/>
            <a:gdLst/>
            <a:ahLst/>
            <a:cxnLst/>
            <a:rect l="l" t="t" r="r" b="b"/>
            <a:pathLst>
              <a:path w="5194300" h="1047700">
                <a:moveTo>
                  <a:pt x="76200" y="1047700"/>
                </a:moveTo>
                <a:lnTo>
                  <a:pt x="76200" y="1047700"/>
                </a:lnTo>
                <a:arcTo hR="76200" wR="76200" stAng="5400000" swAng="5400000"/>
                <a:lnTo>
                  <a:pt x="0" y="76200"/>
                </a:lnTo>
                <a:arcTo hR="76200" wR="76200" stAng="10800000" swAng="5400000"/>
                <a:lnTo>
                  <a:pt x="76200" y="0"/>
                </a:lnTo>
                <a:arcTo hR="76200" wR="38100" stAng="16200000" swAng="-5400000"/>
                <a:lnTo>
                  <a:pt x="38100" y="971500"/>
                </a:lnTo>
                <a:arcTo hR="76200" wR="38100" stAng="10800000" swAng="-5400000"/>
                <a:close/>
              </a:path>
            </a:pathLst>
          </a:custGeom>
          <a:solidFill>
            <a:srgbClr val="C98A2B"/>
          </a:solidFill>
          <a:ln/>
        </p:spPr>
      </p:sp>
      <p:sp>
        <p:nvSpPr>
          <p:cNvPr id="9" name="Text 7"/>
          <p:cNvSpPr/>
          <p:nvPr/>
        </p:nvSpPr>
        <p:spPr>
          <a:xfrm>
            <a:off x="6413500" y="2364780"/>
            <a:ext cx="49657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A cross-term surviving a record, or vanishing without one</a:t>
            </a:r>
            <a:endParaRPr lang="en-US" sz="1400" dirty="0"/>
          </a:p>
        </p:txBody>
      </p:sp>
      <p:sp>
        <p:nvSpPr>
          <p:cNvPr id="10" name="Text 8"/>
          <p:cNvSpPr/>
          <p:nvPr/>
        </p:nvSpPr>
        <p:spPr>
          <a:xfrm>
            <a:off x="6413500" y="2646710"/>
            <a:ext cx="4918456"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2DC"/>
                </a:solidFill>
                <a:latin typeface="IBM Plex Sans" pitchFamily="34" charset="0"/>
                <a:ea typeface="IBM Plex Sans" pitchFamily="34" charset="-122"/>
                <a:cs typeface="IBM Plex Sans" pitchFamily="34" charset="-120"/>
              </a:rPr>
              <a:t>refutes the Union Principle</a:t>
            </a:r>
            <a:endParaRPr lang="en-US" sz="1150" dirty="0"/>
          </a:p>
        </p:txBody>
      </p:sp>
      <p:sp>
        <p:nvSpPr>
          <p:cNvPr id="11" name="Shape 9"/>
          <p:cNvSpPr/>
          <p:nvPr/>
        </p:nvSpPr>
        <p:spPr>
          <a:xfrm>
            <a:off x="812800" y="3425180"/>
            <a:ext cx="5194300" cy="1047700"/>
          </a:xfrm>
          <a:prstGeom prst="roundRect">
            <a:avLst>
              <a:gd name="adj" fmla="val 7273"/>
            </a:avLst>
          </a:prstGeom>
          <a:solidFill>
            <a:srgbClr val="24364F"/>
          </a:solidFill>
          <a:ln/>
        </p:spPr>
      </p:sp>
      <p:sp>
        <p:nvSpPr>
          <p:cNvPr id="12" name="Shape 10"/>
          <p:cNvSpPr/>
          <p:nvPr/>
        </p:nvSpPr>
        <p:spPr>
          <a:xfrm>
            <a:off x="812800" y="3425180"/>
            <a:ext cx="5194300" cy="1047700"/>
          </a:xfrm>
          <a:custGeom>
            <a:avLst/>
            <a:gdLst/>
            <a:ahLst/>
            <a:cxnLst/>
            <a:rect l="l" t="t" r="r" b="b"/>
            <a:pathLst>
              <a:path w="5194300" h="1047700">
                <a:moveTo>
                  <a:pt x="76200" y="1047700"/>
                </a:moveTo>
                <a:lnTo>
                  <a:pt x="76200" y="1047700"/>
                </a:lnTo>
                <a:arcTo hR="76200" wR="76200" stAng="5400000" swAng="5400000"/>
                <a:lnTo>
                  <a:pt x="0" y="76200"/>
                </a:lnTo>
                <a:arcTo hR="76200" wR="76200" stAng="10800000" swAng="5400000"/>
                <a:lnTo>
                  <a:pt x="76200" y="0"/>
                </a:lnTo>
                <a:arcTo hR="76200" wR="38100" stAng="16200000" swAng="-5400000"/>
                <a:lnTo>
                  <a:pt x="38100" y="971500"/>
                </a:lnTo>
                <a:arcTo hR="76200" wR="38100" stAng="10800000" swAng="-5400000"/>
                <a:close/>
              </a:path>
            </a:pathLst>
          </a:custGeom>
          <a:solidFill>
            <a:srgbClr val="C98A2B"/>
          </a:solidFill>
          <a:ln/>
        </p:spPr>
      </p:sp>
      <p:sp>
        <p:nvSpPr>
          <p:cNvPr id="13" name="Text 11"/>
          <p:cNvSpPr/>
          <p:nvPr/>
        </p:nvSpPr>
        <p:spPr>
          <a:xfrm>
            <a:off x="1041400" y="3590280"/>
            <a:ext cx="491845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The Bell statistics from a single sample space</a:t>
            </a:r>
            <a:endParaRPr lang="en-US" sz="1400" dirty="0"/>
          </a:p>
        </p:txBody>
      </p:sp>
      <p:sp>
        <p:nvSpPr>
          <p:cNvPr id="14" name="Text 12"/>
          <p:cNvSpPr/>
          <p:nvPr/>
        </p:nvSpPr>
        <p:spPr>
          <a:xfrm>
            <a:off x="1041400" y="3872210"/>
            <a:ext cx="4918456"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2DC"/>
                </a:solidFill>
                <a:latin typeface="IBM Plex Sans" pitchFamily="34" charset="0"/>
                <a:ea typeface="IBM Plex Sans" pitchFamily="34" charset="-122"/>
                <a:cs typeface="IBM Plex Sans" pitchFamily="34" charset="-120"/>
              </a:rPr>
              <a:t>refutes the constructive blank</a:t>
            </a:r>
            <a:endParaRPr lang="en-US" sz="1150" dirty="0"/>
          </a:p>
        </p:txBody>
      </p:sp>
      <p:sp>
        <p:nvSpPr>
          <p:cNvPr id="15" name="Shape 13"/>
          <p:cNvSpPr/>
          <p:nvPr/>
        </p:nvSpPr>
        <p:spPr>
          <a:xfrm>
            <a:off x="6184900" y="3425180"/>
            <a:ext cx="5194300" cy="1047700"/>
          </a:xfrm>
          <a:prstGeom prst="roundRect">
            <a:avLst>
              <a:gd name="adj" fmla="val 7273"/>
            </a:avLst>
          </a:prstGeom>
          <a:solidFill>
            <a:srgbClr val="24364F"/>
          </a:solidFill>
          <a:ln/>
        </p:spPr>
      </p:sp>
      <p:sp>
        <p:nvSpPr>
          <p:cNvPr id="16" name="Shape 14"/>
          <p:cNvSpPr/>
          <p:nvPr/>
        </p:nvSpPr>
        <p:spPr>
          <a:xfrm>
            <a:off x="6184900" y="3425180"/>
            <a:ext cx="5194300" cy="1047700"/>
          </a:xfrm>
          <a:custGeom>
            <a:avLst/>
            <a:gdLst/>
            <a:ahLst/>
            <a:cxnLst/>
            <a:rect l="l" t="t" r="r" b="b"/>
            <a:pathLst>
              <a:path w="5194300" h="1047700">
                <a:moveTo>
                  <a:pt x="76200" y="1047700"/>
                </a:moveTo>
                <a:lnTo>
                  <a:pt x="76200" y="1047700"/>
                </a:lnTo>
                <a:arcTo hR="76200" wR="76200" stAng="5400000" swAng="5400000"/>
                <a:lnTo>
                  <a:pt x="0" y="76200"/>
                </a:lnTo>
                <a:arcTo hR="76200" wR="76200" stAng="10800000" swAng="5400000"/>
                <a:lnTo>
                  <a:pt x="76200" y="0"/>
                </a:lnTo>
                <a:arcTo hR="76200" wR="38100" stAng="16200000" swAng="-5400000"/>
                <a:lnTo>
                  <a:pt x="38100" y="971500"/>
                </a:lnTo>
                <a:arcTo hR="76200" wR="38100" stAng="10800000" swAng="-5400000"/>
                <a:close/>
              </a:path>
            </a:pathLst>
          </a:custGeom>
          <a:solidFill>
            <a:srgbClr val="9E3B2F"/>
          </a:solidFill>
          <a:ln/>
        </p:spPr>
      </p:sp>
      <p:sp>
        <p:nvSpPr>
          <p:cNvPr id="17" name="Text 15"/>
          <p:cNvSpPr/>
          <p:nvPr/>
        </p:nvSpPr>
        <p:spPr>
          <a:xfrm>
            <a:off x="6413500" y="3590280"/>
            <a:ext cx="4918456"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An observer-grade laboratory coherently reversed: (ok₁, ok₂) at 1/12, not 1/4</a:t>
            </a:r>
            <a:endParaRPr lang="en-US" sz="1400" dirty="0"/>
          </a:p>
        </p:txBody>
      </p:sp>
      <p:sp>
        <p:nvSpPr>
          <p:cNvPr id="18" name="Text 16"/>
          <p:cNvSpPr/>
          <p:nvPr/>
        </p:nvSpPr>
        <p:spPr>
          <a:xfrm>
            <a:off x="6413500" y="4103340"/>
            <a:ext cx="4918456"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2DC"/>
                </a:solidFill>
                <a:latin typeface="IBM Plex Sans" pitchFamily="34" charset="0"/>
                <a:ea typeface="IBM Plex Sans" pitchFamily="34" charset="-122"/>
                <a:cs typeface="IBM Plex Sans" pitchFamily="34" charset="-120"/>
              </a:rPr>
              <a:t>refutes the record premise, the one divergence from universal unitarity</a:t>
            </a:r>
            <a:endParaRPr lang="en-US" sz="1150" dirty="0"/>
          </a:p>
        </p:txBody>
      </p:sp>
      <p:sp>
        <p:nvSpPr>
          <p:cNvPr id="19" name="Text 17"/>
          <p:cNvSpPr/>
          <p:nvPr/>
        </p:nvSpPr>
        <p:spPr>
          <a:xfrm>
            <a:off x="812800" y="538480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6F3EC"/>
                </a:solidFill>
                <a:latin typeface="Source Serif 4" pitchFamily="18" charset="0"/>
                <a:ea typeface="Source Serif 4" pitchFamily="18" charset="-122"/>
                <a:cs typeface="Source Serif 4" pitchFamily="18" charset="-120"/>
              </a:rPr>
              <a:t>Not a new mechanism. A changed notion of determinacy, with its bill itemized.</a:t>
            </a:r>
            <a:endParaRPr lang="en-US" sz="2000" dirty="0"/>
          </a:p>
        </p:txBody>
      </p:sp>
      <p:sp>
        <p:nvSpPr>
          <p:cNvPr id="20" name="Text 18"/>
          <p:cNvSpPr/>
          <p:nvPr/>
        </p:nvSpPr>
        <p:spPr>
          <a:xfrm>
            <a:off x="10438904" y="5814070"/>
            <a:ext cx="940296"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aethus.org</a:t>
            </a:r>
            <a:endParaRPr lang="en-US" sz="1300" dirty="0"/>
          </a:p>
        </p:txBody>
      </p:sp>
    </p:spTree>
  </p:cSld>
  <p:clrMapOvr>
    <a:masterClrMapping/>
  </p:clrMapOvr>
</p:sld>
</file>

<file path=ppt/theme/theme1.xml><?xml version="1.0" encoding="utf-8"?>
<a:theme xmlns:a="http://schemas.openxmlformats.org/drawingml/2006/main" name="Aethic Reasoning in 15 Minutes">
  <a:themeElements>
    <a:clrScheme name="Aethic Reasoning in 15 Minutes">
      <a:dk1>
        <a:srgbClr val="1B2A41"/>
      </a:dk1>
      <a:lt1>
        <a:srgbClr val="F6F3EC"/>
      </a:lt1>
      <a:dk2>
        <a:srgbClr val="525C6C"/>
      </a:dk2>
      <a:lt2>
        <a:srgbClr val="E0DFDB"/>
      </a:lt2>
      <a:accent1>
        <a:srgbClr val="2E6F95"/>
      </a:accent1>
      <a:accent2>
        <a:srgbClr val="C98A2B"/>
      </a:accent2>
      <a:accent3>
        <a:srgbClr val="9E3B2F"/>
      </a:accent3>
      <a:accent4>
        <a:srgbClr val="4A5568"/>
      </a:accent4>
      <a:accent5>
        <a:srgbClr val="C9D2DC"/>
      </a:accent5>
      <a:accent6>
        <a:srgbClr val="DCE6EE"/>
      </a:accent6>
      <a:hlink>
        <a:srgbClr val="0563C1"/>
      </a:hlink>
      <a:folHlink>
        <a:srgbClr val="954F72"/>
      </a:folHlink>
    </a:clrScheme>
    <a:fontScheme name="Aethic Reasoning in 15 Minutes">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Aethic Reasoning in 15 Minutes</dc:title>
  <dc:subject/>
  <dc:creator/>
  <cp:lastModifiedBy/>
  <cp:revision>1</cp:revision>
  <dcterms:created xsi:type="dcterms:W3CDTF">2026-10-09T23:37:21Z</dcterms:created>
  <dcterms:modified xsi:type="dcterms:W3CDTF">2026-10-09T23:37:21Z</dcterms:modified>
</cp:coreProperties>
</file>